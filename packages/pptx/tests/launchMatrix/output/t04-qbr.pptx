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webp" ContentType="image/webp"/>
  <Default Extension="tiff" ContentType="image/tiff"/>
  <Default Extension="bmp" ContentType="image/bmp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5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5" Type="http://schemas.openxmlformats.org/package/2006/relationships/metadata/thumbnail" Target="docProps/thumbnail.jpeg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5143500" type="custom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  <Relationship Id="rId19" Type="http://schemas.openxmlformats.org/officeDocument/2006/relationships/presProps" Target="presProps.xml"/>
  <Relationship Id="rId20" Type="http://schemas.openxmlformats.org/officeDocument/2006/relationships/viewProps" Target="viewProps.xml"/>
  <Relationship Id="rId21" Type="http://schemas.openxmlformats.org/officeDocument/2006/relationships/tableStyles" Target="tableStyles.xml"/>
  <Relationship Id="rId22" Type="http://schemas.openxmlformats.org/officeDocument/2006/relationships/notesMaster" Target="notesMasters/notesMaster1.xml"/>
</Relationships>
</file>

<file path=ppt/charts/_rels/chart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.xlsx"/>
</Relationships>
</file>

<file path=ppt/charts/_rels/chart2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2.xlsx"/>
</Relationships>
</file>

<file path=ppt/charts/_rels/chart3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3.xlsx"/>
</Relationships>
</file>

<file path=ppt/charts/_rels/chart4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4.xlsx"/>
</Relationships>
</file>

<file path=ppt/charts/_rels/chart5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5.xlsx"/>
</Relationships>
</file>

<file path=ppt/charts/_rels/chart6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6.xlsx"/>
</Relationships>
</file>

<file path=ppt/charts/_rels/chart7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7.xlsx"/>
</Relationships>
</file>

<file path=ppt/charts/_rels/chart8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8.xlsx"/>
</Relationships>
</file>

<file path=ppt/charts/_rels/chart9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9.xlsx"/>
</Relationships>
</file>

<file path=ppt/charts/_rels/chart10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0.xlsx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/>
          <a:lstStyle/>
          <a:p>
            <a:r>
              <a:rPr lang="en-US" sz="750">
                <a:solidFill>
                  <a:srgbClr val="000000"/>
                </a:solidFill>
                <a:latin typeface="Calibri"/>
              </a:rPr>
              <a:t>Revenue Trend</a:t>
            </a:r>
          </a:p>
        </c:rich>
      </c:tx>
      <c:overlay val="0"/>
    </c:title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003DA5"/>
            </a:solidFill>
          </c:spPr>
          <c:marker>
            <c:symbol val="circle"/>
            <c:size val="4"/>
          </c:marker>
          <c:cat>
            <c:strRef>
              <c:f>Sheet1!$A$2:$A$7</c:f>
              <c:strCache>
                <c:ptCount val="6"/>
                <c:pt idx="0">
                  <c:v>Q1'25</c:v>
                </c:pt>
                <c:pt idx="1">
                  <c:v>Q2'25</c:v>
                </c:pt>
                <c:pt idx="2">
                  <c:v>Q3'25</c:v>
                </c:pt>
                <c:pt idx="3">
                  <c:v>Q4'25</c:v>
                </c:pt>
                <c:pt idx="4">
                  <c:v>Q1'26</c:v>
                </c:pt>
                <c:pt idx="5">
                  <c:v>Q2'26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10.1</c:v>
                </c:pt>
                <c:pt idx="1">
                  <c:v>10.9</c:v>
                </c:pt>
                <c:pt idx="2">
                  <c:v>11.7</c:v>
                </c:pt>
                <c:pt idx="3">
                  <c:v>14</c:v>
                </c:pt>
                <c:pt idx="4">
                  <c:v>13.8</c:v>
                </c:pt>
                <c:pt idx="5">
                  <c:v>14.8</c:v>
                </c:pt>
              </c:numCache>
            </c:numRef>
          </c:val>
        </c:ser>
        <c:marker val="0"/>
        <c:axId val="111111111"/>
        <c:axId val="222222222"/>
      </c:line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/>
        <c:numFmt formatCode="$#,##0M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/>
          <a:lstStyle/>
          <a:p>
            <a:r>
              <a:rPr lang="en-US" sz="750">
                <a:solidFill>
                  <a:srgbClr val="000000"/>
                </a:solidFill>
                <a:latin typeface="Calibri"/>
              </a:rPr>
              <a:t>ARR Growth</a:t>
            </a:r>
          </a:p>
        </c:rich>
      </c:tx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($M)</c:v>
                </c:pt>
              </c:strCache>
            </c:strRef>
          </c:tx>
          <c:spPr>
            <a:solidFill>
              <a:srgbClr val="003DA5"/>
            </a:solidFill>
          </c:spPr>
          <c:cat>
            <c:strRef>
              <c:f>Sheet1!$A$2:$A$7</c:f>
              <c:strCache>
                <c:ptCount val="6"/>
                <c:pt idx="0">
                  <c:v>Q1'25</c:v>
                </c:pt>
                <c:pt idx="1">
                  <c:v>Q2'25</c:v>
                </c:pt>
                <c:pt idx="2">
                  <c:v>Q3'25</c:v>
                </c:pt>
                <c:pt idx="3">
                  <c:v>Q4'25</c:v>
                </c:pt>
                <c:pt idx="4">
                  <c:v>Q1'26</c:v>
                </c:pt>
                <c:pt idx="5">
                  <c:v>Q2'26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30.2</c:v>
                </c:pt>
                <c:pt idx="1">
                  <c:v>32.8</c:v>
                </c:pt>
                <c:pt idx="2">
                  <c:v>35</c:v>
                </c:pt>
                <c:pt idx="3">
                  <c:v>42</c:v>
                </c:pt>
                <c:pt idx="4">
                  <c:v>48.5</c:v>
                </c:pt>
                <c:pt idx="5">
                  <c:v>56</c:v>
                </c:pt>
              </c:numCache>
            </c:numRef>
          </c:val>
        </c:ser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/>
        <c:numFmt formatCode="$#,##0M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/>
          <a:lstStyle/>
          <a:p>
            <a:r>
              <a:rPr lang="en-US" sz="750">
                <a:solidFill>
                  <a:srgbClr val="000000"/>
                </a:solidFill>
                <a:latin typeface="Calibri"/>
              </a:rPr>
              <a:t>OpEx Breakdown</a:t>
            </a:r>
          </a:p>
        </c:rich>
      </c:tx>
      <c:overlay val="0"/>
    </c:title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S&amp;M</c:v>
                </c:pt>
              </c:strCache>
            </c:strRef>
          </c:tx>
          <c:spPr>
            <a:solidFill>
              <a:srgbClr val="0070C0"/>
            </a:solidFill>
          </c:spPr>
          <c:cat>
            <c:strRef>
              <c:f>Sheet1!$A$2:$A$7</c:f>
              <c:strCache>
                <c:ptCount val="6"/>
                <c:pt idx="0">
                  <c:v>Q1'25</c:v>
                </c:pt>
                <c:pt idx="1">
                  <c:v>Q2'25</c:v>
                </c:pt>
                <c:pt idx="2">
                  <c:v>Q3'25</c:v>
                </c:pt>
                <c:pt idx="3">
                  <c:v>Q4'25</c:v>
                </c:pt>
                <c:pt idx="4">
                  <c:v>Q1'26</c:v>
                </c:pt>
                <c:pt idx="5">
                  <c:v>Q2'26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3.5</c:v>
                </c:pt>
                <c:pt idx="1">
                  <c:v>3.6</c:v>
                </c:pt>
                <c:pt idx="2">
                  <c:v>3.8</c:v>
                </c:pt>
                <c:pt idx="3">
                  <c:v>4.2</c:v>
                </c:pt>
                <c:pt idx="4">
                  <c:v>4</c:v>
                </c:pt>
                <c:pt idx="5">
                  <c:v>4.3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R&amp;D</c:v>
                </c:pt>
              </c:strCache>
            </c:strRef>
          </c:tx>
          <c:spPr>
            <a:solidFill>
              <a:srgbClr val="00B050"/>
            </a:solidFill>
          </c:spPr>
          <c:cat>
            <c:strRef>
              <c:f>Sheet1!$A$2:$A$7</c:f>
              <c:strCache>
                <c:ptCount val="6"/>
                <c:pt idx="0">
                  <c:v>Q1'25</c:v>
                </c:pt>
                <c:pt idx="1">
                  <c:v>Q2'25</c:v>
                </c:pt>
                <c:pt idx="2">
                  <c:v>Q3'25</c:v>
                </c:pt>
                <c:pt idx="3">
                  <c:v>Q4'25</c:v>
                </c:pt>
                <c:pt idx="4">
                  <c:v>Q1'26</c:v>
                </c:pt>
                <c:pt idx="5">
                  <c:v>Q2'26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2.8</c:v>
                </c:pt>
                <c:pt idx="1">
                  <c:v>2.9</c:v>
                </c:pt>
                <c:pt idx="2">
                  <c:v>3</c:v>
                </c:pt>
                <c:pt idx="3">
                  <c:v>3.2</c:v>
                </c:pt>
                <c:pt idx="4">
                  <c:v>3.3</c:v>
                </c:pt>
                <c:pt idx="5">
                  <c:v>3.5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G&amp;A</c:v>
                </c:pt>
              </c:strCache>
            </c:strRef>
          </c:tx>
          <c:spPr>
            <a:solidFill>
              <a:srgbClr val="FFC000"/>
            </a:solidFill>
          </c:spPr>
          <c:cat>
            <c:strRef>
              <c:f>Sheet1!$A$2:$A$7</c:f>
              <c:strCache>
                <c:ptCount val="6"/>
                <c:pt idx="0">
                  <c:v>Q1'25</c:v>
                </c:pt>
                <c:pt idx="1">
                  <c:v>Q2'25</c:v>
                </c:pt>
                <c:pt idx="2">
                  <c:v>Q3'25</c:v>
                </c:pt>
                <c:pt idx="3">
                  <c:v>Q4'25</c:v>
                </c:pt>
                <c:pt idx="4">
                  <c:v>Q1'26</c:v>
                </c:pt>
                <c:pt idx="5">
                  <c:v>Q2'26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1.1</c:v>
                </c:pt>
                <c:pt idx="3">
                  <c:v>1.2</c:v>
                </c:pt>
                <c:pt idx="4">
                  <c:v>1.1</c:v>
                </c:pt>
                <c:pt idx="5">
                  <c:v>1.2</c:v>
                </c:pt>
              </c:numCache>
            </c:numRef>
          </c:val>
        </c:ser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/>
        <c:numFmt formatCode="$#,##0M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/>
          <a:lstStyle/>
          <a:p>
            <a:r>
              <a:rPr lang="en-US" sz="750">
                <a:solidFill>
                  <a:srgbClr val="000000"/>
                </a:solidFill>
                <a:latin typeface="Calibri"/>
              </a:rPr>
              <a:t>EBITDA Margin</a:t>
            </a:r>
          </a:p>
        </c:rich>
      </c:tx>
      <c:overlay val="0"/>
    </c:title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EBITDA Margin %</c:v>
                </c:pt>
              </c:strCache>
            </c:strRef>
          </c:tx>
          <c:spPr>
            <a:solidFill>
              <a:srgbClr val="00B050"/>
            </a:solidFill>
          </c:spPr>
          <c:cat>
            <c:strRef>
              <c:f>Sheet1!$A$2:$A$7</c:f>
              <c:strCache>
                <c:ptCount val="6"/>
                <c:pt idx="0">
                  <c:v>Q1'25</c:v>
                </c:pt>
                <c:pt idx="1">
                  <c:v>Q2'25</c:v>
                </c:pt>
                <c:pt idx="2">
                  <c:v>Q3'25</c:v>
                </c:pt>
                <c:pt idx="3">
                  <c:v>Q4'25</c:v>
                </c:pt>
                <c:pt idx="4">
                  <c:v>Q1'26</c:v>
                </c:pt>
                <c:pt idx="5">
                  <c:v>Q2'26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10</c:v>
                </c:pt>
                <c:pt idx="2">
                  <c:v>11</c:v>
                </c:pt>
                <c:pt idx="3">
                  <c:v>18</c:v>
                </c:pt>
                <c:pt idx="4">
                  <c:v>17</c:v>
                </c:pt>
                <c:pt idx="5">
                  <c:v>20</c:v>
                </c:pt>
              </c:numCache>
            </c:numRef>
          </c:val>
        </c:ser>
        <c:axId val="111111111"/>
        <c:axId val="222222222"/>
      </c:area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  <c:max val="30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($M)</c:v>
                </c:pt>
              </c:strCache>
            </c:strRef>
          </c:tx>
          <c:spPr>
            <a:solidFill>
              <a:srgbClr val="003DA5"/>
            </a:solidFill>
          </c:spPr>
          <c:cat>
            <c:strRef>
              <c:f>Sheet1!$A$2:$A$13</c:f>
              <c:strCache>
                <c:ptCount val="12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  <c:pt idx="6">
                  <c:v>Jan</c:v>
                </c:pt>
                <c:pt idx="7">
                  <c:v>Feb</c:v>
                </c:pt>
                <c:pt idx="8">
                  <c:v>Mar</c:v>
                </c:pt>
                <c:pt idx="9">
                  <c:v>Apr</c:v>
                </c:pt>
                <c:pt idx="10">
                  <c:v>May</c:v>
                </c:pt>
                <c:pt idx="11">
                  <c:v>Jun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3.8</c:v>
                </c:pt>
                <c:pt idx="1">
                  <c:v>3.9</c:v>
                </c:pt>
                <c:pt idx="2">
                  <c:v>4</c:v>
                </c:pt>
                <c:pt idx="3">
                  <c:v>4.2</c:v>
                </c:pt>
                <c:pt idx="4">
                  <c:v>4.6</c:v>
                </c:pt>
                <c:pt idx="5">
                  <c:v>5.2</c:v>
                </c:pt>
                <c:pt idx="6">
                  <c:v>4.5</c:v>
                </c:pt>
                <c:pt idx="7">
                  <c:v>4.4</c:v>
                </c:pt>
                <c:pt idx="8">
                  <c:v>4.9</c:v>
                </c:pt>
                <c:pt idx="9">
                  <c:v>4.7</c:v>
                </c:pt>
                <c:pt idx="10">
                  <c:v>4.8</c:v>
                </c:pt>
                <c:pt idx="11">
                  <c:v>5.3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($M)</c:v>
                </c:pt>
              </c:strCache>
            </c:strRef>
          </c:tx>
          <c:spPr>
            <a:solidFill>
              <a:srgbClr val="CBD5E1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Sheet1!$A$2:$A$13</c:f>
              <c:strCache>
                <c:ptCount val="12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  <c:pt idx="6">
                  <c:v>Jan</c:v>
                </c:pt>
                <c:pt idx="7">
                  <c:v>Feb</c:v>
                </c:pt>
                <c:pt idx="8">
                  <c:v>Mar</c:v>
                </c:pt>
                <c:pt idx="9">
                  <c:v>Apr</c:v>
                </c:pt>
                <c:pt idx="10">
                  <c:v>May</c:v>
                </c:pt>
                <c:pt idx="11">
                  <c:v>Jun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3.9</c:v>
                </c:pt>
                <c:pt idx="1">
                  <c:v>3.9</c:v>
                </c:pt>
                <c:pt idx="2">
                  <c:v>3.9</c:v>
                </c:pt>
                <c:pt idx="3">
                  <c:v>4.2</c:v>
                </c:pt>
                <c:pt idx="4">
                  <c:v>4.2</c:v>
                </c:pt>
                <c:pt idx="5">
                  <c:v>4.5</c:v>
                </c:pt>
                <c:pt idx="6">
                  <c:v>4.5</c:v>
                </c:pt>
                <c:pt idx="7">
                  <c:v>4.5</c:v>
                </c:pt>
                <c:pt idx="8">
                  <c:v>4.5</c:v>
                </c:pt>
                <c:pt idx="9">
                  <c:v>4.8</c:v>
                </c:pt>
                <c:pt idx="10">
                  <c:v>4.8</c:v>
                </c:pt>
                <c:pt idx="11">
                  <c:v>4.8</c:v>
                </c:pt>
              </c:numCache>
            </c:numRef>
          </c:val>
        </c:ser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750">
                    <a:solidFill>
                      <a:srgbClr val="000000"/>
                    </a:solidFill>
                    <a:latin typeface="Calibri"/>
                  </a:rPr>
                  <a:t>Month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n-US" sz="750">
                    <a:solidFill>
                      <a:srgbClr val="000000"/>
                    </a:solidFill>
                    <a:latin typeface="Calibri"/>
                  </a:rPr>
                  <a:t>Monthly Revenue</a:t>
                </a:r>
              </a:p>
            </c:rich>
          </c:tx>
          <c:overlay val="0"/>
        </c:title>
        <c:numFmt formatCode="$#,##0.0M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LeftSpacer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Leads</c:v>
                </c:pt>
                <c:pt idx="1">
                  <c:v>MQLs</c:v>
                </c:pt>
                <c:pt idx="2">
                  <c:v>SQLs</c:v>
                </c:pt>
                <c:pt idx="3">
                  <c:v>Opportunities</c:v>
                </c:pt>
                <c:pt idx="4">
                  <c:v>Proposals</c:v>
                </c:pt>
                <c:pt idx="5">
                  <c:v>Closed Won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2550</c:v>
                </c:pt>
                <c:pt idx="2">
                  <c:v>3475</c:v>
                </c:pt>
                <c:pt idx="3">
                  <c:v>3860</c:v>
                </c:pt>
                <c:pt idx="4">
                  <c:v>4005</c:v>
                </c:pt>
                <c:pt idx="5">
                  <c:v>4069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4472C4"/>
            </a:solidFill>
          </c:spPr>
          <c:dPt>
            <c:idx val="0"/>
            <c:spPr>
              <a:solidFill>
                <a:srgbClr val="003DA5"/>
              </a:solidFill>
            </c:spPr>
          </c:dPt>
          <c:dPt>
            <c:idx val="1"/>
            <c:spPr>
              <a:solidFill>
                <a:srgbClr val="0070C0"/>
              </a:solidFill>
            </c:spPr>
          </c:dPt>
          <c:dPt>
            <c:idx val="2"/>
            <c:spPr>
              <a:solidFill>
                <a:srgbClr val="2196F3"/>
              </a:solidFill>
            </c:spPr>
          </c:dPt>
          <c:dPt>
            <c:idx val="3"/>
            <c:spPr>
              <a:solidFill>
                <a:srgbClr val="00B050"/>
              </a:solidFill>
            </c:spPr>
          </c:dPt>
          <c:dPt>
            <c:idx val="4"/>
            <c:spPr>
              <a:solidFill>
                <a:srgbClr val="FFC000"/>
              </a:solidFill>
            </c:spPr>
          </c:dPt>
          <c:dPt>
            <c:idx val="5"/>
            <c:spPr>
              <a:solidFill>
                <a:srgbClr val="FF6600"/>
              </a:solidFill>
            </c:spPr>
          </c:dPt>
          <c:cat>
            <c:strRef>
              <c:f>Sheet1!$A$2:$A$7</c:f>
              <c:strCache>
                <c:ptCount val="6"/>
                <c:pt idx="0">
                  <c:v>Leads</c:v>
                </c:pt>
                <c:pt idx="1">
                  <c:v>MQLs</c:v>
                </c:pt>
                <c:pt idx="2">
                  <c:v>SQLs</c:v>
                </c:pt>
                <c:pt idx="3">
                  <c:v>Opportunities</c:v>
                </c:pt>
                <c:pt idx="4">
                  <c:v>Proposals</c:v>
                </c:pt>
                <c:pt idx="5">
                  <c:v>Closed Won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8200</c:v>
                </c:pt>
                <c:pt idx="1">
                  <c:v>3100</c:v>
                </c:pt>
                <c:pt idx="2">
                  <c:v>1250</c:v>
                </c:pt>
                <c:pt idx="3">
                  <c:v>480</c:v>
                </c:pt>
                <c:pt idx="4">
                  <c:v>190</c:v>
                </c:pt>
                <c:pt idx="5">
                  <c:v>62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RightSpacer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Leads</c:v>
                </c:pt>
                <c:pt idx="1">
                  <c:v>MQLs</c:v>
                </c:pt>
                <c:pt idx="2">
                  <c:v>SQLs</c:v>
                </c:pt>
                <c:pt idx="3">
                  <c:v>Opportunities</c:v>
                </c:pt>
                <c:pt idx="4">
                  <c:v>Proposals</c:v>
                </c:pt>
                <c:pt idx="5">
                  <c:v>Closed Won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2550</c:v>
                </c:pt>
                <c:pt idx="2">
                  <c:v>3475</c:v>
                </c:pt>
                <c:pt idx="3">
                  <c:v>3860</c:v>
                </c:pt>
                <c:pt idx="4">
                  <c:v>4005</c:v>
                </c:pt>
                <c:pt idx="5">
                  <c:v>4069</c:v>
                </c:pt>
              </c:numCache>
            </c:numRef>
          </c:val>
        </c:ser>
        <c:gapWidth val="5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NPS Score</c:v>
                </c:pt>
              </c:strCache>
            </c:strRef>
          </c:tx>
          <c:dPt>
            <c:idx val="0"/>
            <c:spPr>
              <a:solidFill>
                <a:srgbClr val="00B050"/>
              </a:solidFill>
            </c:spPr>
          </c:dPt>
          <c:dPt>
            <c:idx val="1"/>
            <c:spPr>
              <a:solidFill>
                <a:srgbClr val="E5E7EB"/>
              </a:solidFill>
            </c:spPr>
          </c:dPt>
          <c:cat>
            <c:strRef>
              <c:f>Sheet1!$A$2:$A$3</c:f>
              <c:strCache>
                <c:ptCount val="2"/>
                <c:pt idx="0">
                  <c:v>NPS Score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52</c:v>
                </c:pt>
                <c:pt idx="1">
                  <c:v>48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holeSize val="70"/>
        <c:firstSliceAng val="270"/>
      </c:doughnutChart>
      <c:spPr>
        <a:noFill/>
        <a:ln>
          <a:noFill/>
        </a:ln>
      </c:spPr>
    </c:plotArea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/>
          <a:lstStyle/>
          <a:p>
            <a:r>
              <a:rPr lang="en-US" sz="750">
                <a:solidFill>
                  <a:srgbClr val="000000"/>
                </a:solidFill>
                <a:latin typeface="Calibri"/>
              </a:rPr>
              <a:t>Logo Retention</a:t>
            </a:r>
          </a:p>
        </c:rich>
      </c:tx>
      <c:overlay val="0"/>
    </c:title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Retention</c:v>
                </c:pt>
              </c:strCache>
            </c:strRef>
          </c:tx>
          <c:dPt>
            <c:idx val="0"/>
            <c:spPr>
              <a:solidFill>
                <a:srgbClr val="00B050"/>
              </a:solidFill>
            </c:spPr>
          </c:dPt>
          <c:dPt>
            <c:idx val="1"/>
            <c:spPr>
              <a:solidFill>
                <a:srgbClr val="E5E7EB"/>
              </a:solidFill>
            </c:spPr>
          </c:dPt>
          <c:cat>
            <c:strRef>
              <c:f>Sheet1!$A$2:$A$3</c:f>
              <c:strCache>
                <c:ptCount val="2"/>
                <c:pt idx="0">
                  <c:v>Retained</c:v>
                </c:pt>
                <c:pt idx="1">
                  <c:v>Churned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97.8</c:v>
                </c:pt>
                <c:pt idx="1">
                  <c:v>2.2</c:v>
                </c:pt>
              </c:numCache>
            </c:numRef>
          </c:val>
        </c:ser>
        <c:holeSize val="65"/>
      </c:doughnutChart>
      <c:spPr>
        <a:noFill/>
        <a:ln>
          <a:noFill/>
        </a:ln>
      </c:spPr>
    </c:plotArea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/>
          <a:lstStyle/>
          <a:p>
            <a:r>
              <a:rPr lang="en-US" sz="750">
                <a:solidFill>
                  <a:srgbClr val="000000"/>
                </a:solidFill>
                <a:latin typeface="Calibri"/>
              </a:rPr>
              <a:t>Competitive Positioning</a:t>
            </a:r>
          </a:p>
        </c:rich>
      </c:tx>
      <c:overlay val="0"/>
    </c:title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Acme (Us)</c:v>
                </c:pt>
              </c:strCache>
            </c:strRef>
          </c:tx>
          <c:spPr>
            <a:solidFill>
              <a:srgbClr val="003DA5"/>
            </a:solidFill>
          </c:spPr>
          <c:xVal>
            <c:numRef>
              <c:f>Sheet1!$A$2:$A$2</c:f>
              <c:numCache>
                <c:formatCode>General</c:formatCode>
                <c:ptCount val="1"/>
                <c:pt idx="0">
                  <c:v>8.2</c:v>
                </c:pt>
              </c:numCache>
            </c:numRef>
          </c:xVal>
          <c:yVal>
            <c:numRef>
              <c:f>Sheet1!$B$2:$B$2</c:f>
              <c:numCache>
                <c:formatCode>General</c:formatCode>
                <c:ptCount val="1"/>
                <c:pt idx="0">
                  <c:v>7.5</c:v>
                </c:pt>
              </c:numCache>
            </c:numRef>
          </c:yVal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Competitor A</c:v>
                </c:pt>
              </c:strCache>
            </c:strRef>
          </c:tx>
          <c:spPr>
            <a:solidFill>
              <a:srgbClr val="C00000"/>
            </a:solidFill>
          </c:spPr>
          <c:xVal>
            <c:numRef>
              <c:f>Sheet1!$C$2:$C$2</c:f>
              <c:numCache>
                <c:formatCode>General</c:formatCode>
                <c:ptCount val="1"/>
                <c:pt idx="0">
                  <c:v>7</c:v>
                </c:pt>
              </c:numCache>
            </c:numRef>
          </c:xVal>
          <c:yVal>
            <c:numRef>
              <c:f>Sheet1!$D$2:$D$2</c:f>
              <c:numCache>
                <c:formatCode>General</c:formatCode>
                <c:ptCount val="1"/>
                <c:pt idx="0">
                  <c:v>8.8</c:v>
                </c:pt>
              </c:numCache>
            </c:numRef>
          </c:yVal>
        </c:ser>
        <c:ser>
          <c:idx val="2"/>
          <c:order val="2"/>
          <c:tx>
            <c:strRef>
              <c:f>Sheet1!$F$1</c:f>
              <c:strCache>
                <c:ptCount val="1"/>
                <c:pt idx="0">
                  <c:v>Competitor B</c:v>
                </c:pt>
              </c:strCache>
            </c:strRef>
          </c:tx>
          <c:spPr>
            <a:solidFill>
              <a:srgbClr val="FFC000"/>
            </a:solidFill>
          </c:spPr>
          <c:xVal>
            <c:numRef>
              <c:f>Sheet1!$E$2:$E$2</c:f>
              <c:numCache>
                <c:formatCode>General</c:formatCode>
                <c:ptCount val="1"/>
                <c:pt idx="0">
                  <c:v>6.5</c:v>
                </c:pt>
              </c:numCache>
            </c:numRef>
          </c:xVal>
          <c:yVal>
            <c:numRef>
              <c:f>Sheet1!$F$2:$F$2</c:f>
              <c:numCache>
                <c:formatCode>General</c:formatCode>
                <c:ptCount val="1"/>
                <c:pt idx="0">
                  <c:v>6</c:v>
                </c:pt>
              </c:numCache>
            </c:numRef>
          </c:yVal>
        </c:ser>
        <c:ser>
          <c:idx val="3"/>
          <c:order val="3"/>
          <c:tx>
            <c:strRef>
              <c:f>Sheet1!$H$1</c:f>
              <c:strCache>
                <c:ptCount val="1"/>
                <c:pt idx="0">
                  <c:v>Competitor C</c:v>
                </c:pt>
              </c:strCache>
            </c:strRef>
          </c:tx>
          <c:spPr>
            <a:solidFill>
              <a:srgbClr val="94A3B8"/>
            </a:solidFill>
          </c:spPr>
          <c:xVal>
            <c:numRef>
              <c:f>Sheet1!$G$2:$G$2</c:f>
              <c:numCache>
                <c:formatCode>General</c:formatCode>
                <c:ptCount val="1"/>
                <c:pt idx="0">
                  <c:v>9</c:v>
                </c:pt>
              </c:numCache>
            </c:numRef>
          </c:xVal>
          <c:yVal>
            <c:numRef>
              <c:f>Sheet1!$H$2:$H$2</c:f>
              <c:numCache>
                <c:formatCode>General</c:formatCode>
                <c:ptCount val="1"/>
                <c:pt idx="0">
                  <c:v>5.5</c:v>
                </c:pt>
              </c:numCache>
            </c:numRef>
          </c:yVal>
        </c:ser>
        <c:axId val="333333333"/>
        <c:axId val="444444444"/>
      </c:scatterChart>
      <c:valAx>
        <c:axId val="333333333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750">
                    <a:solidFill>
                      <a:srgbClr val="000000"/>
                    </a:solidFill>
                    <a:latin typeface="Calibri"/>
                  </a:rPr>
                  <a:t>Product Capability (10-pt)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444444444"/>
        <c:crosses val="autoZero"/>
      </c:valAx>
      <c:valAx>
        <c:axId val="444444444"/>
        <c:scaling>
          <c:orientation val="minMax"/>
          <c:min val="0"/>
          <c:max val="1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n-US" sz="750">
                    <a:solidFill>
                      <a:srgbClr val="000000"/>
                    </a:solidFill>
                    <a:latin typeface="Calibri"/>
                  </a:rPr>
                  <a:t>Market Presence (10-pt)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333333333"/>
        <c:crosses val="autoZero"/>
      </c:valAx>
      <c:spPr>
        <a:noFill/>
        <a:ln>
          <a:noFill/>
        </a:ln>
      </c:spPr>
    </c:plotArea>
    <c:legend>
      <c:legendPos val="b"/>
      <c:overlay val="0"/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003DA5"/>
            </a:solidFill>
          </c:spPr>
          <c:cat>
            <c:strRef>
              <c:f>Sheet1!$A$2:$A$7</c:f>
              <c:strCache>
                <c:ptCount val="6"/>
                <c:pt idx="0">
                  <c:v>Engineering</c:v>
                </c:pt>
                <c:pt idx="1">
                  <c:v>Product</c:v>
                </c:pt>
                <c:pt idx="2">
                  <c:v>Sales</c:v>
                </c:pt>
                <c:pt idx="3">
                  <c:v>Marketing</c:v>
                </c:pt>
                <c:pt idx="4">
                  <c:v>CS</c:v>
                </c:pt>
                <c:pt idx="5">
                  <c:v>G&amp;A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78</c:v>
                </c:pt>
                <c:pt idx="1">
                  <c:v>16</c:v>
                </c:pt>
                <c:pt idx="2">
                  <c:v>38</c:v>
                </c:pt>
                <c:pt idx="3">
                  <c:v>14</c:v>
                </c:pt>
                <c:pt idx="4">
                  <c:v>22</c:v>
                </c:pt>
                <c:pt idx="5">
                  <c:v>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CBD5E1"/>
            </a:solidFill>
          </c:spPr>
          <c:cat>
            <c:strRef>
              <c:f>Sheet1!$A$2:$A$7</c:f>
              <c:strCache>
                <c:ptCount val="6"/>
                <c:pt idx="0">
                  <c:v>Engineering</c:v>
                </c:pt>
                <c:pt idx="1">
                  <c:v>Product</c:v>
                </c:pt>
                <c:pt idx="2">
                  <c:v>Sales</c:v>
                </c:pt>
                <c:pt idx="3">
                  <c:v>Marketing</c:v>
                </c:pt>
                <c:pt idx="4">
                  <c:v>CS</c:v>
                </c:pt>
                <c:pt idx="5">
                  <c:v>G&amp;A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85</c:v>
                </c:pt>
                <c:pt idx="1">
                  <c:v>18</c:v>
                </c:pt>
                <c:pt idx="2">
                  <c:v>45</c:v>
                </c:pt>
                <c:pt idx="3">
                  <c:v>15</c:v>
                </c:pt>
                <c:pt idx="4">
                  <c:v>25</c:v>
                </c:pt>
                <c:pt idx="5">
                  <c:v>18</c:v>
                </c:pt>
              </c:numCache>
            </c:numRef>
          </c:val>
        </c:ser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n-US" sz="750">
                    <a:solidFill>
                      <a:srgbClr val="000000"/>
                    </a:solidFill>
                    <a:latin typeface="Calibri"/>
                  </a:rPr>
                  <a:t>Headcount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5.xml"/>
  <Relationship Id="rId2" Type="http://schemas.openxmlformats.org/officeDocument/2006/relationships/notesMaster" Target="../notesMasters/notesMaster1.xml"/>
</Relationship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action items bi-weekly; escalate blockers to exec team</a:t>
            </a:r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  <Relationship Id="rId3" Type="http://schemas.openxmlformats.org/officeDocument/2006/relationships/chart" Target="../charts/chart2.xml"/>
  <Relationship Id="rId4" Type="http://schemas.openxmlformats.org/officeDocument/2006/relationships/chart" Target="../charts/chart3.xml"/>
  <Relationship Id="rId5" Type="http://schemas.openxmlformats.org/officeDocument/2006/relationships/chart" Target="../charts/chart4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5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6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7.xml"/>
  <Relationship Id="rId3" Type="http://schemas.openxmlformats.org/officeDocument/2006/relationships/chart" Target="../charts/chart8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9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0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F172A"/>
            </a:gs>
            <a:gs pos="100000">
              <a:srgbClr val="1E1B4B"/>
            </a:gs>
          </a:gsLst>
          <a:lin ang="4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524000"/>
            <a:ext cx="8001000" cy="3524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760"/>
              </a:lnSpc>
            </a:pPr>
            <a:r>
              <a:rPr lang="en-US" sz="2400" b="1" dirty="0">
                <a:solidFill>
                  <a:srgbClr val="FFFFFF"/>
                </a:solidFill>
                <a:latin typeface="Arial"/>
              </a:rPr>
              <a:t>Q2 2026 Quarterly Business Review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2095500"/>
            <a:ext cx="66675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07"/>
              </a:lnSpc>
            </a:pPr>
            <a:r>
              <a:rPr lang="en-US" sz="1050" dirty="0">
                <a:solidFill>
                  <a:srgbClr val="94A3B8"/>
                </a:solidFill>
                <a:latin typeface="Arial"/>
              </a:rPr>
              <a:t>Acme Corp • Confidential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Strong quarter across revenue and retention; hiring and pipeline require attention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381000" y="762000"/>
            <a:ext cx="1905000" cy="95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885825" y="942975"/>
            <a:ext cx="89535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Arial"/>
              </a:rPr>
              <a:t>$14.8M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1133475" y="1285875"/>
            <a:ext cx="4000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Revenue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1104900" y="1419225"/>
            <a:ext cx="4572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0B050"/>
                </a:solidFill>
                <a:latin typeface="Arial"/>
              </a:rPr>
              <a:t>+18% YoY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2438400" y="762000"/>
            <a:ext cx="1905000" cy="95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3048000" y="942975"/>
            <a:ext cx="68580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Arial"/>
              </a:rPr>
              <a:t>$56M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3286125" y="1285875"/>
            <a:ext cx="2095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ARR</a:t>
            </a:r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3162300" y="1419225"/>
            <a:ext cx="4572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0B050"/>
                </a:solidFill>
                <a:latin typeface="Arial"/>
              </a:rPr>
              <a:t>+33% YoY</a:t>
            </a:r>
            <a:endParaRPr lang="en-US" dirty="0"/>
          </a:p>
        </p:txBody>
      </p:sp>
      <p:sp>
        <p:nvSpPr>
          <p:cNvPr id="12" name="View 12"/>
          <p:cNvSpPr/>
          <p:nvPr/>
        </p:nvSpPr>
        <p:spPr>
          <a:xfrm>
            <a:off x="4495800" y="762000"/>
            <a:ext cx="1905000" cy="95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5105400" y="942975"/>
            <a:ext cx="68580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Arial"/>
              </a:rPr>
              <a:t>118%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5343525" y="1285875"/>
            <a:ext cx="2095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NRR</a:t>
            </a:r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5210175" y="1419225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0B050"/>
                </a:solidFill>
                <a:latin typeface="Arial"/>
              </a:rPr>
              <a:t>+3pp QoQ</a:t>
            </a:r>
            <a:endParaRPr lang="en-US" dirty="0"/>
          </a:p>
        </p:txBody>
      </p:sp>
      <p:sp>
        <p:nvSpPr>
          <p:cNvPr id="16" name="View 16"/>
          <p:cNvSpPr/>
          <p:nvPr/>
        </p:nvSpPr>
        <p:spPr>
          <a:xfrm>
            <a:off x="6553200" y="762000"/>
            <a:ext cx="1905000" cy="95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7277100" y="942975"/>
            <a:ext cx="45720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Arial"/>
              </a:rPr>
              <a:t>185</a:t>
            </a:r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7267575" y="1285875"/>
            <a:ext cx="4762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Headcount</a:t>
            </a:r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7191375" y="1419225"/>
            <a:ext cx="6286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C000"/>
                </a:solidFill>
                <a:latin typeface="Arial"/>
              </a:rPr>
              <a:t>12 open roles</a:t>
            </a:r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381000" y="2095500"/>
            <a:ext cx="8382000" cy="19050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380"/>
              </a:lnSpc>
              <a:spcBef>
                <a:spcPts val="0"/>
              </a:spcBef>
            </a:pPr>
            <a:r>
              <a:rPr lang="en-US" sz="825" b="1" dirty="0">
                <a:solidFill>
                  <a:srgbClr val="0F2540"/>
                </a:solidFill>
                <a:latin typeface="Arial"/>
              </a:rPr>
              <a:t>Q2 highlights: </a:t>
            </a:r>
            <a:r>
              <a:rPr lang="en-US" sz="825" dirty="0">
                <a:solidFill>
                  <a:srgbClr val="000000"/>
                </a:solidFill>
                <a:latin typeface="Arial"/>
              </a:rPr>
              <a:t>Revenue exceeded target by 8%, driven by enterprise upsells and 3 new logos &gt;$500K ACV. NRR reached an all-time high of 118%. Product shipped AI copilot (65% adoption in first 6 weeks). Key risk: sales pipeline coverage at 2.4x vs 3.0x target.</a:t>
            </a:r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381000" y="4953000"/>
            <a:ext cx="155257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Internal systems, as of June 30, 2026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All four financial indicators trending positively; EBITDA margin hit 20%</a:t>
            </a:r>
            <a:endParaRPr lang="en-US" dirty="0"/>
          </a:p>
        </p:txBody>
      </p:sp>
      <p:graphicFrame>
        <p:nvGraphicFramePr>
          <p:cNvPr id="4" name="Chart 4"/>
          <p:cNvGraphicFramePr>
            <a:graphicFrameLocks noGrp="1"/>
          </p:cNvGraphicFramePr>
          <p:nvPr/>
        </p:nvGraphicFramePr>
        <p:xfrm>
          <a:off x="381000" y="762000"/>
          <a:ext cx="4000500" cy="171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5"/>
          <p:cNvGraphicFramePr>
            <a:graphicFrameLocks noGrp="1"/>
          </p:cNvGraphicFramePr>
          <p:nvPr/>
        </p:nvGraphicFramePr>
        <p:xfrm>
          <a:off x="4762500" y="762000"/>
          <a:ext cx="4000500" cy="171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6"/>
          <p:cNvGraphicFramePr>
            <a:graphicFrameLocks noGrp="1"/>
          </p:cNvGraphicFramePr>
          <p:nvPr/>
        </p:nvGraphicFramePr>
        <p:xfrm>
          <a:off x="381000" y="2762250"/>
          <a:ext cx="4000500" cy="171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7"/>
          <p:cNvGraphicFramePr>
            <a:graphicFrameLocks noGrp="1"/>
          </p:cNvGraphicFramePr>
          <p:nvPr/>
        </p:nvGraphicFramePr>
        <p:xfrm>
          <a:off x="4762500" y="2762250"/>
          <a:ext cx="4000500" cy="171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Text 8"/>
          <p:cNvSpPr txBox="1"/>
          <p:nvPr/>
        </p:nvSpPr>
        <p:spPr>
          <a:xfrm>
            <a:off x="381000" y="4953000"/>
            <a:ext cx="119062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Internal finance, unaudited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Revenue outperformed target in 10 of 12 months; Q2 beat driven by enterprise deals</a:t>
            </a:r>
            <a:endParaRPr lang="en-US" dirty="0"/>
          </a:p>
        </p:txBody>
      </p:sp>
      <p:graphicFrame>
        <p:nvGraphicFramePr>
          <p:cNvPr id="4" name="Chart 4"/>
          <p:cNvGraphicFramePr>
            <a:graphicFrameLocks noGrp="1"/>
          </p:cNvGraphicFramePr>
          <p:nvPr/>
        </p:nvGraphicFramePr>
        <p:xfrm>
          <a:off x="381000" y="762000"/>
          <a:ext cx="83820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 5"/>
          <p:cNvSpPr txBox="1"/>
          <p:nvPr/>
        </p:nvSpPr>
        <p:spPr>
          <a:xfrm>
            <a:off x="381000" y="4953000"/>
            <a:ext cx="145732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Finance team monthly close, FY26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Pipeline coverage at 2.4x; MQL-to-SQL conversion improving but below 3x target</a:t>
            </a:r>
            <a:endParaRPr lang="en-US" dirty="0"/>
          </a:p>
        </p:txBody>
      </p:sp>
      <p:graphicFrame>
        <p:nvGraphicFramePr>
          <p:cNvPr id="4" name="Chart 4"/>
          <p:cNvGraphicFramePr>
            <a:graphicFrameLocks noGrp="1"/>
          </p:cNvGraphicFramePr>
          <p:nvPr/>
        </p:nvGraphicFramePr>
        <p:xfrm>
          <a:off x="1143000" y="762000"/>
          <a:ext cx="68580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 5"/>
          <p:cNvSpPr txBox="1"/>
          <p:nvPr/>
        </p:nvSpPr>
        <p:spPr>
          <a:xfrm>
            <a:off x="381000" y="4953000"/>
            <a:ext cx="11811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Salesforce CRM, Q2 2026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9 of 12 key results on track; GTM hiring and pipeline coverage are primary gaps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285750" y="714375"/>
          <a:ext cx="6096000" cy="1"/>
        </p:xfrm>
        <a:graphic>
          <a:graphicData uri="http://schemas.openxmlformats.org/drawingml/2006/table">
            <a:tbl>
              <a:tblPr firstRow="0" bandRow="1"/>
              <a:tblGrid>
                <a:gridCol w="1238250"/>
                <a:gridCol w="1809750"/>
                <a:gridCol w="762000"/>
                <a:gridCol w="762000"/>
                <a:gridCol w="809625"/>
                <a:gridCol w="714375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Objective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Key Result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Actual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% Complete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Grow Revenue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Close $15M net new ARR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$15M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$13.8M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92%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</a:rPr>
                        <a:t>Green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0B05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Expand into 2 new verticals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100%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</a:rPr>
                        <a:t>Green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0B05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Achieve 120% NRR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120%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118%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98%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</a:rPr>
                        <a:t>Green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0B05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Scale GTM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Hire 8 enterprise AEs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63%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</a:rPr>
                        <a:t>Red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Build partner channel ($2M ARR)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$1.4M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</a:rPr>
                        <a:t>Amber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Achieve 3x pipeline coverage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3.0x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2.4x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80%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</a:rPr>
                        <a:t>Amber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Product Excellence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Ship AI copilot GA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GA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GA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100%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</a:rPr>
                        <a:t>Green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0B05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99.95% uptime SLA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99.95%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99.97%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100%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</a:rPr>
                        <a:t>Green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0B05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Reduce P1 incidents &lt;2/mo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&lt;2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1.5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100%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</a:rPr>
                        <a:t>Green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0B05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People &amp; Culture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eNPS &gt; 60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60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58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97%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</a:rPr>
                        <a:t>Amber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Complete DEI training 100%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100%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92%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92%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</a:rPr>
                        <a:t>Amber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Promote 5 to senior roles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80%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</a:rPr>
                        <a:t>Amber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381000" y="4953000"/>
            <a:ext cx="17145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OKR tracking system, as of June 30, 2026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Customer health strong: NPS 52, logo retention 97.8%, top accounts expanding</a:t>
            </a:r>
            <a:endParaRPr lang="en-US" dirty="0"/>
          </a:p>
        </p:txBody>
      </p:sp>
      <p:graphicFrame>
        <p:nvGraphicFramePr>
          <p:cNvPr id="4" name="Chart 4"/>
          <p:cNvGraphicFramePr>
            <a:graphicFrameLocks noGrp="1"/>
          </p:cNvGraphicFramePr>
          <p:nvPr/>
        </p:nvGraphicFramePr>
        <p:xfrm>
          <a:off x="381000" y="762000"/>
          <a:ext cx="1905000" cy="1619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5"/>
          <p:cNvGraphicFramePr>
            <a:graphicFrameLocks noGrp="1"/>
          </p:cNvGraphicFramePr>
          <p:nvPr/>
        </p:nvGraphicFramePr>
        <p:xfrm>
          <a:off x="2571750" y="762000"/>
          <a:ext cx="1905000" cy="1619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381000" y="2667000"/>
          <a:ext cx="4857750" cy="1"/>
        </p:xfrm>
        <a:graphic>
          <a:graphicData uri="http://schemas.openxmlformats.org/drawingml/2006/table">
            <a:tbl>
              <a:tblPr firstRow="0" bandRow="1"/>
              <a:tblGrid>
                <a:gridCol w="1333500"/>
                <a:gridCol w="952500"/>
                <a:gridCol w="762000"/>
                <a:gridCol w="762000"/>
                <a:gridCol w="104775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Customer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ARR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Health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NRR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Next Renewal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GlobalCorp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$2.8M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Strong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135%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Sep 2026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TechVentures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$1.9M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Strong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128%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Dec 2026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MegaBank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$1.5M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At Risk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95%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Aug 2026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RetailCo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$1.2M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Strong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142%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Nov 2026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HealthFirst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$1.1M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Moderate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110%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Oct 2026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7"/>
          <p:cNvSpPr txBox="1"/>
          <p:nvPr/>
        </p:nvSpPr>
        <p:spPr>
          <a:xfrm>
            <a:off x="381000" y="4953000"/>
            <a:ext cx="157162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Gainsight CS platform, Delighted NPS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We win on product depth; losing deals primarily on price and brand awareness</a:t>
            </a:r>
            <a:endParaRPr lang="en-US" dirty="0"/>
          </a:p>
        </p:txBody>
      </p:sp>
      <p:graphicFrame>
        <p:nvGraphicFramePr>
          <p:cNvPr id="4" name="Chart 4"/>
          <p:cNvGraphicFramePr>
            <a:graphicFrameLocks noGrp="1"/>
          </p:cNvGraphicFramePr>
          <p:nvPr/>
        </p:nvGraphicFramePr>
        <p:xfrm>
          <a:off x="381000" y="714375"/>
          <a:ext cx="4000500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381000" y="3238500"/>
          <a:ext cx="5715000" cy="1"/>
        </p:xfrm>
        <a:graphic>
          <a:graphicData uri="http://schemas.openxmlformats.org/drawingml/2006/table">
            <a:tbl>
              <a:tblPr firstRow="0" bandRow="1"/>
              <a:tblGrid>
                <a:gridCol w="1238250"/>
                <a:gridCol w="857250"/>
                <a:gridCol w="857250"/>
                <a:gridCol w="857250"/>
                <a:gridCol w="190500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Competitor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Deals Won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Deals Lost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Win Rate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Primary Loss Reason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vs Competitor A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Price / discounting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vs Competitor B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73%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Brand awareness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vs Competitor C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Incumbent relationship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vs Other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13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76%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Feature gaps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 6"/>
          <p:cNvSpPr txBox="1"/>
          <p:nvPr/>
        </p:nvSpPr>
        <p:spPr>
          <a:xfrm>
            <a:off x="381000" y="4953000"/>
            <a:ext cx="169545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CRM win/loss analysis, trailing 12 months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Shipped 11 features on time in Q2; AI copilot driving highest adoption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285750" y="714375"/>
          <a:ext cx="5429250" cy="1"/>
        </p:xfrm>
        <a:graphic>
          <a:graphicData uri="http://schemas.openxmlformats.org/drawingml/2006/table">
            <a:tbl>
              <a:tblPr firstRow="0" bandRow="1"/>
              <a:tblGrid>
                <a:gridCol w="1524000"/>
                <a:gridCol w="952500"/>
                <a:gridCol w="762000"/>
                <a:gridCol w="762000"/>
                <a:gridCol w="762000"/>
                <a:gridCol w="66675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Ship Date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Adoption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AI Copilot GA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Core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Shipped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Apr 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65%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High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API v3.1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Developer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Shipped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Apr 22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34%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High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Advanced Analytics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Analytics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Shipped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May 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48%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Medium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SCIM Provisioning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Security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Shipped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May 15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28%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Medium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Workflow Builder v2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Automation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Shipped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May 28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52%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High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Real-time Dashboards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Analytics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Shipped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Jun 10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41%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Medium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Custom Roles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Security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Shipped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Jun 18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Medium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Slack Integration v2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Integrations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Shipped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Jun 25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55%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Medium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Mobile Push Alerts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Mobile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Delayed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Jul (est)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—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Low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Data Export API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Developer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In Progress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Jul 15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—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Medium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381000" y="4953000"/>
            <a:ext cx="180022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Product analytics &amp; Jira, as of June 30, 2026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Operational metrics healthy; uptime and support SLAs exceed targets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381000" y="762000"/>
            <a:ext cx="1905000" cy="95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876300" y="942975"/>
            <a:ext cx="91440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0B050"/>
                </a:solidFill>
                <a:latin typeface="Arial"/>
              </a:rPr>
              <a:t>99.97%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1181100" y="1285875"/>
            <a:ext cx="3048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Uptime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1000125" y="1419225"/>
            <a:ext cx="6667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0B050"/>
                </a:solidFill>
                <a:latin typeface="Arial"/>
              </a:rPr>
              <a:t>Target: 99.95%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2438400" y="762000"/>
            <a:ext cx="1905000" cy="95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2971800" y="942975"/>
            <a:ext cx="83820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Arial"/>
              </a:rPr>
              <a:t>142ms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2962275" y="1285875"/>
            <a:ext cx="8572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Avg Response Time</a:t>
            </a:r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3162300" y="1419225"/>
            <a:ext cx="4572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0B050"/>
                </a:solidFill>
                <a:latin typeface="Arial"/>
              </a:rPr>
              <a:t>-18% QoQ</a:t>
            </a:r>
            <a:endParaRPr lang="en-US" dirty="0"/>
          </a:p>
        </p:txBody>
      </p:sp>
      <p:sp>
        <p:nvSpPr>
          <p:cNvPr id="12" name="View 12"/>
          <p:cNvSpPr/>
          <p:nvPr/>
        </p:nvSpPr>
        <p:spPr>
          <a:xfrm>
            <a:off x="4495800" y="762000"/>
            <a:ext cx="1905000" cy="95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5038725" y="942975"/>
            <a:ext cx="81915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Arial"/>
              </a:rPr>
              <a:t>4.7/5.0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5143500" y="1285875"/>
            <a:ext cx="6096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Support CSAT</a:t>
            </a:r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5229225" y="1419225"/>
            <a:ext cx="4381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0B050"/>
                </a:solidFill>
                <a:latin typeface="Arial"/>
              </a:rPr>
              <a:t>+0.2 QoQ</a:t>
            </a:r>
            <a:endParaRPr lang="en-US" dirty="0"/>
          </a:p>
        </p:txBody>
      </p:sp>
      <p:sp>
        <p:nvSpPr>
          <p:cNvPr id="16" name="View 16"/>
          <p:cNvSpPr/>
          <p:nvPr/>
        </p:nvSpPr>
        <p:spPr>
          <a:xfrm>
            <a:off x="6553200" y="762000"/>
            <a:ext cx="1905000" cy="95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7077075" y="942975"/>
            <a:ext cx="85725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Arial"/>
              </a:rPr>
              <a:t>38 min</a:t>
            </a:r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7134225" y="1285875"/>
            <a:ext cx="7429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Median TTR (P1)</a:t>
            </a:r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7219950" y="1419225"/>
            <a:ext cx="571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0B050"/>
                </a:solidFill>
                <a:latin typeface="Arial"/>
              </a:rPr>
              <a:t>-12 min QoQ</a:t>
            </a:r>
            <a:endParaRPr lang="en-US" dirty="0"/>
          </a:p>
        </p:txBody>
      </p:sp>
      <p:sp>
        <p:nvSpPr>
          <p:cNvPr id="20" name="View 20"/>
          <p:cNvSpPr/>
          <p:nvPr/>
        </p:nvSpPr>
        <p:spPr>
          <a:xfrm>
            <a:off x="381000" y="1866900"/>
            <a:ext cx="1905000" cy="95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819150" y="2047875"/>
            <a:ext cx="102870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Arial"/>
              </a:rPr>
              <a:t>14/week</a:t>
            </a:r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942975" y="2390775"/>
            <a:ext cx="7810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Deploy Frequency</a:t>
            </a:r>
            <a:endParaRPr lang="en-US" dirty="0"/>
          </a:p>
        </p:txBody>
      </p:sp>
      <p:sp>
        <p:nvSpPr>
          <p:cNvPr id="23" name="Text 23"/>
          <p:cNvSpPr txBox="1"/>
          <p:nvPr/>
        </p:nvSpPr>
        <p:spPr>
          <a:xfrm>
            <a:off x="1033463" y="2524125"/>
            <a:ext cx="604838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0B050"/>
                </a:solidFill>
                <a:latin typeface="Arial"/>
              </a:rPr>
              <a:t>+3/week QoQ</a:t>
            </a:r>
            <a:endParaRPr lang="en-US" dirty="0"/>
          </a:p>
        </p:txBody>
      </p:sp>
      <p:sp>
        <p:nvSpPr>
          <p:cNvPr id="24" name="View 24"/>
          <p:cNvSpPr/>
          <p:nvPr/>
        </p:nvSpPr>
        <p:spPr>
          <a:xfrm>
            <a:off x="2438400" y="1866900"/>
            <a:ext cx="1905000" cy="95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3086100" y="2047875"/>
            <a:ext cx="60960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Arial"/>
              </a:rPr>
              <a:t>1.8%</a:t>
            </a:r>
            <a:endParaRPr lang="en-US" dirty="0"/>
          </a:p>
        </p:txBody>
      </p:sp>
      <p:sp>
        <p:nvSpPr>
          <p:cNvPr id="26" name="Text 26"/>
          <p:cNvSpPr txBox="1"/>
          <p:nvPr/>
        </p:nvSpPr>
        <p:spPr>
          <a:xfrm>
            <a:off x="2943225" y="2390775"/>
            <a:ext cx="8953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Change Failure Rate</a:t>
            </a:r>
            <a:endParaRPr lang="en-US" dirty="0"/>
          </a:p>
        </p:txBody>
      </p:sp>
      <p:sp>
        <p:nvSpPr>
          <p:cNvPr id="27" name="Text 27"/>
          <p:cNvSpPr txBox="1"/>
          <p:nvPr/>
        </p:nvSpPr>
        <p:spPr>
          <a:xfrm>
            <a:off x="3133725" y="2524125"/>
            <a:ext cx="5143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0B050"/>
                </a:solidFill>
                <a:latin typeface="Arial"/>
              </a:rPr>
              <a:t>-0.4pp QoQ</a:t>
            </a:r>
            <a:endParaRPr lang="en-US" dirty="0"/>
          </a:p>
        </p:txBody>
      </p:sp>
      <p:sp>
        <p:nvSpPr>
          <p:cNvPr id="28" name="Text 28"/>
          <p:cNvSpPr txBox="1"/>
          <p:nvPr/>
        </p:nvSpPr>
        <p:spPr>
          <a:xfrm>
            <a:off x="381000" y="4953000"/>
            <a:ext cx="130492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Datadog, PagerDuty, Zendesk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Team grew to 185; 12 open roles concentrated in engineering and sales</a:t>
            </a:r>
            <a:endParaRPr lang="en-US" dirty="0"/>
          </a:p>
        </p:txBody>
      </p:sp>
      <p:graphicFrame>
        <p:nvGraphicFramePr>
          <p:cNvPr id="4" name="Chart 4"/>
          <p:cNvGraphicFramePr>
            <a:graphicFrameLocks noGrp="1"/>
          </p:cNvGraphicFramePr>
          <p:nvPr/>
        </p:nvGraphicFramePr>
        <p:xfrm>
          <a:off x="381000" y="714375"/>
          <a:ext cx="4000500" cy="2095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381000" y="2952750"/>
          <a:ext cx="4953000" cy="1"/>
        </p:xfrm>
        <a:graphic>
          <a:graphicData uri="http://schemas.openxmlformats.org/drawingml/2006/table">
            <a:tbl>
              <a:tblPr firstRow="0" bandRow="1"/>
              <a:tblGrid>
                <a:gridCol w="1619250"/>
                <a:gridCol w="1047750"/>
                <a:gridCol w="762000"/>
                <a:gridCol w="666750"/>
                <a:gridCol w="85725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Department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Level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Priority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Days Open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Sr. Backend Engineer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Engineering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L5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P0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ML Engineer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Engineering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L5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P0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Platform Engineer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Engineering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L4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P1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Frontend Engineer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Engineering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L4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P1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Enterprise AE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Sales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Senior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P0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Enterprise AE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Sales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Senior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P0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SDR Manager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Sales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Manager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P1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Solutions Engineer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Sales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Mid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P1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Product Designer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Product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Senior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P1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Data Analyst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Product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Mid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P2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CS Manager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CS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Manager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P1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G&amp;A Analyst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G&amp;A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Mid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P2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 6"/>
          <p:cNvSpPr txBox="1"/>
          <p:nvPr/>
        </p:nvSpPr>
        <p:spPr>
          <a:xfrm>
            <a:off x="381000" y="4953000"/>
            <a:ext cx="128587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Greenhouse ATS, HR system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Two red risks require immediate attention: attrition and pipeline coverage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285750" y="714375"/>
          <a:ext cx="6572250" cy="1"/>
        </p:xfrm>
        <a:graphic>
          <a:graphicData uri="http://schemas.openxmlformats.org/drawingml/2006/table">
            <a:tbl>
              <a:tblPr firstRow="0" bandRow="1"/>
              <a:tblGrid>
                <a:gridCol w="1714500"/>
                <a:gridCol w="762000"/>
                <a:gridCol w="666750"/>
                <a:gridCol w="2667000"/>
                <a:gridCol w="76200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Likelihood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Key engineer attrition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High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High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Retention packages, growth plans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VP Eng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Pipeline coverage &lt;3x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High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High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Accelerate SDR hiring, demand gen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CRO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Competitor price war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Medium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High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Value selling training, case studies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CRO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Data center outage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Low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High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Multi-region failover, chaos testing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CTO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SOC2 remediation delay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Medium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Medium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Dedicated security sprint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CISO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Enterprise deal slippage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Medium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High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Weekly deal review, exec sponsors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CRO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APAC regulatory complexity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Medium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Medium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Engage local counsel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GC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AI cost scaling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Low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Medium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Optimize inference, caching layer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VP Eng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381000" y="4953000"/>
            <a:ext cx="81915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Updated: June 30, 2026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Three systemic challenges must be addressed in Q3 to sustain growth trajectory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381000" y="762000"/>
            <a:ext cx="2667000" cy="304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533400" y="914400"/>
            <a:ext cx="23622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C00000"/>
                </a:solidFill>
                <a:latin typeface="Arial"/>
              </a:rPr>
              <a:t>1. GTM Hiring Velocity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533400" y="1123950"/>
            <a:ext cx="2362200" cy="857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3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We are 3 AEs behind plan, resulting in $4M uncovered territory. Root cause: compensation not competitive for enterprise AEs in Tier 1 markets. Proposed fix: adjust OTE to 75th percentile (+15%) and add signing bonuses for Q3 hires.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3200400" y="762000"/>
            <a:ext cx="2667000" cy="304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3352800" y="914400"/>
            <a:ext cx="23622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FFC000"/>
                </a:solidFill>
                <a:latin typeface="Arial"/>
              </a:rPr>
              <a:t>2. Pipeline Generation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3352800" y="1123950"/>
            <a:ext cx="2362200" cy="857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3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Pipeline coverage dropped from 3.2x to 2.4x over two quarters. Inbound leads flat despite 20% increase in marketing spend. Proposed fix: launch outbound motion with 4 dedicated SDRs, invest in ABM for top 50 enterprise targets.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6019800" y="762000"/>
            <a:ext cx="2667000" cy="304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6172200" y="914400"/>
            <a:ext cx="23622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FFC000"/>
                </a:solidFill>
                <a:latin typeface="Arial"/>
              </a:rPr>
              <a:t>3. Enterprise Churn Signal</a:t>
            </a:r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6172200" y="1123950"/>
            <a:ext cx="2362200" cy="857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3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Lost 2 enterprise logos in Q2 ($1.8M ARR). Both cited lack of advanced analytics and reporting. Product gap partially addressed by Advanced Analytics feature, but need dedicated enterprise success team. Proposed fix: hire 2 strategic CSMs.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Q3 priorities focused on closing GTM gaps and preparing for Series C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476250" y="762000"/>
            <a:ext cx="8191500" cy="9715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lvl="0">
              <a:lnSpc>
                <a:spcPts val="949"/>
              </a:lnSpc>
              <a:spcBef>
                <a:spcPts val="0"/>
              </a:spcBef>
              <a:buChar char="•"/>
            </a:pPr>
            <a:r>
              <a:rPr lang="en-US" sz="825" dirty="0">
                <a:solidFill>
                  <a:srgbClr val="000000"/>
                </a:solidFill>
                <a:latin typeface="Arial"/>
              </a:rPr>
              <a:t>1. Close AE hiring gap — fill 3 remaining enterprise AE roles by Aug 15 (Owner: VP Sales)</a:t>
            </a:r>
            <a:endParaRPr lang="en-US" dirty="0"/>
          </a:p>
          <a:p>
            <a:pPr lvl="0">
              <a:lnSpc>
                <a:spcPts val="949"/>
              </a:lnSpc>
              <a:spcBef>
                <a:spcPts val="400"/>
              </a:spcBef>
              <a:buChar char="•"/>
            </a:pPr>
            <a:r>
              <a:rPr lang="en-US" sz="825" dirty="0">
                <a:solidFill>
                  <a:srgbClr val="000000"/>
                </a:solidFill>
                <a:latin typeface="Arial"/>
              </a:rPr>
              <a:t>2. Rebuild pipeline to 3x — launch ABM program targeting 50 enterprise accounts (Owner: VP Marketing)</a:t>
            </a:r>
            <a:endParaRPr lang="en-US" dirty="0"/>
          </a:p>
          <a:p>
            <a:pPr lvl="0">
              <a:lnSpc>
                <a:spcPts val="949"/>
              </a:lnSpc>
              <a:spcBef>
                <a:spcPts val="400"/>
              </a:spcBef>
              <a:buChar char="•"/>
            </a:pPr>
            <a:r>
              <a:rPr lang="en-US" sz="825" dirty="0">
                <a:solidFill>
                  <a:srgbClr val="000000"/>
                </a:solidFill>
                <a:latin typeface="Arial"/>
              </a:rPr>
              <a:t>3. Complete SOC2 Type II audit — remediate 4 remaining findings by Jul 31 (Owner: CISO)</a:t>
            </a:r>
            <a:endParaRPr lang="en-US" dirty="0"/>
          </a:p>
          <a:p>
            <a:pPr lvl="0">
              <a:lnSpc>
                <a:spcPts val="949"/>
              </a:lnSpc>
              <a:spcBef>
                <a:spcPts val="400"/>
              </a:spcBef>
              <a:buChar char="•"/>
            </a:pPr>
            <a:r>
              <a:rPr lang="en-US" sz="825" dirty="0">
                <a:solidFill>
                  <a:srgbClr val="000000"/>
                </a:solidFill>
                <a:latin typeface="Arial"/>
              </a:rPr>
              <a:t>4. Ship enterprise analytics module — advanced reporting GA by Sep 1 (Owner: VP Product)</a:t>
            </a:r>
            <a:endParaRPr lang="en-US" dirty="0"/>
          </a:p>
          <a:p>
            <a:pPr lvl="0">
              <a:lnSpc>
                <a:spcPts val="949"/>
              </a:lnSpc>
              <a:spcBef>
                <a:spcPts val="400"/>
              </a:spcBef>
              <a:buChar char="•"/>
            </a:pPr>
            <a:r>
              <a:rPr lang="en-US" sz="825" dirty="0">
                <a:solidFill>
                  <a:srgbClr val="000000"/>
                </a:solidFill>
                <a:latin typeface="Arial"/>
              </a:rPr>
              <a:t>5. Prepare Series C materials — data room, banker selection, preliminary deck (Owner: CEO / CFO)</a:t>
            </a:r>
            <a:endParaRPr lang="en-US" dirty="0"/>
          </a:p>
          <a:p>
            <a:pPr lvl="0">
              <a:lnSpc>
                <a:spcPts val="949"/>
              </a:lnSpc>
              <a:spcBef>
                <a:spcPts val="400"/>
              </a:spcBef>
              <a:buChar char="•"/>
            </a:pPr>
            <a:r>
              <a:rPr lang="en-US" sz="825" dirty="0">
                <a:solidFill>
                  <a:srgbClr val="000000"/>
                </a:solidFill>
                <a:latin typeface="Arial"/>
              </a:rPr>
              <a:t>6. Launch APAC pilot — 2 lighthouse customers in Singapore by Sep 30 (Owner: VP International)</a:t>
            </a:r>
            <a:endParaRPr lang="en-US" dirty="0"/>
          </a:p>
          <a:p>
            <a:pPr lvl="0">
              <a:lnSpc>
                <a:spcPts val="949"/>
              </a:lnSpc>
              <a:spcBef>
                <a:spcPts val="400"/>
              </a:spcBef>
              <a:buChar char="•"/>
            </a:pPr>
            <a:r>
              <a:rPr lang="en-US" sz="825" dirty="0">
                <a:solidFill>
                  <a:srgbClr val="000000"/>
                </a:solidFill>
                <a:latin typeface="Arial"/>
              </a:rPr>
              <a:t>7. Achieve EBITDA breakeven on monthly basis — target Aug (Owner: CFO)</a:t>
            </a:r>
            <a:endParaRPr lang="en-US" dirty="0"/>
          </a:p>
          <a:p>
            <a:pPr lvl="0">
              <a:lnSpc>
                <a:spcPts val="949"/>
              </a:lnSpc>
              <a:spcBef>
                <a:spcPts val="400"/>
              </a:spcBef>
              <a:buChar char="•"/>
            </a:pPr>
            <a:r>
              <a:rPr lang="en-US" sz="825" dirty="0">
                <a:solidFill>
                  <a:srgbClr val="000000"/>
                </a:solidFill>
                <a:latin typeface="Arial"/>
              </a:rPr>
              <a:t>8. Reduce AI inference costs 30% — caching layer + model distillation (Owner: VP Eng)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10 action items from this QBR — owners and dates confirmed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285750" y="714375"/>
          <a:ext cx="6286500" cy="1"/>
        </p:xfrm>
        <a:graphic>
          <a:graphicData uri="http://schemas.openxmlformats.org/drawingml/2006/table">
            <a:tbl>
              <a:tblPr firstRow="0" bandRow="1"/>
              <a:tblGrid>
                <a:gridCol w="285750"/>
                <a:gridCol w="2857500"/>
                <a:gridCol w="1333500"/>
                <a:gridCol w="952500"/>
                <a:gridCol w="85725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Action Item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Due Date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1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Adjust AE compensation to 75th percentile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VP Sales / CFO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2026-07-15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Not Started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Launch ABM program for top 50 accounts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VP Marketing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2026-07-22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In Progress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3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Remediate SOC2 findings (4 items)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CISO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2026-07-31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In Progress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4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Ship enterprise analytics module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VP Product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2026-09-01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In Progress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Hire 2 strategic CSMs for enterprise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VP CS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2026-08-15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Not Started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6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Prepare Series C data room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CFO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2026-08-31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Not Started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7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Select investment bankers (shortlist 3)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CEO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2026-07-31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In Progress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Launch Singapore pilot program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VP International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2026-09-30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Planning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9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Deploy AI inference caching layer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VP Eng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2026-08-15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In Progress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10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Conduct competitive pricing analysis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Product Strategy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2026-07-31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Not Started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Appendix: Quarterly financial detail ($000s)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285750" y="714375"/>
          <a:ext cx="6381750" cy="1"/>
        </p:xfrm>
        <a:graphic>
          <a:graphicData uri="http://schemas.openxmlformats.org/drawingml/2006/table">
            <a:tbl>
              <a:tblPr firstRow="0" bandRow="1"/>
              <a:tblGrid>
                <a:gridCol w="1428750"/>
                <a:gridCol w="904875"/>
                <a:gridCol w="904875"/>
                <a:gridCol w="904875"/>
                <a:gridCol w="714375"/>
                <a:gridCol w="619125"/>
                <a:gridCol w="904875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Line Item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Q1'26 Actual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Q2'26 Actual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Q2'26 Budget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Var $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Var %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H1 Total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Subscription Revenue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12,600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13,500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12,800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+700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+5%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26,100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Services Revenue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1,200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1,300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1,000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+300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+30%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2,500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Total Revenue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13,800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14,800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13,800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+1,000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+7%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28,600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COGS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2,900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3,100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3,000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-100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-3%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6,000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Gross Profit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10,900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11,700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10,800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+900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+8%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22,600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GM%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79%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79%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78%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+1pp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79%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S&amp;M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4,000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4,300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4,500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+200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+4%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8,300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R&amp;D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3,300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3,500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3,600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+100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+3%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6,800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G&amp;A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1,100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1,200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1,200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2,300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EBITDA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2,500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2,700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1,500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+1,200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+80%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5,200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EBITDA%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18%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18%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11%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+7pp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18%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381000" y="4953000"/>
            <a:ext cx="119062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Internal finance, unaudited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unchMatrix">
  <a:themeElements>
    <a:clrScheme name="LaunchMatrix">
      <a:dk1>
        <a:srgbClr val="1B1B3A"/>
      </a:dk1>
      <a:lt1>
        <a:srgbClr val="FFFFFF"/>
      </a:lt1>
      <a:dk2>
        <a:srgbClr val="2D2D5E"/>
      </a:dk2>
      <a:lt2>
        <a:srgbClr val="F5F5F5"/>
      </a:lt2>
      <a:accent1>
        <a:srgbClr val="003DA5"/>
      </a:accent1>
      <a:accent2>
        <a:srgbClr val="0070C0"/>
      </a:accent2>
      <a:accent3>
        <a:srgbClr val="00B050"/>
      </a:accent3>
      <a:accent4>
        <a:srgbClr val="FFC000"/>
      </a:accent4>
      <a:accent5>
        <a:srgbClr val="FF6600"/>
      </a:accent5>
      <a:accent6>
        <a:srgbClr val="C000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Deva" typeface="Mangal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Deva" typeface="Mang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PaperJSX</Application>
  <PresentationFormat>On-screen Show (16:9)</PresentationFormat>
  <Slides>16</Slides>
  <HiddenSlides>0</HiddenSlide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Calibri</vt:lpstr>
      <vt:lpstr>Calibri Light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Q2 2026 Quarterly Business Review</dc:title>
  <dc:creator>PaperJSX</dc:creator>
  <cp:lastModifiedBy>PaperJSX</cp:lastModifiedBy>
  <cp:revision>1</cp:revision>
  <dcterms:created xsi:type="dcterms:W3CDTF">2026-03-08T10:06:14Z</dcterms:created>
  <dcterms:modified xsi:type="dcterms:W3CDTF">2026-03-08T10:06:14Z</dcterms:modified>
</cp:coreProperties>
</file>