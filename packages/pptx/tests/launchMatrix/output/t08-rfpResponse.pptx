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51435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presProps" Target="presProps.xml"/>
  <Relationship Id="rId26" Type="http://schemas.openxmlformats.org/officeDocument/2006/relationships/viewProps" Target="viewProps.xml"/>
  <Relationship Id="rId27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2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png"/>
  <Relationship Id="rId4" Type="http://schemas.openxmlformats.org/officeDocument/2006/relationships/image" Target="../media/image2.png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png"/>
  <Relationship Id="rId4" Type="http://schemas.openxmlformats.org/officeDocument/2006/relationships/image" Target="../media/image2.png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F172A"/>
            </a:gs>
            <a:gs pos="100000">
              <a:srgbClr val="1E1B4B"/>
            </a:gs>
          </a:gsLst>
          <a:lin ang="4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pic>
        <p:nvPicPr>
          <p:cNvPr id="3" name="Image 3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381000"/>
            <a:ext cx="1143000" cy="3810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pic>
        <p:nvPicPr>
          <p:cNvPr id="4" name="Image 4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0" y="381000"/>
            <a:ext cx="1143000" cy="3810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5" name="Text 5"/>
          <p:cNvSpPr txBox="1"/>
          <p:nvPr/>
        </p:nvSpPr>
        <p:spPr>
          <a:xfrm>
            <a:off x="571500" y="1524000"/>
            <a:ext cx="80010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FFFFFF"/>
                </a:solidFill>
                <a:latin typeface="Arial"/>
              </a:rPr>
              <a:t>GlobalCorp — Response to RFP #2026-0142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71500" y="2095500"/>
            <a:ext cx="66675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dirty="0">
                <a:solidFill>
                  <a:srgbClr val="94A3B8"/>
                </a:solidFill>
                <a:latin typeface="Arial"/>
              </a:rPr>
              <a:t>Enterprise Data Platform • Submitted March 2026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71500" y="4572000"/>
            <a:ext cx="638175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b="1" dirty="0">
                <a:solidFill>
                  <a:srgbClr val="94A3B8"/>
                </a:solidFill>
                <a:latin typeface="Arial"/>
              </a:rPr>
              <a:t>CONFIDENTIAL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We uniquely address GlobalCorp's need for a unified, compliant data platform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762000"/>
            <a:ext cx="8382000" cy="857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33400" y="914400"/>
            <a:ext cx="80772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The Challenge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33400" y="1104900"/>
            <a:ext cx="8077200" cy="152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GlobalCorp's data infrastructure spans 14 legacy systems across 3 regions, creating data silos, compliance risk, and $4.2M in annual reconciliation costs.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381000" y="1762125"/>
            <a:ext cx="8382000" cy="857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533400" y="1914525"/>
            <a:ext cx="80772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Our Solution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533400" y="2105025"/>
            <a:ext cx="8077200" cy="152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A cloud-native, API-first platform that consolidates data workflows with built-in compliance (SOC 2, GDPR, HIPAA), reducing time-to-insight from days to minutes.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381000" y="2762250"/>
            <a:ext cx="257175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533400" y="2914650"/>
            <a:ext cx="22669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0B050"/>
                </a:solidFill>
                <a:latin typeface="Arial"/>
              </a:rPr>
              <a:t>1. Compliance-First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33400" y="3076575"/>
            <a:ext cx="2266950" cy="2095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SOC 2 Type II, GDPR, HIPAA certified — no add-ons required</a:t>
            </a:r>
            <a:endParaRPr lang="en-US" dirty="0"/>
          </a:p>
        </p:txBody>
      </p:sp>
      <p:sp>
        <p:nvSpPr>
          <p:cNvPr id="13" name="View 13"/>
          <p:cNvSpPr/>
          <p:nvPr/>
        </p:nvSpPr>
        <p:spPr>
          <a:xfrm>
            <a:off x="3238500" y="2762250"/>
            <a:ext cx="257175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3390900" y="2914650"/>
            <a:ext cx="22669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0B050"/>
                </a:solidFill>
                <a:latin typeface="Arial"/>
              </a:rPr>
              <a:t>2. Fastest Time-to-Value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3390900" y="3076575"/>
            <a:ext cx="22669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12-week implementation vs. industry avg of 24 weeks</a:t>
            </a:r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6096000" y="2762250"/>
            <a:ext cx="257175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6248400" y="2914650"/>
            <a:ext cx="22669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0B050"/>
                </a:solidFill>
                <a:latin typeface="Arial"/>
              </a:rPr>
              <a:t>3. Total Cost Advantage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6248400" y="3076575"/>
            <a:ext cx="22669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38% lower 3-year TCO through platform consolidation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We have mapped each requirement to proven capabilities in our platform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762000"/>
            <a:ext cx="3905250" cy="2095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33400" y="914400"/>
            <a:ext cx="36004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Data Integration (RFP §3.1)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33400" y="1104900"/>
            <a:ext cx="3600450" cy="447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Native connectors for SAP, Oracle, Salesforce, and 200+ sources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Real-time CDC (Change Data Capture) with sub-second latency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Schema evolution support with automatic migration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Bi-directional sync for hybrid cloud environments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4667250" y="762000"/>
            <a:ext cx="3905250" cy="2095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4819650" y="914400"/>
            <a:ext cx="36004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Security &amp; Compliance (RFP §3.2)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4819650" y="1104900"/>
            <a:ext cx="3600450" cy="447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AES-256 encryption at rest, TLS 1.3 in transit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Role-based + attribute-based access control (RBAC + ABAC)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Immutable audit trail with 7-year retention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Annual SOC 2 Type II audit by Deloitte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381000" y="3048000"/>
            <a:ext cx="3905250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533400" y="3200400"/>
            <a:ext cx="36004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Scalability (RFP §3.3)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33400" y="3390900"/>
            <a:ext cx="3600450" cy="3429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Horizontal auto-scaling to 10M events/sec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Multi-region deployment (US, EU, APAC)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99.99% uptime SLA with automated failover</a:t>
            </a:r>
            <a:endParaRPr lang="en-US" dirty="0"/>
          </a:p>
        </p:txBody>
      </p:sp>
      <p:sp>
        <p:nvSpPr>
          <p:cNvPr id="13" name="View 13"/>
          <p:cNvSpPr/>
          <p:nvPr/>
        </p:nvSpPr>
        <p:spPr>
          <a:xfrm>
            <a:off x="4667250" y="3048000"/>
            <a:ext cx="3905250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4819650" y="3200400"/>
            <a:ext cx="36004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Analytics &amp; Reporting (RFP §3.4)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4819650" y="3390900"/>
            <a:ext cx="3600450" cy="3429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Drag-and-drop report builder with 50+ templates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Scheduled and ad-hoc report distribution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Embedded analytics with white-label support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Additional requirement areas demonstrate depth of platform capability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762000"/>
            <a:ext cx="3905250" cy="1905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33400" y="914400"/>
            <a:ext cx="36004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User Experience (RFP §3.5)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33400" y="1104900"/>
            <a:ext cx="3600450" cy="447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Modern web interface with responsive design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Native mobile apps (iOS &amp; Android)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Accessibility WCAG 2.1 AA compliance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Single sign-on with all major identity providers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4667250" y="762000"/>
            <a:ext cx="3905250" cy="1905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4819650" y="914400"/>
            <a:ext cx="36004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Support &amp; SLA (RFP §3.6)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4819650" y="1104900"/>
            <a:ext cx="3600450" cy="447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24/7 support with 15-min P1 response time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Dedicated customer success manager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Quarterly business reviews with executive sponsor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99.9% uptime guarantee with financial credits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381000" y="2857500"/>
            <a:ext cx="8382000" cy="1333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533400" y="3009900"/>
            <a:ext cx="80772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Migration &amp; Integration (RFP §3.7)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33400" y="3200400"/>
            <a:ext cx="8077200" cy="3429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Proven migration playbook for SAP and Oracle environments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Zero-downtime cutover methodology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REST, GraphQL, and SOAP API support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11 of 15 requirements fully met; 3 partial with clear roadmap to full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90500" y="666750"/>
          <a:ext cx="8763000" cy="1"/>
        </p:xfrm>
        <a:graphic>
          <a:graphicData uri="http://schemas.openxmlformats.org/drawingml/2006/table">
            <a:tbl>
              <a:tblPr firstRow="0" bandRow="0"/>
              <a:tblGrid>
                <a:gridCol w="2095500"/>
                <a:gridCol w="571500"/>
                <a:gridCol w="3048000"/>
                <a:gridCol w="3048000"/>
              </a:tblGrid>
              <a:tr h="247650">
                <a:tc>
                  <a:txBody>
                    <a:bodyPr rtlCol="0" lIns="0" tIns="0" rIns="0" bIns="0"/>
                    <a:lstStyle/>
                    <a:p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dirty="0"/>
                    </a:p>
                  </a:txBody>
                  <a:tcPr marL="57150" marR="57150" marT="57150" marB="57150"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dirty="0"/>
                    </a:p>
                  </a:txBody>
                  <a:tcPr marL="57150" marR="57150" marT="57150" marB="57150"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dirty="0"/>
                    </a:p>
                  </a:txBody>
                  <a:tcPr marL="57150" marR="57150" marT="57150" marB="57150"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Evidence</a:t>
                      </a:r>
                      <a:endParaRPr lang="en-US" dirty="0"/>
                    </a:p>
                  </a:txBody>
                  <a:tcPr marL="57150" marR="57150" marT="57150" marB="57150">
                    <a:solidFill>
                      <a:srgbClr val="0F2540"/>
                    </a:solidFill>
                  </a:tcPr>
                </a:tc>
              </a:tr>
              <a:tr h="209550">
                <a:tc gridSpan="4">
                  <a:txBody>
                    <a:bodyPr rtlCol="0" lIns="0" tIns="0" rIns="0" bIns="0"/>
                    <a:lstStyle/>
                    <a:p>
                      <a:r>
                        <a:rPr lang="en-US" sz="750" b="1" dirty="0">
                          <a:solidFill>
                            <a:srgbClr val="0F2540"/>
                          </a:solidFill>
                        </a:rPr>
                        <a:t>SECURITY &amp; COMPLIANCE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E2E8F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</a:tr>
              <a:tr h="190500"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SSO / SAML 2.0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Native SAML 2.0 + OIDC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IdP integration guide v4.2</a:t>
                      </a:r>
                      <a:endParaRPr lang="en-US" dirty="0"/>
                    </a:p>
                  </a:txBody>
                  <a:tcPr marL="38100" marR="38100" marT="38100" marB="38100"/>
                </a:tc>
              </a:tr>
              <a:tr h="190500"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RBAC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Granular roles + custom permissions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Security whitepaper §3</a:t>
                      </a:r>
                      <a:endParaRPr lang="en-US" dirty="0"/>
                    </a:p>
                  </a:txBody>
                  <a:tcPr marL="38100" marR="38100" marT="38100" marB="38100"/>
                </a:tc>
              </a:tr>
              <a:tr h="190500"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Encryption at Rest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AES-256 with KMS integration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SOC 2 report, Control CC6.1</a:t>
                      </a:r>
                      <a:endParaRPr lang="en-US" dirty="0"/>
                    </a:p>
                  </a:txBody>
                  <a:tcPr marL="38100" marR="38100" marT="38100" marB="38100"/>
                </a:tc>
              </a:tr>
              <a:tr h="190500"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Encryption in Transit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TLS 1.3 enforced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Penetration test report 2025</a:t>
                      </a:r>
                      <a:endParaRPr lang="en-US" dirty="0"/>
                    </a:p>
                  </a:txBody>
                  <a:tcPr marL="38100" marR="38100" marT="38100" marB="38100"/>
                </a:tc>
              </a:tr>
              <a:tr h="190500"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SOC 2 Type II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Annual audit by Deloitte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Latest report available under NDA</a:t>
                      </a:r>
                      <a:endParaRPr lang="en-US" dirty="0"/>
                    </a:p>
                  </a:txBody>
                  <a:tcPr marL="38100" marR="38100" marT="38100" marB="38100"/>
                </a:tc>
              </a:tr>
              <a:tr h="209550">
                <a:tc gridSpan="4">
                  <a:txBody>
                    <a:bodyPr rtlCol="0" lIns="0" tIns="0" rIns="0" bIns="0"/>
                    <a:lstStyle/>
                    <a:p>
                      <a:r>
                        <a:rPr lang="en-US" sz="750" b="1" dirty="0">
                          <a:solidFill>
                            <a:srgbClr val="0F2540"/>
                          </a:solidFill>
                        </a:rPr>
                        <a:t>DATA MANAGEMENT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E2E8F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</a:tr>
              <a:tr h="190500"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GDPR Compliance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Full compliance with DPA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DPA template, EU processing records</a:t>
                      </a:r>
                      <a:endParaRPr lang="en-US" dirty="0"/>
                    </a:p>
                  </a:txBody>
                  <a:tcPr marL="38100" marR="38100" marT="38100" marB="38100"/>
                </a:tc>
              </a:tr>
              <a:tr h="190500"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HIPAA Compliance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BAA available, PHI controls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BAA template, HIPAA assessment</a:t>
                      </a:r>
                      <a:endParaRPr lang="en-US" dirty="0"/>
                    </a:p>
                  </a:txBody>
                  <a:tcPr marL="38100" marR="38100" marT="38100" marB="38100"/>
                </a:tc>
              </a:tr>
              <a:tr h="190500"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Data Residency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FFC000"/>
                          </a:solidFill>
                        </a:rPr>
                        <a:t>◐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US-East, EU-West live; APAC Q3'26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Infrastructure architecture doc</a:t>
                      </a:r>
                      <a:endParaRPr lang="en-US" dirty="0"/>
                    </a:p>
                  </a:txBody>
                  <a:tcPr marL="38100" marR="38100" marT="38100" marB="38100"/>
                </a:tc>
              </a:tr>
              <a:tr h="190500"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Audit Logging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Immutable trail, 7yr retention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Audit module documentation</a:t>
                      </a:r>
                      <a:endParaRPr lang="en-US" dirty="0"/>
                    </a:p>
                  </a:txBody>
                  <a:tcPr marL="38100" marR="38100" marT="38100" marB="38100"/>
                </a:tc>
              </a:tr>
              <a:tr h="190500"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Disaster Recovery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FFC000"/>
                          </a:solidFill>
                        </a:rPr>
                        <a:t>◐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RPO &lt;1hr, RTO &lt;4hr; improving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DR runbook, annual DR test results</a:t>
                      </a:r>
                      <a:endParaRPr lang="en-US" dirty="0"/>
                    </a:p>
                  </a:txBody>
                  <a:tcPr marL="38100" marR="38100" marT="38100" marB="38100"/>
                </a:tc>
              </a:tr>
              <a:tr h="209550">
                <a:tc gridSpan="4">
                  <a:txBody>
                    <a:bodyPr rtlCol="0" lIns="0" tIns="0" rIns="0" bIns="0"/>
                    <a:lstStyle/>
                    <a:p>
                      <a:r>
                        <a:rPr lang="en-US" sz="750" b="1" dirty="0">
                          <a:solidFill>
                            <a:srgbClr val="0F2540"/>
                          </a:solidFill>
                        </a:rPr>
                        <a:t>PLATFORM &amp; INTEGRATION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E2E8F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</a:tr>
              <a:tr h="190500"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Custom Reporting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Drag-and-drop builder, 50+ templates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Product demo recording</a:t>
                      </a:r>
                      <a:endParaRPr lang="en-US" dirty="0"/>
                    </a:p>
                  </a:txBody>
                  <a:tcPr marL="38100" marR="38100" marT="38100" marB="38100"/>
                </a:tc>
              </a:tr>
              <a:tr h="190500"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API Rate Limiting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FFC000"/>
                          </a:solidFill>
                        </a:rPr>
                        <a:t>◐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Configurable limits; burst in dev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API docs §7 Rate Limits</a:t>
                      </a:r>
                      <a:endParaRPr lang="en-US" dirty="0"/>
                    </a:p>
                  </a:txBody>
                  <a:tcPr marL="38100" marR="38100" marT="38100" marB="38100"/>
                </a:tc>
              </a:tr>
              <a:tr h="190500"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Legacy Integration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FFC000"/>
                          </a:solidFill>
                        </a:rPr>
                        <a:t>◐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REST + SOAP; mainframe beta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Integration cookbook v2.1</a:t>
                      </a:r>
                      <a:endParaRPr lang="en-US" dirty="0"/>
                    </a:p>
                  </a:txBody>
                  <a:tcPr marL="38100" marR="38100" marT="38100" marB="38100"/>
                </a:tc>
              </a:tr>
              <a:tr h="190500"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On-Premise Option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Cloud-only; VPC peering available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Network architecture diagram</a:t>
                      </a:r>
                      <a:endParaRPr lang="en-US" dirty="0"/>
                    </a:p>
                  </a:txBody>
                  <a:tcPr marL="38100" marR="38100" marT="38100" marB="38100"/>
                </a:tc>
              </a:tr>
              <a:tr h="190500"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24/7 Support SLA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15-min P1 response time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SLA agreement template</a:t>
                      </a:r>
                      <a:endParaRPr lang="en-US" dirty="0"/>
                    </a:p>
                  </a:txBody>
                  <a:tcPr marL="38100" marR="38100" marT="38100" marB="38100"/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20764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Requirements matrix mapped to RFP #2026-0142 §3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Platform architecture delivers security, scalability, and extensibility by design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762000"/>
            <a:ext cx="1333500" cy="571500"/>
          </a:xfrm>
          <a:prstGeom prst="roundRect">
            <a:avLst/>
          </a:prstGeom>
          <a:solidFill>
            <a:srgbClr val="2D5F8A"/>
          </a:solidFill>
          <a:ln w="9525">
            <a:solidFill>
              <a:srgbClr val="2D5F8A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457200" y="838200"/>
            <a:ext cx="11811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SAP ERP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1905000" y="762000"/>
            <a:ext cx="1333500" cy="571500"/>
          </a:xfrm>
          <a:prstGeom prst="roundRect">
            <a:avLst/>
          </a:prstGeom>
          <a:solidFill>
            <a:srgbClr val="2D5F8A"/>
          </a:solidFill>
          <a:ln w="9525">
            <a:solidFill>
              <a:srgbClr val="2D5F8A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981200" y="838200"/>
            <a:ext cx="11811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Oracle DB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3429000" y="762000"/>
            <a:ext cx="1333500" cy="571500"/>
          </a:xfrm>
          <a:prstGeom prst="roundRect">
            <a:avLst/>
          </a:prstGeom>
          <a:solidFill>
            <a:srgbClr val="2D5F8A"/>
          </a:solidFill>
          <a:ln w="9525">
            <a:solidFill>
              <a:srgbClr val="2D5F8A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505200" y="838200"/>
            <a:ext cx="11811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Salesforce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4953000" y="762000"/>
            <a:ext cx="1333500" cy="571500"/>
          </a:xfrm>
          <a:prstGeom prst="roundRect">
            <a:avLst/>
          </a:prstGeom>
          <a:solidFill>
            <a:srgbClr val="2D5F8A"/>
          </a:solidFill>
          <a:ln w="9525">
            <a:solidFill>
              <a:srgbClr val="2D5F8A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5029200" y="838200"/>
            <a:ext cx="11811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Legacy APIs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1905000" y="1714500"/>
            <a:ext cx="2857500" cy="476250"/>
          </a:xfrm>
          <a:prstGeom prst="roundRect">
            <a:avLst/>
          </a:prstGeom>
          <a:solidFill>
            <a:srgbClr val="003DA5"/>
          </a:solidFill>
          <a:ln w="9525">
            <a:solidFill>
              <a:srgbClr val="003DA5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1981200" y="1790700"/>
            <a:ext cx="27051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Integration Hub</a:t>
            </a:r>
            <a:endParaRPr lang="en-US" dirty="0"/>
          </a:p>
        </p:txBody>
      </p:sp>
      <p:sp>
        <p:nvSpPr>
          <p:cNvPr id="14" name="View 14"/>
          <p:cNvSpPr/>
          <p:nvPr/>
        </p:nvSpPr>
        <p:spPr>
          <a:xfrm>
            <a:off x="762000" y="2571750"/>
            <a:ext cx="1524000" cy="571500"/>
          </a:xfrm>
          <a:prstGeom prst="roundRect">
            <a:avLst/>
          </a:prstGeom>
          <a:solidFill>
            <a:srgbClr val="0F2540"/>
          </a:solidFill>
          <a:ln w="9525">
            <a:solidFill>
              <a:srgbClr val="0F254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838200" y="2647950"/>
            <a:ext cx="13716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Data Engine</a:t>
            </a:r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2667000" y="2571750"/>
            <a:ext cx="1524000" cy="571500"/>
          </a:xfrm>
          <a:prstGeom prst="roundRect">
            <a:avLst/>
          </a:prstGeom>
          <a:solidFill>
            <a:srgbClr val="0F2540"/>
          </a:solidFill>
          <a:ln w="9525">
            <a:solidFill>
              <a:srgbClr val="0F254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2743200" y="2647950"/>
            <a:ext cx="13716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Analytics Core</a:t>
            </a:r>
            <a:endParaRPr lang="en-US" dirty="0"/>
          </a:p>
        </p:txBody>
      </p:sp>
      <p:sp>
        <p:nvSpPr>
          <p:cNvPr id="18" name="View 18"/>
          <p:cNvSpPr/>
          <p:nvPr/>
        </p:nvSpPr>
        <p:spPr>
          <a:xfrm>
            <a:off x="4572000" y="2571750"/>
            <a:ext cx="1524000" cy="571500"/>
          </a:xfrm>
          <a:prstGeom prst="roundRect">
            <a:avLst/>
          </a:prstGeom>
          <a:solidFill>
            <a:srgbClr val="1B5E20"/>
          </a:solidFill>
          <a:ln w="9525">
            <a:solidFill>
              <a:srgbClr val="1B5E2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4648200" y="2647950"/>
            <a:ext cx="13716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Security Layer</a:t>
            </a:r>
            <a:endParaRPr lang="en-US" dirty="0"/>
          </a:p>
        </p:txBody>
      </p:sp>
      <p:sp>
        <p:nvSpPr>
          <p:cNvPr id="20" name="View 20"/>
          <p:cNvSpPr/>
          <p:nvPr/>
        </p:nvSpPr>
        <p:spPr>
          <a:xfrm>
            <a:off x="1143000" y="3524250"/>
            <a:ext cx="1333500" cy="571500"/>
          </a:xfrm>
          <a:prstGeom prst="roundRect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1219200" y="3600450"/>
            <a:ext cx="11811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Dashboards</a:t>
            </a:r>
            <a:endParaRPr lang="en-US" dirty="0"/>
          </a:p>
        </p:txBody>
      </p:sp>
      <p:sp>
        <p:nvSpPr>
          <p:cNvPr id="22" name="View 22"/>
          <p:cNvSpPr/>
          <p:nvPr/>
        </p:nvSpPr>
        <p:spPr>
          <a:xfrm>
            <a:off x="2857500" y="3524250"/>
            <a:ext cx="1333500" cy="571500"/>
          </a:xfrm>
          <a:prstGeom prst="roundRect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2933700" y="3600450"/>
            <a:ext cx="11811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Reports</a:t>
            </a:r>
            <a:endParaRPr lang="en-US" dirty="0"/>
          </a:p>
        </p:txBody>
      </p:sp>
      <p:sp>
        <p:nvSpPr>
          <p:cNvPr id="24" name="View 24"/>
          <p:cNvSpPr/>
          <p:nvPr/>
        </p:nvSpPr>
        <p:spPr>
          <a:xfrm>
            <a:off x="4572000" y="3524250"/>
            <a:ext cx="1333500" cy="571500"/>
          </a:xfrm>
          <a:prstGeom prst="roundRect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4648200" y="3600450"/>
            <a:ext cx="11811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API Gateway</a:t>
            </a:r>
            <a:endParaRPr lang="en-US" dirty="0"/>
          </a:p>
        </p:txBody>
      </p:sp>
      <p:cxnSp>
        <p:nvCxnSpPr>
          <p:cNvPr id="26" name="Connector 26"/>
          <p:cNvCxnSpPr/>
          <p:nvPr/>
        </p:nvCxnSpPr>
        <p:spPr>
          <a:xfrm>
            <a:off x="1047750" y="1333500"/>
            <a:ext cx="1809750" cy="381000"/>
          </a:xfrm>
          <a:prstGeom prst="line">
            <a:avLst/>
          </a:prstGeom>
          <a:ln w="9525">
            <a:solidFill>
              <a:srgbClr val="94A3B8"/>
            </a:solidFill>
            <a:tailEnd type="triangle"/>
          </a:ln>
        </p:spPr>
      </p:cxnSp>
      <p:cxnSp>
        <p:nvCxnSpPr>
          <p:cNvPr id="27" name="Connector 27"/>
          <p:cNvCxnSpPr/>
          <p:nvPr/>
        </p:nvCxnSpPr>
        <p:spPr>
          <a:xfrm>
            <a:off x="2571750" y="1333500"/>
            <a:ext cx="666750" cy="381000"/>
          </a:xfrm>
          <a:prstGeom prst="line">
            <a:avLst/>
          </a:prstGeom>
          <a:ln w="9525">
            <a:solidFill>
              <a:srgbClr val="94A3B8"/>
            </a:solidFill>
            <a:tailEnd type="triangle"/>
          </a:ln>
        </p:spPr>
      </p:cxnSp>
      <p:cxnSp>
        <p:nvCxnSpPr>
          <p:cNvPr id="28" name="Connector 28"/>
          <p:cNvCxnSpPr/>
          <p:nvPr/>
        </p:nvCxnSpPr>
        <p:spPr>
          <a:xfrm flipH="1">
            <a:off x="3619500" y="1333500"/>
            <a:ext cx="476250" cy="381000"/>
          </a:xfrm>
          <a:prstGeom prst="line">
            <a:avLst/>
          </a:prstGeom>
          <a:ln w="9525">
            <a:solidFill>
              <a:srgbClr val="94A3B8"/>
            </a:solidFill>
            <a:tailEnd type="triangle"/>
          </a:ln>
        </p:spPr>
      </p:cxnSp>
      <p:cxnSp>
        <p:nvCxnSpPr>
          <p:cNvPr id="29" name="Connector 29"/>
          <p:cNvCxnSpPr/>
          <p:nvPr/>
        </p:nvCxnSpPr>
        <p:spPr>
          <a:xfrm flipH="1">
            <a:off x="4000500" y="1333500"/>
            <a:ext cx="1619250" cy="381000"/>
          </a:xfrm>
          <a:prstGeom prst="line">
            <a:avLst/>
          </a:prstGeom>
          <a:ln w="9525">
            <a:solidFill>
              <a:srgbClr val="94A3B8"/>
            </a:solidFill>
            <a:tailEnd type="triangle"/>
          </a:ln>
        </p:spPr>
      </p:cxnSp>
      <p:cxnSp>
        <p:nvCxnSpPr>
          <p:cNvPr id="30" name="Connector 30"/>
          <p:cNvCxnSpPr/>
          <p:nvPr/>
        </p:nvCxnSpPr>
        <p:spPr>
          <a:xfrm flipH="1">
            <a:off x="1524000" y="2190750"/>
            <a:ext cx="1809750" cy="381000"/>
          </a:xfrm>
          <a:prstGeom prst="line">
            <a:avLst/>
          </a:prstGeom>
          <a:ln w="9525">
            <a:solidFill>
              <a:srgbClr val="94A3B8"/>
            </a:solidFill>
            <a:tailEnd type="triangle"/>
          </a:ln>
        </p:spPr>
      </p:cxnSp>
      <p:cxnSp>
        <p:nvCxnSpPr>
          <p:cNvPr id="31" name="Connector 31"/>
          <p:cNvCxnSpPr/>
          <p:nvPr/>
        </p:nvCxnSpPr>
        <p:spPr>
          <a:xfrm>
            <a:off x="3333750" y="2190750"/>
            <a:ext cx="95250" cy="381000"/>
          </a:xfrm>
          <a:prstGeom prst="line">
            <a:avLst/>
          </a:prstGeom>
          <a:ln w="9525">
            <a:solidFill>
              <a:srgbClr val="94A3B8"/>
            </a:solidFill>
            <a:tailEnd type="triangle"/>
          </a:ln>
        </p:spPr>
      </p:cxnSp>
      <p:cxnSp>
        <p:nvCxnSpPr>
          <p:cNvPr id="32" name="Connector 32"/>
          <p:cNvCxnSpPr/>
          <p:nvPr/>
        </p:nvCxnSpPr>
        <p:spPr>
          <a:xfrm>
            <a:off x="3333750" y="2190750"/>
            <a:ext cx="2000250" cy="381000"/>
          </a:xfrm>
          <a:prstGeom prst="line">
            <a:avLst/>
          </a:prstGeom>
          <a:ln w="9525">
            <a:solidFill>
              <a:srgbClr val="94A3B8"/>
            </a:solidFill>
            <a:tailEnd type="triangle"/>
          </a:ln>
        </p:spPr>
      </p:cxnSp>
      <p:cxnSp>
        <p:nvCxnSpPr>
          <p:cNvPr id="33" name="Connector 33"/>
          <p:cNvCxnSpPr/>
          <p:nvPr/>
        </p:nvCxnSpPr>
        <p:spPr>
          <a:xfrm>
            <a:off x="1524000" y="3143250"/>
            <a:ext cx="285750" cy="381000"/>
          </a:xfrm>
          <a:prstGeom prst="line">
            <a:avLst/>
          </a:prstGeom>
          <a:ln w="9525">
            <a:solidFill>
              <a:srgbClr val="94A3B8"/>
            </a:solidFill>
            <a:tailEnd type="triangle"/>
          </a:ln>
        </p:spPr>
      </p:cxnSp>
      <p:cxnSp>
        <p:nvCxnSpPr>
          <p:cNvPr id="34" name="Connector 34"/>
          <p:cNvCxnSpPr/>
          <p:nvPr/>
        </p:nvCxnSpPr>
        <p:spPr>
          <a:xfrm>
            <a:off x="3429000" y="3143250"/>
            <a:ext cx="95250" cy="381000"/>
          </a:xfrm>
          <a:prstGeom prst="line">
            <a:avLst/>
          </a:prstGeom>
          <a:ln w="9525">
            <a:solidFill>
              <a:srgbClr val="94A3B8"/>
            </a:solidFill>
            <a:tailEnd type="triangle"/>
          </a:ln>
        </p:spPr>
      </p:cxnSp>
      <p:cxnSp>
        <p:nvCxnSpPr>
          <p:cNvPr id="35" name="Connector 35"/>
          <p:cNvCxnSpPr/>
          <p:nvPr/>
        </p:nvCxnSpPr>
        <p:spPr>
          <a:xfrm flipH="1">
            <a:off x="5238750" y="3143250"/>
            <a:ext cx="95250" cy="381000"/>
          </a:xfrm>
          <a:prstGeom prst="line">
            <a:avLst/>
          </a:prstGeom>
          <a:ln w="9525">
            <a:solidFill>
              <a:srgbClr val="94A3B8"/>
            </a:solidFill>
            <a:tailEnd type="triangle"/>
          </a:ln>
        </p:spPr>
      </p:cxnSp>
      <p:sp>
        <p:nvSpPr>
          <p:cNvPr id="36" name="Text 36"/>
          <p:cNvSpPr txBox="1"/>
          <p:nvPr/>
        </p:nvSpPr>
        <p:spPr>
          <a:xfrm>
            <a:off x="381000" y="4953000"/>
            <a:ext cx="18573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Solution Architecture — Technical Proposal §4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Infrastructure design ensures 99.99% availability across regions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762000"/>
            <a:ext cx="2571750" cy="1905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33400" y="914400"/>
            <a:ext cx="22669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F2540"/>
                </a:solidFill>
                <a:latin typeface="Arial"/>
              </a:rPr>
              <a:t>US-East (Primary)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33400" y="1095375"/>
            <a:ext cx="2266950" cy="4095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776"/>
              </a:lnSpc>
              <a:spcBef>
                <a:spcPts val="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3 availability zones</a:t>
            </a:r>
            <a:endParaRPr lang="en-US" dirty="0"/>
          </a:p>
          <a:p>
            <a:pPr lvl="0"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Active-active configuration</a:t>
            </a:r>
            <a:endParaRPr lang="en-US" dirty="0"/>
          </a:p>
          <a:p>
            <a:pPr lvl="0"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Auto-scaling 2-100 nodes</a:t>
            </a:r>
            <a:endParaRPr lang="en-US" dirty="0"/>
          </a:p>
          <a:p>
            <a:pPr lvl="0"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RPO: &lt;1 minute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3238500" y="762000"/>
            <a:ext cx="2571750" cy="1905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3390900" y="914400"/>
            <a:ext cx="22669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F2540"/>
                </a:solidFill>
                <a:latin typeface="Arial"/>
              </a:rPr>
              <a:t>EU-West (Secondary)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390900" y="1095375"/>
            <a:ext cx="2266950" cy="4095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776"/>
              </a:lnSpc>
              <a:spcBef>
                <a:spcPts val="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2 availability zones</a:t>
            </a:r>
            <a:endParaRPr lang="en-US" dirty="0"/>
          </a:p>
          <a:p>
            <a:pPr lvl="0"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Active-standby configuration</a:t>
            </a:r>
            <a:endParaRPr lang="en-US" dirty="0"/>
          </a:p>
          <a:p>
            <a:pPr lvl="0"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GDPR data residency compliant</a:t>
            </a:r>
            <a:endParaRPr lang="en-US" dirty="0"/>
          </a:p>
          <a:p>
            <a:pPr lvl="0"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RPO: &lt;5 minutes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6096000" y="762000"/>
            <a:ext cx="2571750" cy="1905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6248400" y="914400"/>
            <a:ext cx="22669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F2540"/>
                </a:solidFill>
                <a:latin typeface="Arial"/>
              </a:rPr>
              <a:t>APAC (Planned Q3'26)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6248400" y="1095375"/>
            <a:ext cx="2266950" cy="4095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776"/>
              </a:lnSpc>
              <a:spcBef>
                <a:spcPts val="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Singapore + Tokyo regions</a:t>
            </a:r>
            <a:endParaRPr lang="en-US" dirty="0"/>
          </a:p>
          <a:p>
            <a:pPr lvl="0"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Active-standby configuration</a:t>
            </a:r>
            <a:endParaRPr lang="en-US" dirty="0"/>
          </a:p>
          <a:p>
            <a:pPr lvl="0"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Local data residency</a:t>
            </a:r>
            <a:endParaRPr lang="en-US" dirty="0"/>
          </a:p>
          <a:p>
            <a:pPr lvl="0"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RPO: &lt;15 minutes</a:t>
            </a:r>
            <a:endParaRPr lang="en-US" dirty="0"/>
          </a:p>
        </p:txBody>
      </p:sp>
      <p:cxnSp>
        <p:nvCxnSpPr>
          <p:cNvPr id="13" name="Connector 13"/>
          <p:cNvCxnSpPr/>
          <p:nvPr/>
        </p:nvCxnSpPr>
        <p:spPr>
          <a:xfrm>
            <a:off x="2952750" y="1714500"/>
            <a:ext cx="285750" cy="9525"/>
          </a:xfrm>
          <a:prstGeom prst="line">
            <a:avLst/>
          </a:prstGeom>
          <a:ln w="19050">
            <a:solidFill>
              <a:srgbClr val="003DA5"/>
            </a:solidFill>
            <a:tailEnd type="triangle"/>
          </a:ln>
        </p:spPr>
      </p:cxnSp>
      <p:cxnSp>
        <p:nvCxnSpPr>
          <p:cNvPr id="14" name="Connector 14"/>
          <p:cNvCxnSpPr/>
          <p:nvPr/>
        </p:nvCxnSpPr>
        <p:spPr>
          <a:xfrm>
            <a:off x="5810250" y="1714500"/>
            <a:ext cx="285750" cy="9525"/>
          </a:xfrm>
          <a:prstGeom prst="line">
            <a:avLst/>
          </a:prstGeom>
          <a:ln w="19050">
            <a:solidFill>
              <a:srgbClr val="003DA5"/>
            </a:solidFill>
            <a:tailEnd type="triangle"/>
          </a:ln>
        </p:spPr>
      </p:cxnSp>
      <p:sp>
        <p:nvSpPr>
          <p:cNvPr id="15" name="View 15"/>
          <p:cNvSpPr/>
          <p:nvPr/>
        </p:nvSpPr>
        <p:spPr>
          <a:xfrm>
            <a:off x="381000" y="2952750"/>
            <a:ext cx="838200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533400" y="3105150"/>
            <a:ext cx="80772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F2540"/>
                </a:solidFill>
                <a:latin typeface="Arial"/>
              </a:rPr>
              <a:t>SLA Summary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533400" y="3286125"/>
            <a:ext cx="8077200" cy="3429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Guaranteed uptime: 99.99% (52 min/year max downtime)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Financial credits: 10% per 0.01% below SLA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Maintenance windows: pre-scheduled, zero-downtime deployments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381000" y="4953000"/>
            <a:ext cx="18573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Infrastructure Design — Technical Proposal §5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Data integration workflow eliminates manual reconciliation across 14 systems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857250"/>
            <a:ext cx="1143000" cy="476250"/>
          </a:xfrm>
          <a:prstGeom prst="roundRect">
            <a:avLst/>
          </a:prstGeom>
          <a:solidFill>
            <a:srgbClr val="2D5F8A"/>
          </a:solidFill>
          <a:ln w="9525">
            <a:solidFill>
              <a:srgbClr val="2D5F8A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457200" y="933450"/>
            <a:ext cx="9906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Source Systems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1905000" y="857250"/>
            <a:ext cx="1143000" cy="476250"/>
          </a:xfrm>
          <a:prstGeom prst="roundRect">
            <a:avLst/>
          </a:prstGeom>
          <a:solidFill>
            <a:srgbClr val="003DA5"/>
          </a:solidFill>
          <a:ln w="9525">
            <a:solidFill>
              <a:srgbClr val="003DA5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981200" y="933450"/>
            <a:ext cx="9906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CDC Capture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3429000" y="857250"/>
            <a:ext cx="1143000" cy="476250"/>
          </a:xfrm>
          <a:prstGeom prst="roundRect">
            <a:avLst/>
          </a:prstGeom>
          <a:solidFill>
            <a:srgbClr val="003DA5"/>
          </a:solidFill>
          <a:ln w="9525">
            <a:solidFill>
              <a:srgbClr val="003DA5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505200" y="933450"/>
            <a:ext cx="9906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Transform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4953000" y="857250"/>
            <a:ext cx="1143000" cy="476250"/>
          </a:xfrm>
          <a:prstGeom prst="roundRect">
            <a:avLst/>
          </a:prstGeom>
          <a:solidFill>
            <a:srgbClr val="0F2540"/>
          </a:solidFill>
          <a:ln w="9525">
            <a:solidFill>
              <a:srgbClr val="0F254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5029200" y="933450"/>
            <a:ext cx="9906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Data Lake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6477000" y="857250"/>
            <a:ext cx="1143000" cy="476250"/>
          </a:xfrm>
          <a:prstGeom prst="roundRect">
            <a:avLst/>
          </a:prstGeom>
          <a:solidFill>
            <a:srgbClr val="00B050"/>
          </a:solidFill>
          <a:ln w="9525">
            <a:solidFill>
              <a:srgbClr val="00B05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6553200" y="933450"/>
            <a:ext cx="9906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Analytics</a:t>
            </a:r>
            <a:endParaRPr lang="en-US" dirty="0"/>
          </a:p>
        </p:txBody>
      </p:sp>
      <p:cxnSp>
        <p:nvCxnSpPr>
          <p:cNvPr id="14" name="Connector 14"/>
          <p:cNvCxnSpPr/>
          <p:nvPr/>
        </p:nvCxnSpPr>
        <p:spPr>
          <a:xfrm>
            <a:off x="1524000" y="1095375"/>
            <a:ext cx="381000" cy="9525"/>
          </a:xfrm>
          <a:prstGeom prst="line">
            <a:avLst/>
          </a:prstGeom>
          <a:ln w="9525">
            <a:solidFill>
              <a:srgbClr val="475569"/>
            </a:solidFill>
            <a:tailEnd type="triangle"/>
          </a:ln>
        </p:spPr>
      </p:cxnSp>
      <p:cxnSp>
        <p:nvCxnSpPr>
          <p:cNvPr id="15" name="Connector 15"/>
          <p:cNvCxnSpPr/>
          <p:nvPr/>
        </p:nvCxnSpPr>
        <p:spPr>
          <a:xfrm>
            <a:off x="3048000" y="1095375"/>
            <a:ext cx="381000" cy="9525"/>
          </a:xfrm>
          <a:prstGeom prst="line">
            <a:avLst/>
          </a:prstGeom>
          <a:ln w="9525">
            <a:solidFill>
              <a:srgbClr val="475569"/>
            </a:solidFill>
            <a:tailEnd type="triangle"/>
          </a:ln>
        </p:spPr>
      </p:cxnSp>
      <p:cxnSp>
        <p:nvCxnSpPr>
          <p:cNvPr id="16" name="Connector 16"/>
          <p:cNvCxnSpPr/>
          <p:nvPr/>
        </p:nvCxnSpPr>
        <p:spPr>
          <a:xfrm>
            <a:off x="4572000" y="1095375"/>
            <a:ext cx="381000" cy="9525"/>
          </a:xfrm>
          <a:prstGeom prst="line">
            <a:avLst/>
          </a:prstGeom>
          <a:ln w="9525">
            <a:solidFill>
              <a:srgbClr val="475569"/>
            </a:solidFill>
            <a:tailEnd type="triangle"/>
          </a:ln>
        </p:spPr>
      </p:cxnSp>
      <p:cxnSp>
        <p:nvCxnSpPr>
          <p:cNvPr id="17" name="Connector 17"/>
          <p:cNvCxnSpPr/>
          <p:nvPr/>
        </p:nvCxnSpPr>
        <p:spPr>
          <a:xfrm>
            <a:off x="6096000" y="1095375"/>
            <a:ext cx="381000" cy="9525"/>
          </a:xfrm>
          <a:prstGeom prst="line">
            <a:avLst/>
          </a:prstGeom>
          <a:ln w="9525">
            <a:solidFill>
              <a:srgbClr val="475569"/>
            </a:solidFill>
            <a:tailEnd type="triangle"/>
          </a:ln>
        </p:spPr>
      </p:cxnSp>
      <p:sp>
        <p:nvSpPr>
          <p:cNvPr id="18" name="View 18"/>
          <p:cNvSpPr/>
          <p:nvPr/>
        </p:nvSpPr>
        <p:spPr>
          <a:xfrm>
            <a:off x="381000" y="1714500"/>
            <a:ext cx="8382000" cy="1905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533400" y="1866900"/>
            <a:ext cx="80772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How It Works</a:t>
            </a:r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533400" y="2057400"/>
            <a:ext cx="8077200" cy="561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Change Data Capture monitors all 14 source systems in real-time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Schema-aware transformations handle format differences automatically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Conflict resolution uses configurable priority rules per data domain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Reconciliation runs continuously — not in nightly batch windows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Anomaly detection flags data quality issues within 60 seconds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381000" y="4953000"/>
            <a:ext cx="21907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Technical Proposal §4.1 — Data Integration Architecture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Security architecture provides defense-in-depth across all data flows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857250"/>
            <a:ext cx="1524000" cy="476250"/>
          </a:xfrm>
          <a:prstGeom prst="roundRect">
            <a:avLst/>
          </a:prstGeom>
          <a:solidFill>
            <a:srgbClr val="1B5E20"/>
          </a:solidFill>
          <a:ln w="9525">
            <a:solidFill>
              <a:srgbClr val="1B5E2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457200" y="933450"/>
            <a:ext cx="13716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Perimeter</a:t>
            </a:r>
            <a:endParaRPr lang="en-US" dirty="0"/>
          </a:p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(WAF + DDoS)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2286000" y="857250"/>
            <a:ext cx="1524000" cy="476250"/>
          </a:xfrm>
          <a:prstGeom prst="roundRect">
            <a:avLst/>
          </a:prstGeom>
          <a:solidFill>
            <a:srgbClr val="1B5E20"/>
          </a:solidFill>
          <a:ln w="9525">
            <a:solidFill>
              <a:srgbClr val="1B5E2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2362200" y="933450"/>
            <a:ext cx="13716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Identity</a:t>
            </a:r>
            <a:endParaRPr lang="en-US" dirty="0"/>
          </a:p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(SSO + MFA)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4191000" y="857250"/>
            <a:ext cx="1524000" cy="476250"/>
          </a:xfrm>
          <a:prstGeom prst="roundRect">
            <a:avLst/>
          </a:prstGeom>
          <a:solidFill>
            <a:srgbClr val="1B5E20"/>
          </a:solidFill>
          <a:ln w="9525">
            <a:solidFill>
              <a:srgbClr val="1B5E2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4267200" y="933450"/>
            <a:ext cx="13716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Authorization</a:t>
            </a:r>
            <a:endParaRPr lang="en-US" dirty="0"/>
          </a:p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(RBAC + ABAC)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6096000" y="857250"/>
            <a:ext cx="1524000" cy="476250"/>
          </a:xfrm>
          <a:prstGeom prst="roundRect">
            <a:avLst/>
          </a:prstGeom>
          <a:solidFill>
            <a:srgbClr val="1B5E20"/>
          </a:solidFill>
          <a:ln w="9525">
            <a:solidFill>
              <a:srgbClr val="1B5E2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6172200" y="933450"/>
            <a:ext cx="13716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Encryption</a:t>
            </a:r>
            <a:endParaRPr lang="en-US" dirty="0"/>
          </a:p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(AES-256 + TLS)</a:t>
            </a:r>
            <a:endParaRPr lang="en-US" dirty="0"/>
          </a:p>
        </p:txBody>
      </p:sp>
      <p:cxnSp>
        <p:nvCxnSpPr>
          <p:cNvPr id="12" name="Connector 12"/>
          <p:cNvCxnSpPr/>
          <p:nvPr/>
        </p:nvCxnSpPr>
        <p:spPr>
          <a:xfrm>
            <a:off x="1905000" y="1095375"/>
            <a:ext cx="381000" cy="9525"/>
          </a:xfrm>
          <a:prstGeom prst="line">
            <a:avLst/>
          </a:prstGeom>
          <a:ln w="9525">
            <a:solidFill>
              <a:srgbClr val="00B050"/>
            </a:solidFill>
            <a:tailEnd type="triangle"/>
          </a:ln>
        </p:spPr>
      </p:cxnSp>
      <p:cxnSp>
        <p:nvCxnSpPr>
          <p:cNvPr id="13" name="Connector 13"/>
          <p:cNvCxnSpPr/>
          <p:nvPr/>
        </p:nvCxnSpPr>
        <p:spPr>
          <a:xfrm>
            <a:off x="3810000" y="1095375"/>
            <a:ext cx="381000" cy="9525"/>
          </a:xfrm>
          <a:prstGeom prst="line">
            <a:avLst/>
          </a:prstGeom>
          <a:ln w="9525">
            <a:solidFill>
              <a:srgbClr val="00B050"/>
            </a:solidFill>
            <a:tailEnd type="triangle"/>
          </a:ln>
        </p:spPr>
      </p:cxnSp>
      <p:cxnSp>
        <p:nvCxnSpPr>
          <p:cNvPr id="14" name="Connector 14"/>
          <p:cNvCxnSpPr/>
          <p:nvPr/>
        </p:nvCxnSpPr>
        <p:spPr>
          <a:xfrm>
            <a:off x="5715000" y="1095375"/>
            <a:ext cx="381000" cy="9525"/>
          </a:xfrm>
          <a:prstGeom prst="line">
            <a:avLst/>
          </a:prstGeom>
          <a:ln w="9525">
            <a:solidFill>
              <a:srgbClr val="00B050"/>
            </a:solidFill>
            <a:tailEnd type="triangle"/>
          </a:ln>
        </p:spPr>
      </p:cxnSp>
      <p:sp>
        <p:nvSpPr>
          <p:cNvPr id="15" name="View 15"/>
          <p:cNvSpPr/>
          <p:nvPr/>
        </p:nvSpPr>
        <p:spPr>
          <a:xfrm>
            <a:off x="381000" y="1714500"/>
            <a:ext cx="8382000" cy="1905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533400" y="1866900"/>
            <a:ext cx="80772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Security Controls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533400" y="2057400"/>
            <a:ext cx="8077200" cy="561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All data encrypted at rest (AES-256) and in transit (TLS 1.3)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Fine-grained ABAC policies enforce row-level and column-level security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Immutable audit logs retained for 7 years with tamper-proof hashing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Automated vulnerability scanning (weekly) and pen testing (quarterly)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SOC 2 Type II, GDPR, HIPAA controls verified by independent auditor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381000" y="4953000"/>
            <a:ext cx="19145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Technical Proposal §4.2 — Security Architecture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Analytics workflow delivers sub-second queries on petabyte-scale datasets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857250"/>
            <a:ext cx="1238250" cy="476250"/>
          </a:xfrm>
          <a:prstGeom prst="roundRect">
            <a:avLst/>
          </a:prstGeom>
          <a:solidFill>
            <a:srgbClr val="003DA5"/>
          </a:solidFill>
          <a:ln w="9525">
            <a:solidFill>
              <a:srgbClr val="003DA5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457200" y="933450"/>
            <a:ext cx="10858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Data Ingestion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2000250" y="857250"/>
            <a:ext cx="1238250" cy="476250"/>
          </a:xfrm>
          <a:prstGeom prst="roundRect">
            <a:avLst/>
          </a:prstGeom>
          <a:solidFill>
            <a:srgbClr val="003DA5"/>
          </a:solidFill>
          <a:ln w="9525">
            <a:solidFill>
              <a:srgbClr val="003DA5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2076450" y="933450"/>
            <a:ext cx="10858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Query Engine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3619500" y="857250"/>
            <a:ext cx="1238250" cy="476250"/>
          </a:xfrm>
          <a:prstGeom prst="roundRect">
            <a:avLst/>
          </a:prstGeom>
          <a:solidFill>
            <a:srgbClr val="003DA5"/>
          </a:solidFill>
          <a:ln w="9525">
            <a:solidFill>
              <a:srgbClr val="003DA5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695700" y="933450"/>
            <a:ext cx="10858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Caching Layer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5238750" y="857250"/>
            <a:ext cx="1238250" cy="476250"/>
          </a:xfrm>
          <a:prstGeom prst="roundRect">
            <a:avLst/>
          </a:prstGeom>
          <a:solidFill>
            <a:srgbClr val="003DA5"/>
          </a:solidFill>
          <a:ln w="9525">
            <a:solidFill>
              <a:srgbClr val="003DA5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5314950" y="933450"/>
            <a:ext cx="10858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Visualization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6858000" y="857250"/>
            <a:ext cx="952500" cy="476250"/>
          </a:xfrm>
          <a:prstGeom prst="roundRect">
            <a:avLst/>
          </a:prstGeom>
          <a:solidFill>
            <a:srgbClr val="FFC000"/>
          </a:solidFill>
          <a:ln w="9525">
            <a:solidFill>
              <a:srgbClr val="FFC00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6934200" y="933450"/>
            <a:ext cx="8001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Alerting</a:t>
            </a:r>
            <a:endParaRPr lang="en-US" dirty="0"/>
          </a:p>
        </p:txBody>
      </p:sp>
      <p:cxnSp>
        <p:nvCxnSpPr>
          <p:cNvPr id="14" name="Connector 14"/>
          <p:cNvCxnSpPr/>
          <p:nvPr/>
        </p:nvCxnSpPr>
        <p:spPr>
          <a:xfrm>
            <a:off x="1619250" y="1095375"/>
            <a:ext cx="381000" cy="9525"/>
          </a:xfrm>
          <a:prstGeom prst="line">
            <a:avLst/>
          </a:prstGeom>
          <a:ln w="9525">
            <a:solidFill>
              <a:srgbClr val="475569"/>
            </a:solidFill>
            <a:tailEnd type="triangle"/>
          </a:ln>
        </p:spPr>
      </p:cxnSp>
      <p:cxnSp>
        <p:nvCxnSpPr>
          <p:cNvPr id="15" name="Connector 15"/>
          <p:cNvCxnSpPr/>
          <p:nvPr/>
        </p:nvCxnSpPr>
        <p:spPr>
          <a:xfrm>
            <a:off x="3238500" y="1095375"/>
            <a:ext cx="381000" cy="9525"/>
          </a:xfrm>
          <a:prstGeom prst="line">
            <a:avLst/>
          </a:prstGeom>
          <a:ln w="9525">
            <a:solidFill>
              <a:srgbClr val="475569"/>
            </a:solidFill>
            <a:tailEnd type="triangle"/>
          </a:ln>
        </p:spPr>
      </p:cxnSp>
      <p:cxnSp>
        <p:nvCxnSpPr>
          <p:cNvPr id="16" name="Connector 16"/>
          <p:cNvCxnSpPr/>
          <p:nvPr/>
        </p:nvCxnSpPr>
        <p:spPr>
          <a:xfrm>
            <a:off x="4857750" y="1095375"/>
            <a:ext cx="381000" cy="9525"/>
          </a:xfrm>
          <a:prstGeom prst="line">
            <a:avLst/>
          </a:prstGeom>
          <a:ln w="9525">
            <a:solidFill>
              <a:srgbClr val="475569"/>
            </a:solidFill>
            <a:tailEnd type="triangle"/>
          </a:ln>
        </p:spPr>
      </p:cxnSp>
      <p:cxnSp>
        <p:nvCxnSpPr>
          <p:cNvPr id="17" name="Connector 17"/>
          <p:cNvCxnSpPr/>
          <p:nvPr/>
        </p:nvCxnSpPr>
        <p:spPr>
          <a:xfrm>
            <a:off x="6477000" y="1095375"/>
            <a:ext cx="381000" cy="9525"/>
          </a:xfrm>
          <a:prstGeom prst="line">
            <a:avLst/>
          </a:prstGeom>
          <a:ln w="9525">
            <a:solidFill>
              <a:srgbClr val="475569"/>
            </a:solidFill>
            <a:tailEnd type="triangle"/>
          </a:ln>
        </p:spPr>
      </p:cxnSp>
      <p:sp>
        <p:nvSpPr>
          <p:cNvPr id="18" name="View 18"/>
          <p:cNvSpPr/>
          <p:nvPr/>
        </p:nvSpPr>
        <p:spPr>
          <a:xfrm>
            <a:off x="381000" y="1714500"/>
            <a:ext cx="8382000" cy="1905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533400" y="1866900"/>
            <a:ext cx="80772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Analytics Capabilities</a:t>
            </a:r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533400" y="2057400"/>
            <a:ext cx="8077200" cy="561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Columnar storage engine optimized for analytical workloads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Materialized views with automatic refresh for dashboard performance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50+ pre-built report templates for common enterprise use cases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Embedded analytics SDK for white-label customer-facing dashboards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ML-powered anomaly detection with configurable alert thresholds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381000" y="4953000"/>
            <a:ext cx="19526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Technical Proposal §4.3 — Analytics Architecture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16-week implementation delivers value at each phase gate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381000" y="83820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Stakeholder Interviews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1809750" y="800100"/>
            <a:ext cx="866775" cy="1905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381000" y="114300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Requirements Validation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2243138" y="1104900"/>
            <a:ext cx="871538" cy="1905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381000" y="144780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Architecture Design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2676525" y="1409700"/>
            <a:ext cx="876300" cy="1905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81000" y="175260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Core Platform Setup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3114675" y="1714500"/>
            <a:ext cx="1304925" cy="190500"/>
          </a:xfrm>
          <a:prstGeom prst="rect">
            <a:avLst/>
          </a:prstGeom>
          <a:solidFill>
            <a:srgbClr val="0070C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381000" y="205740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Data Migration (Wave 1)</a:t>
            </a:r>
            <a:endParaRPr lang="en-US" dirty="0"/>
          </a:p>
        </p:txBody>
      </p:sp>
      <p:sp>
        <p:nvSpPr>
          <p:cNvPr id="13" name="View 13"/>
          <p:cNvSpPr/>
          <p:nvPr/>
        </p:nvSpPr>
        <p:spPr>
          <a:xfrm>
            <a:off x="3552825" y="2019300"/>
            <a:ext cx="1733550" cy="190500"/>
          </a:xfrm>
          <a:prstGeom prst="rect">
            <a:avLst/>
          </a:prstGeom>
          <a:solidFill>
            <a:srgbClr val="0070C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381000" y="236220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Integration Development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3981450" y="2324100"/>
            <a:ext cx="1743075" cy="190500"/>
          </a:xfrm>
          <a:prstGeom prst="rect">
            <a:avLst/>
          </a:prstGeom>
          <a:solidFill>
            <a:srgbClr val="0070C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381000" y="266700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UAT Preparation</a:t>
            </a:r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4852988" y="2628900"/>
            <a:ext cx="871538" cy="190500"/>
          </a:xfrm>
          <a:prstGeom prst="rect">
            <a:avLst/>
          </a:prstGeom>
          <a:solidFill>
            <a:srgbClr val="00B05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381000" y="297180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User Acceptance Testing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5724525" y="2933700"/>
            <a:ext cx="1304925" cy="190500"/>
          </a:xfrm>
          <a:prstGeom prst="rect">
            <a:avLst/>
          </a:prstGeom>
          <a:solidFill>
            <a:srgbClr val="00B05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381000" y="327660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Performance Testing</a:t>
            </a:r>
            <a:endParaRPr lang="en-US" dirty="0"/>
          </a:p>
        </p:txBody>
      </p:sp>
      <p:sp>
        <p:nvSpPr>
          <p:cNvPr id="21" name="View 21"/>
          <p:cNvSpPr/>
          <p:nvPr/>
        </p:nvSpPr>
        <p:spPr>
          <a:xfrm>
            <a:off x="6153150" y="3238500"/>
            <a:ext cx="876300" cy="190500"/>
          </a:xfrm>
          <a:prstGeom prst="rect">
            <a:avLst/>
          </a:prstGeom>
          <a:solidFill>
            <a:srgbClr val="00B05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381000" y="358140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Training &amp; Enablement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6591300" y="3543300"/>
            <a:ext cx="1304925" cy="190500"/>
          </a:xfrm>
          <a:prstGeom prst="rect">
            <a:avLst/>
          </a:prstGeom>
          <a:solidFill>
            <a:srgbClr val="FFC00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381000" y="388620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Staged Rollout</a:t>
            </a:r>
            <a:endParaRPr lang="en-US" dirty="0"/>
          </a:p>
        </p:txBody>
      </p:sp>
      <p:sp>
        <p:nvSpPr>
          <p:cNvPr id="25" name="View 25"/>
          <p:cNvSpPr/>
          <p:nvPr/>
        </p:nvSpPr>
        <p:spPr>
          <a:xfrm>
            <a:off x="7462838" y="3848100"/>
            <a:ext cx="862013" cy="190500"/>
          </a:xfrm>
          <a:prstGeom prst="rect">
            <a:avLst/>
          </a:prstGeom>
          <a:solidFill>
            <a:srgbClr val="FFC00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381000" y="4191000"/>
            <a:ext cx="1333500" cy="10953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Hypercare Support</a:t>
            </a:r>
            <a:endParaRPr lang="en-US" dirty="0"/>
          </a:p>
        </p:txBody>
      </p:sp>
      <p:sp>
        <p:nvSpPr>
          <p:cNvPr id="27" name="View 27"/>
          <p:cNvSpPr/>
          <p:nvPr/>
        </p:nvSpPr>
        <p:spPr>
          <a:xfrm>
            <a:off x="7896225" y="4148138"/>
            <a:ext cx="866775" cy="190500"/>
          </a:xfrm>
          <a:prstGeom prst="rect">
            <a:avLst/>
          </a:prstGeom>
          <a:solidFill>
            <a:srgbClr val="FFC00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381000" y="4191000"/>
            <a:ext cx="83820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</a:rPr>
              <a:t>Phase 1: Discovery (Wk 1-3)  •  Phase 2: Build (Wk 4-9)  •  Phase 3: Test (Wk 8-13)  •  Phase 4: Launch (Wk 12-16)</a:t>
            </a:r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381000" y="4953000"/>
            <a:ext cx="17811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Implementation Plan — Project Charter v1.2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Each phase gate includes defined deliverables and sign-off criteria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81000" y="762000"/>
          <a:ext cx="8382000" cy="1"/>
        </p:xfrm>
        <a:graphic>
          <a:graphicData uri="http://schemas.openxmlformats.org/drawingml/2006/table">
            <a:tbl>
              <a:tblPr firstRow="0" bandRow="1"/>
              <a:tblGrid>
                <a:gridCol w="2095500"/>
                <a:gridCol w="2095500"/>
                <a:gridCol w="2095500"/>
                <a:gridCol w="20955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Duration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Key Deliverables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Sign-off Criteria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1. Discovery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Weeks 1-3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Requirements doc, architecture design, project plan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Stakeholder approval of design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2. Build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Weeks 4-9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Platform config, data migration, integrations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All systems connected, data flowing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3. Test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Weeks 8-13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UAT complete, performance validated, defects resolved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Zero P1/P2 open defects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4. Launch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Weeks 12-16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Training complete, staged rollout, hypercare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Go-live sign-off by project sponsor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905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Implementation Plan — Phase Gate Framework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Six measurable KPIs will track ROI from day one of go-live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90500" y="762000"/>
          <a:ext cx="8763000" cy="1"/>
        </p:xfrm>
        <a:graphic>
          <a:graphicData uri="http://schemas.openxmlformats.org/drawingml/2006/table">
            <a:tbl>
              <a:tblPr firstRow="0" bandRow="1"/>
              <a:tblGrid>
                <a:gridCol w="1752600"/>
                <a:gridCol w="1752600"/>
                <a:gridCol w="1752600"/>
                <a:gridCol w="1752600"/>
                <a:gridCol w="17526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12-Mo Target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Measurement Method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Frequency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Data reconciliation time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72 hours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&lt; 1 hour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Automated job completion logs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Daily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Report generation time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4-6 hours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&lt; 5 minutes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Platform analytics module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Weekly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Data quality score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&gt; 95%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Automated DQ rules engine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Daily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System availability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97.5%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99.99%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Uptime monitoring (PagerDuty)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Monthly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User adoption rate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&gt; 80%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DAU / total licensed users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Weekly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Annual reconciliation cost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$4.2M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&lt; $1.5M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Finance tracking (GL codes)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Quarterly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4478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Business Case — ROI Model v2.0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Case Study: Meridian Health reduced data latency from days to seconds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762000"/>
            <a:ext cx="8382000" cy="104775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33400" y="914400"/>
            <a:ext cx="80772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991B1B"/>
                </a:solidFill>
                <a:latin typeface="Arial"/>
              </a:rPr>
              <a:t>The Challenge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33400" y="1104900"/>
            <a:ext cx="80772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Meridian Health operated 8 disconnected EHR and billing systems across 12 hospitals. Clinical data reconciliation took 72+ hours, delaying patient care decisions and costing $3.8M annually in manual processes.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381000" y="1952625"/>
            <a:ext cx="838200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533400" y="2105025"/>
            <a:ext cx="80772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Our Approach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533400" y="2295525"/>
            <a:ext cx="8077200" cy="3429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Deployed CDC connectors to all 8 source systems in parallel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Built HIPAA-compliant data lake with row-level security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Implemented real-time clinical dashboards for 2,400 physicians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381000" y="3238500"/>
            <a:ext cx="8382000" cy="123825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533400" y="3390900"/>
            <a:ext cx="80772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14532D"/>
                </a:solidFill>
                <a:latin typeface="Arial"/>
              </a:rPr>
              <a:t>Results (12 Months Post-Launch)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33400" y="3581400"/>
            <a:ext cx="8077200" cy="447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Data latency: 72 hours → 8 seconds (99.997% reduction)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Annual cost savings: $3.1M (82% reduction)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Physician adoption: 91% within 6 months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Patient satisfaction scores: +14 points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381000" y="4953000"/>
            <a:ext cx="21526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Meridian Health case study (published with permission)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Case Study: Atlas Financial cut reporting cycle from 5 days to 15 minutes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762000"/>
            <a:ext cx="8382000" cy="104775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33400" y="914400"/>
            <a:ext cx="80772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991B1B"/>
                </a:solidFill>
                <a:latin typeface="Arial"/>
              </a:rPr>
              <a:t>The Challenge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33400" y="1104900"/>
            <a:ext cx="8077200" cy="152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0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Atlas Financial's regulatory reporting required manual data extraction from 6 trading systems. Each monthly cycle consumed 120 analyst-hours and frequently missed SEC filing deadlines.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381000" y="1952625"/>
            <a:ext cx="838200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533400" y="2105025"/>
            <a:ext cx="80772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Our Approach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533400" y="2295525"/>
            <a:ext cx="8077200" cy="3429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Unified 6 trading systems into single data model with full lineage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Built automated regulatory report templates (SEC, FINRA, OCC)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Deployed anomaly detection to flag data quality issues pre-submission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381000" y="3238500"/>
            <a:ext cx="8382000" cy="123825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533400" y="3390900"/>
            <a:ext cx="80772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14532D"/>
                </a:solidFill>
                <a:latin typeface="Arial"/>
              </a:rPr>
              <a:t>Results (12 Months Post-Launch)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33400" y="3581400"/>
            <a:ext cx="8077200" cy="447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Reporting cycle: 5 days → 15 minutes (99.8% reduction)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Analyst hours saved: 1,200/year → redeployed to strategic analysis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Zero missed filing deadlines (vs. 4 in prior year)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Data accuracy: 94% → 99.7%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381000" y="4953000"/>
            <a:ext cx="21145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Atlas Financial case study (published with permission)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Your dedicated team: proven leaders with deep enterprise expertise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762000"/>
            <a:ext cx="2571750" cy="1714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pic>
        <p:nvPicPr>
          <p:cNvPr id="5" name="Image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914400"/>
            <a:ext cx="457200" cy="4572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6" name="Text 6"/>
          <p:cNvSpPr txBox="1"/>
          <p:nvPr/>
        </p:nvSpPr>
        <p:spPr>
          <a:xfrm>
            <a:off x="533400" y="1428750"/>
            <a:ext cx="22669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Sarah Chen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33400" y="1581150"/>
            <a:ext cx="22669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0070C0"/>
                </a:solidFill>
                <a:latin typeface="Arial"/>
              </a:rPr>
              <a:t>Engagement Lead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533400" y="1752600"/>
            <a:ext cx="226695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75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15 years enterprise consulting. Former VP at Deloitte Digital. Led 40+ platform implementations.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3238500" y="762000"/>
            <a:ext cx="2571750" cy="1714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pic>
        <p:nvPicPr>
          <p:cNvPr id="10" name="Image 10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900" y="914400"/>
            <a:ext cx="457200" cy="4572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11" name="Text 11"/>
          <p:cNvSpPr txBox="1"/>
          <p:nvPr/>
        </p:nvSpPr>
        <p:spPr>
          <a:xfrm>
            <a:off x="3390900" y="1428750"/>
            <a:ext cx="22669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Marcus Johnson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3390900" y="1581150"/>
            <a:ext cx="22669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0070C0"/>
                </a:solidFill>
                <a:latin typeface="Arial"/>
              </a:rPr>
              <a:t>Solution Architect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3390900" y="1752600"/>
            <a:ext cx="226695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75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Cloud migration specialist. AWS &amp; Azure certified. Designed systems for 3 Fortune 100 firms.</a:t>
            </a:r>
            <a:endParaRPr lang="en-US" dirty="0"/>
          </a:p>
        </p:txBody>
      </p:sp>
      <p:sp>
        <p:nvSpPr>
          <p:cNvPr id="14" name="View 14"/>
          <p:cNvSpPr/>
          <p:nvPr/>
        </p:nvSpPr>
        <p:spPr>
          <a:xfrm>
            <a:off x="6096000" y="762000"/>
            <a:ext cx="2571750" cy="1714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pic>
        <p:nvPicPr>
          <p:cNvPr id="15" name="Image 15"/>
          <p:cNvPicPr>
            <a:picLocks noGrp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914400"/>
            <a:ext cx="457200" cy="4572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16" name="Text 16"/>
          <p:cNvSpPr txBox="1"/>
          <p:nvPr/>
        </p:nvSpPr>
        <p:spPr>
          <a:xfrm>
            <a:off x="6248400" y="1428750"/>
            <a:ext cx="22669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Elena Rodriguez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6248400" y="1581150"/>
            <a:ext cx="22669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0070C0"/>
                </a:solidFill>
                <a:latin typeface="Arial"/>
              </a:rPr>
              <a:t>Project Manager, PMP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6248400" y="1752600"/>
            <a:ext cx="226695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75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50+ enterprise implementations. Agile transformation expert. 98% on-time delivery rate.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Technical specialists bring domain-specific depth to your implementation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762000"/>
            <a:ext cx="2571750" cy="1714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pic>
        <p:nvPicPr>
          <p:cNvPr id="5" name="Image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914400"/>
            <a:ext cx="457200" cy="4572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6" name="Text 6"/>
          <p:cNvSpPr txBox="1"/>
          <p:nvPr/>
        </p:nvSpPr>
        <p:spPr>
          <a:xfrm>
            <a:off x="533400" y="1428750"/>
            <a:ext cx="22669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David Kim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33400" y="1581150"/>
            <a:ext cx="22669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0070C0"/>
                </a:solidFill>
                <a:latin typeface="Arial"/>
              </a:rPr>
              <a:t>Technical Lead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533400" y="1752600"/>
            <a:ext cx="226695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75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12 years full-stack engineering. Microservices &amp; API design. Former Google SRE.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3238500" y="762000"/>
            <a:ext cx="2571750" cy="1714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pic>
        <p:nvPicPr>
          <p:cNvPr id="10" name="Image 10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900" y="914400"/>
            <a:ext cx="457200" cy="4572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11" name="Text 11"/>
          <p:cNvSpPr txBox="1"/>
          <p:nvPr/>
        </p:nvSpPr>
        <p:spPr>
          <a:xfrm>
            <a:off x="3390900" y="1428750"/>
            <a:ext cx="22669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Amara Osei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3390900" y="1581150"/>
            <a:ext cx="22669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0070C0"/>
                </a:solidFill>
                <a:latin typeface="Arial"/>
              </a:rPr>
              <a:t>Data Migration Lead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3390900" y="1752600"/>
            <a:ext cx="226695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75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Specialized in SAP &amp; Oracle migrations. Led 15 zero-downtime cutovers. ETL architecture expert.</a:t>
            </a:r>
            <a:endParaRPr lang="en-US" dirty="0"/>
          </a:p>
        </p:txBody>
      </p:sp>
      <p:sp>
        <p:nvSpPr>
          <p:cNvPr id="14" name="View 14"/>
          <p:cNvSpPr/>
          <p:nvPr/>
        </p:nvSpPr>
        <p:spPr>
          <a:xfrm>
            <a:off x="6096000" y="762000"/>
            <a:ext cx="2571750" cy="1714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pic>
        <p:nvPicPr>
          <p:cNvPr id="15" name="Image 15"/>
          <p:cNvPicPr>
            <a:picLocks noGrp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914400"/>
            <a:ext cx="457200" cy="4572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16" name="Text 16"/>
          <p:cNvSpPr txBox="1"/>
          <p:nvPr/>
        </p:nvSpPr>
        <p:spPr>
          <a:xfrm>
            <a:off x="6248400" y="1428750"/>
            <a:ext cx="22669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James Patterson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6248400" y="1581150"/>
            <a:ext cx="22669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0070C0"/>
                </a:solidFill>
                <a:latin typeface="Arial"/>
              </a:rPr>
              <a:t>Security &amp; Compliance Lead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6248400" y="1752600"/>
            <a:ext cx="226695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75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CISSP, CISM certified. Former CISO at mid-market bank. SOC 2 &amp; HIPAA audit specialist.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Four industry certifications provide independent validation of our security posture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762000"/>
            <a:ext cx="3810000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33400" y="914400"/>
            <a:ext cx="609600" cy="609600"/>
          </a:xfrm>
          <a:prstGeom prst="rect">
            <a:avLst/>
          </a:prstGeom>
          <a:solidFill>
            <a:srgbClr val="0F254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23900" y="1152525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Arial"/>
              </a:rPr>
              <a:t>SOC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33400" y="1600200"/>
            <a:ext cx="35052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SOC 2 Type II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533400" y="1790700"/>
            <a:ext cx="35052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75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Annual audit by Deloitte</a:t>
            </a:r>
            <a:endParaRPr lang="en-US" dirty="0"/>
          </a:p>
          <a:p>
            <a:pPr>
              <a:lnSpc>
                <a:spcPts val="975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Latest report: Oct 2025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4572000" y="762000"/>
            <a:ext cx="3810000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4724400" y="914400"/>
            <a:ext cx="609600" cy="609600"/>
          </a:xfrm>
          <a:prstGeom prst="rect">
            <a:avLst/>
          </a:prstGeom>
          <a:solidFill>
            <a:srgbClr val="0F254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4933950" y="1152525"/>
            <a:ext cx="1905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Arial"/>
              </a:rPr>
              <a:t>ISO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4724400" y="1600200"/>
            <a:ext cx="35052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ISO 27001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4724400" y="1790700"/>
            <a:ext cx="35052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75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Certified since 2023</a:t>
            </a:r>
            <a:endParaRPr lang="en-US" dirty="0"/>
          </a:p>
          <a:p>
            <a:pPr>
              <a:lnSpc>
                <a:spcPts val="975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Surveillance audit: Q2 2025</a:t>
            </a:r>
            <a:endParaRPr lang="en-US" dirty="0"/>
          </a:p>
        </p:txBody>
      </p:sp>
      <p:sp>
        <p:nvSpPr>
          <p:cNvPr id="14" name="View 14"/>
          <p:cNvSpPr/>
          <p:nvPr/>
        </p:nvSpPr>
        <p:spPr>
          <a:xfrm>
            <a:off x="381000" y="2476500"/>
            <a:ext cx="3810000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533400" y="2628900"/>
            <a:ext cx="609600" cy="609600"/>
          </a:xfrm>
          <a:prstGeom prst="rect">
            <a:avLst/>
          </a:prstGeom>
          <a:solidFill>
            <a:srgbClr val="1B5E2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685800" y="2867025"/>
            <a:ext cx="3048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Arial"/>
              </a:rPr>
              <a:t>GDPR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533400" y="3314700"/>
            <a:ext cx="35052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GDPR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533400" y="3505200"/>
            <a:ext cx="35052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75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Full compliance</a:t>
            </a:r>
            <a:endParaRPr lang="en-US" dirty="0"/>
          </a:p>
          <a:p>
            <a:pPr>
              <a:lnSpc>
                <a:spcPts val="975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DPA &amp; SCCs available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4572000" y="2476500"/>
            <a:ext cx="3810000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0" name="View 20"/>
          <p:cNvSpPr/>
          <p:nvPr/>
        </p:nvSpPr>
        <p:spPr>
          <a:xfrm>
            <a:off x="4724400" y="2628900"/>
            <a:ext cx="609600" cy="609600"/>
          </a:xfrm>
          <a:prstGeom prst="rect">
            <a:avLst/>
          </a:prstGeom>
          <a:solidFill>
            <a:srgbClr val="1B5E2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4867275" y="2867025"/>
            <a:ext cx="3238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Arial"/>
              </a:rPr>
              <a:t>HIPAA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4724400" y="3314700"/>
            <a:ext cx="35052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HIPAA</a:t>
            </a:r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4724400" y="3505200"/>
            <a:ext cx="35052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75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BAA available</a:t>
            </a:r>
            <a:endParaRPr lang="en-US" dirty="0"/>
          </a:p>
          <a:p>
            <a:pPr>
              <a:lnSpc>
                <a:spcPts val="975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PHI controls validated</a:t>
            </a:r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381000" y="4953000"/>
            <a:ext cx="18478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Compliance &amp; Security — Certification registry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3-year TCO of $1.47M delivers 38% savings vs. incumbent multi-vendor approach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81000" y="762000"/>
          <a:ext cx="8382000" cy="1"/>
        </p:xfrm>
        <a:graphic>
          <a:graphicData uri="http://schemas.openxmlformats.org/drawingml/2006/table">
            <a:tbl>
              <a:tblPr firstRow="0" bandRow="1"/>
              <a:tblGrid>
                <a:gridCol w="1676400"/>
                <a:gridCol w="1676400"/>
                <a:gridCol w="1676400"/>
                <a:gridCol w="1676400"/>
                <a:gridCol w="16764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 gridSpan="3"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Investment by Year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Year 1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Year 2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Year 3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3-Year Total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Platform License (250 seats)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$225,000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$225,000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$225,000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$675,000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Implementation Services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$180,000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$180,000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Data Migration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$95,000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$95,000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Training &amp; Enablement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$35,000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$15,000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$10,000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$60,000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Premium Support (24/7)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$45,000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$45,000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$45,000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$135,000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Infrastructure (cloud)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$75,000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$82,000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$90,000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$247,000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Contingency (10%)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$65,500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$36,700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$37,000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$139,200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Total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$720,500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$403,700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$407,000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$1,531,200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7811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Commercial Proposal — Pricing Schedule A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Four phase gates ensure quality and alignment at every major milestone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1143000"/>
            <a:ext cx="1714500" cy="666750"/>
          </a:xfrm>
          <a:prstGeom prst="roundRect">
            <a:avLst/>
          </a:prstGeom>
          <a:solidFill>
            <a:srgbClr val="003DA5"/>
          </a:solidFill>
          <a:ln w="9525">
            <a:solidFill>
              <a:srgbClr val="003DA5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457200" y="1219200"/>
            <a:ext cx="156210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Phase 1</a:t>
            </a:r>
            <a:endParaRPr lang="en-US" dirty="0"/>
          </a:p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Discovery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2476500" y="1143000"/>
            <a:ext cx="1714500" cy="666750"/>
          </a:xfrm>
          <a:prstGeom prst="roundRect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2552700" y="1219200"/>
            <a:ext cx="156210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Phase 2</a:t>
            </a:r>
            <a:endParaRPr lang="en-US" dirty="0"/>
          </a:p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Build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4572000" y="1143000"/>
            <a:ext cx="1714500" cy="666750"/>
          </a:xfrm>
          <a:prstGeom prst="roundRect">
            <a:avLst/>
          </a:prstGeom>
          <a:solidFill>
            <a:srgbClr val="00B050"/>
          </a:solidFill>
          <a:ln w="9525">
            <a:solidFill>
              <a:srgbClr val="00B05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4648200" y="1219200"/>
            <a:ext cx="156210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Phase 3</a:t>
            </a:r>
            <a:endParaRPr lang="en-US" dirty="0"/>
          </a:p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Test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6667500" y="1143000"/>
            <a:ext cx="1714500" cy="666750"/>
          </a:xfrm>
          <a:prstGeom prst="roundRect">
            <a:avLst/>
          </a:prstGeom>
          <a:solidFill>
            <a:srgbClr val="FFC000"/>
          </a:solidFill>
          <a:ln w="9525">
            <a:solidFill>
              <a:srgbClr val="FFC00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6743700" y="1219200"/>
            <a:ext cx="156210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Phase 4</a:t>
            </a:r>
            <a:endParaRPr lang="en-US" dirty="0"/>
          </a:p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Launch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2190750" y="1333500"/>
            <a:ext cx="381000" cy="285750"/>
          </a:xfrm>
          <a:prstGeom prst="roundRect">
            <a:avLst/>
          </a:prstGeom>
          <a:solidFill>
            <a:srgbClr val="0F2540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2228850" y="1371600"/>
            <a:ext cx="3048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690"/>
              </a:lnSpc>
            </a:pPr>
            <a:r>
              <a:rPr lang="en-US" sz="600" b="1" dirty="0">
                <a:solidFill>
                  <a:srgbClr val="FFFFFF"/>
                </a:solidFill>
                <a:latin typeface="Arial"/>
              </a:rPr>
              <a:t>Gate 1</a:t>
            </a:r>
            <a:endParaRPr lang="en-US" dirty="0"/>
          </a:p>
        </p:txBody>
      </p:sp>
      <p:sp>
        <p:nvSpPr>
          <p:cNvPr id="14" name="View 14"/>
          <p:cNvSpPr/>
          <p:nvPr/>
        </p:nvSpPr>
        <p:spPr>
          <a:xfrm>
            <a:off x="4286250" y="1333500"/>
            <a:ext cx="381000" cy="285750"/>
          </a:xfrm>
          <a:prstGeom prst="roundRect">
            <a:avLst/>
          </a:prstGeom>
          <a:solidFill>
            <a:srgbClr val="0F2540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4324350" y="1371600"/>
            <a:ext cx="3048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690"/>
              </a:lnSpc>
            </a:pPr>
            <a:r>
              <a:rPr lang="en-US" sz="600" b="1" dirty="0">
                <a:solidFill>
                  <a:srgbClr val="FFFFFF"/>
                </a:solidFill>
                <a:latin typeface="Arial"/>
              </a:rPr>
              <a:t>Gate 2</a:t>
            </a:r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6381750" y="1333500"/>
            <a:ext cx="381000" cy="285750"/>
          </a:xfrm>
          <a:prstGeom prst="roundRect">
            <a:avLst/>
          </a:prstGeom>
          <a:solidFill>
            <a:srgbClr val="0F2540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6419850" y="1371600"/>
            <a:ext cx="3048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690"/>
              </a:lnSpc>
            </a:pPr>
            <a:r>
              <a:rPr lang="en-US" sz="600" b="1" dirty="0">
                <a:solidFill>
                  <a:srgbClr val="FFFFFF"/>
                </a:solidFill>
                <a:latin typeface="Arial"/>
              </a:rPr>
              <a:t>Gate 3</a:t>
            </a:r>
            <a:endParaRPr lang="en-US" dirty="0"/>
          </a:p>
        </p:txBody>
      </p:sp>
      <p:cxnSp>
        <p:nvCxnSpPr>
          <p:cNvPr id="18" name="Connector 18"/>
          <p:cNvCxnSpPr/>
          <p:nvPr/>
        </p:nvCxnSpPr>
        <p:spPr>
          <a:xfrm>
            <a:off x="2095500" y="1476375"/>
            <a:ext cx="381000" cy="9525"/>
          </a:xfrm>
          <a:prstGeom prst="line">
            <a:avLst/>
          </a:prstGeom>
          <a:ln w="19050">
            <a:solidFill>
              <a:srgbClr val="0F2540"/>
            </a:solidFill>
            <a:tailEnd type="triangle"/>
          </a:ln>
        </p:spPr>
      </p:cxnSp>
      <p:cxnSp>
        <p:nvCxnSpPr>
          <p:cNvPr id="19" name="Connector 19"/>
          <p:cNvCxnSpPr/>
          <p:nvPr/>
        </p:nvCxnSpPr>
        <p:spPr>
          <a:xfrm>
            <a:off x="4191000" y="1476375"/>
            <a:ext cx="381000" cy="9525"/>
          </a:xfrm>
          <a:prstGeom prst="line">
            <a:avLst/>
          </a:prstGeom>
          <a:ln w="19050">
            <a:solidFill>
              <a:srgbClr val="0F2540"/>
            </a:solidFill>
            <a:tailEnd type="triangle"/>
          </a:ln>
        </p:spPr>
      </p:cxnSp>
      <p:cxnSp>
        <p:nvCxnSpPr>
          <p:cNvPr id="20" name="Connector 20"/>
          <p:cNvCxnSpPr/>
          <p:nvPr/>
        </p:nvCxnSpPr>
        <p:spPr>
          <a:xfrm>
            <a:off x="6286500" y="1476375"/>
            <a:ext cx="381000" cy="9525"/>
          </a:xfrm>
          <a:prstGeom prst="line">
            <a:avLst/>
          </a:prstGeom>
          <a:ln w="19050">
            <a:solidFill>
              <a:srgbClr val="0F2540"/>
            </a:solidFill>
            <a:tailEnd type="triangle"/>
          </a:ln>
        </p:spPr>
      </p:cxnSp>
      <p:sp>
        <p:nvSpPr>
          <p:cNvPr id="21" name="View 21"/>
          <p:cNvSpPr/>
          <p:nvPr/>
        </p:nvSpPr>
        <p:spPr>
          <a:xfrm>
            <a:off x="381000" y="2095500"/>
            <a:ext cx="1714500" cy="1238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533400" y="2247900"/>
            <a:ext cx="14097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03DA5"/>
                </a:solidFill>
                <a:latin typeface="Arial"/>
              </a:rPr>
              <a:t>Weeks 1-3</a:t>
            </a:r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533400" y="2352675"/>
            <a:ext cx="14097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776"/>
              </a:lnSpc>
              <a:spcBef>
                <a:spcPts val="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Stakeholder alignment</a:t>
            </a:r>
            <a:endParaRPr lang="en-US" dirty="0"/>
          </a:p>
          <a:p>
            <a:pPr lvl="0"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Technical discovery</a:t>
            </a:r>
            <a:endParaRPr lang="en-US" dirty="0"/>
          </a:p>
          <a:p>
            <a:pPr lvl="0"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Architecture sign-off</a:t>
            </a:r>
            <a:endParaRPr lang="en-US" dirty="0"/>
          </a:p>
        </p:txBody>
      </p:sp>
      <p:sp>
        <p:nvSpPr>
          <p:cNvPr id="24" name="View 24"/>
          <p:cNvSpPr/>
          <p:nvPr/>
        </p:nvSpPr>
        <p:spPr>
          <a:xfrm>
            <a:off x="2476500" y="2095500"/>
            <a:ext cx="1714500" cy="1238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2628900" y="2247900"/>
            <a:ext cx="14097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070C0"/>
                </a:solidFill>
                <a:latin typeface="Arial"/>
              </a:rPr>
              <a:t>Weeks 4-9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2628900" y="2352675"/>
            <a:ext cx="14097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776"/>
              </a:lnSpc>
              <a:spcBef>
                <a:spcPts val="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Platform configuration</a:t>
            </a:r>
            <a:endParaRPr lang="en-US" dirty="0"/>
          </a:p>
          <a:p>
            <a:pPr lvl="0"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Data migration Wave 1</a:t>
            </a:r>
            <a:endParaRPr lang="en-US" dirty="0"/>
          </a:p>
          <a:p>
            <a:pPr lvl="0"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Integration development</a:t>
            </a:r>
            <a:endParaRPr lang="en-US" dirty="0"/>
          </a:p>
        </p:txBody>
      </p:sp>
      <p:sp>
        <p:nvSpPr>
          <p:cNvPr id="27" name="View 27"/>
          <p:cNvSpPr/>
          <p:nvPr/>
        </p:nvSpPr>
        <p:spPr>
          <a:xfrm>
            <a:off x="4572000" y="2095500"/>
            <a:ext cx="1714500" cy="1238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4724400" y="2247900"/>
            <a:ext cx="14097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Weeks 8-13</a:t>
            </a:r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4724400" y="2352675"/>
            <a:ext cx="14097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776"/>
              </a:lnSpc>
              <a:spcBef>
                <a:spcPts val="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UAT with 20 users</a:t>
            </a:r>
            <a:endParaRPr lang="en-US" dirty="0"/>
          </a:p>
          <a:p>
            <a:pPr lvl="0"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Performance validation</a:t>
            </a:r>
            <a:endParaRPr lang="en-US" dirty="0"/>
          </a:p>
          <a:p>
            <a:pPr lvl="0"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Defect remediation</a:t>
            </a:r>
            <a:endParaRPr lang="en-US" dirty="0"/>
          </a:p>
        </p:txBody>
      </p:sp>
      <p:sp>
        <p:nvSpPr>
          <p:cNvPr id="30" name="View 30"/>
          <p:cNvSpPr/>
          <p:nvPr/>
        </p:nvSpPr>
        <p:spPr>
          <a:xfrm>
            <a:off x="6667500" y="2095500"/>
            <a:ext cx="1714500" cy="1238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1" name="Text 31"/>
          <p:cNvSpPr txBox="1"/>
          <p:nvPr/>
        </p:nvSpPr>
        <p:spPr>
          <a:xfrm>
            <a:off x="6819900" y="2247900"/>
            <a:ext cx="14097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FFC000"/>
                </a:solidFill>
                <a:latin typeface="Arial"/>
              </a:rPr>
              <a:t>Weeks 12-16</a:t>
            </a:r>
            <a:endParaRPr lang="en-US" dirty="0"/>
          </a:p>
        </p:txBody>
      </p:sp>
      <p:sp>
        <p:nvSpPr>
          <p:cNvPr id="32" name="Text 32"/>
          <p:cNvSpPr txBox="1"/>
          <p:nvPr/>
        </p:nvSpPr>
        <p:spPr>
          <a:xfrm>
            <a:off x="6819900" y="2352675"/>
            <a:ext cx="14097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776"/>
              </a:lnSpc>
              <a:spcBef>
                <a:spcPts val="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End-user training</a:t>
            </a:r>
            <a:endParaRPr lang="en-US" dirty="0"/>
          </a:p>
          <a:p>
            <a:pPr lvl="0"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Staged rollout</a:t>
            </a:r>
            <a:endParaRPr lang="en-US" dirty="0"/>
          </a:p>
          <a:p>
            <a:pPr lvl="0"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30-day hypercare</a:t>
            </a:r>
            <a:endParaRPr lang="en-US" dirty="0"/>
          </a:p>
        </p:txBody>
      </p:sp>
      <p:sp>
        <p:nvSpPr>
          <p:cNvPr id="33" name="Text 33"/>
          <p:cNvSpPr txBox="1"/>
          <p:nvPr/>
        </p:nvSpPr>
        <p:spPr>
          <a:xfrm>
            <a:off x="381000" y="4953000"/>
            <a:ext cx="20669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Implementation Plan — Phase Gate Framework v1.2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Five clear next steps to move from proposal to signed contract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857250"/>
            <a:ext cx="381000" cy="381000"/>
          </a:xfrm>
          <a:prstGeom prst="roundRect">
            <a:avLst/>
          </a:prstGeom>
          <a:solidFill>
            <a:srgbClr val="003DA5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457200" y="938213"/>
            <a:ext cx="22860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Arial"/>
              </a:rPr>
              <a:t>1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952500" y="914400"/>
            <a:ext cx="76200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0F2540"/>
                </a:solidFill>
                <a:latin typeface="Arial"/>
              </a:rPr>
              <a:t>Schedule technical deep-dive with your IT architecture team (Week of March 11)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381000" y="1476375"/>
            <a:ext cx="381000" cy="381000"/>
          </a:xfrm>
          <a:prstGeom prst="roundRect">
            <a:avLst/>
          </a:prstGeom>
          <a:solidFill>
            <a:srgbClr val="003DA5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457200" y="1557338"/>
            <a:ext cx="22860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Arial"/>
              </a:rPr>
              <a:t>2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952500" y="1533525"/>
            <a:ext cx="76200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0F2540"/>
                </a:solidFill>
                <a:latin typeface="Arial"/>
              </a:rPr>
              <a:t>Conduct reference calls with Meridian Health and Atlas Financial (Week of March 18)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381000" y="2095500"/>
            <a:ext cx="381000" cy="381000"/>
          </a:xfrm>
          <a:prstGeom prst="roundRect">
            <a:avLst/>
          </a:prstGeom>
          <a:solidFill>
            <a:srgbClr val="003DA5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457200" y="2176463"/>
            <a:ext cx="22860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Arial"/>
              </a:rPr>
              <a:t>3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952500" y="2152650"/>
            <a:ext cx="76200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0F2540"/>
                </a:solidFill>
                <a:latin typeface="Arial"/>
              </a:rPr>
              <a:t>Complete security questionnaire review with your CISO office (Week of March 25)</a:t>
            </a:r>
            <a:endParaRPr lang="en-US" dirty="0"/>
          </a:p>
        </p:txBody>
      </p:sp>
      <p:sp>
        <p:nvSpPr>
          <p:cNvPr id="13" name="View 13"/>
          <p:cNvSpPr/>
          <p:nvPr/>
        </p:nvSpPr>
        <p:spPr>
          <a:xfrm>
            <a:off x="381000" y="2714625"/>
            <a:ext cx="381000" cy="381000"/>
          </a:xfrm>
          <a:prstGeom prst="roundRect">
            <a:avLst/>
          </a:prstGeom>
          <a:solidFill>
            <a:srgbClr val="003DA5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457200" y="2795588"/>
            <a:ext cx="22860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Arial"/>
              </a:rPr>
              <a:t>4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952500" y="2771775"/>
            <a:ext cx="76200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0F2540"/>
                </a:solidFill>
                <a:latin typeface="Arial"/>
              </a:rPr>
              <a:t>Finalize commercial terms and negotiate Master Services Agreement (Week of April 1)</a:t>
            </a:r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381000" y="3333750"/>
            <a:ext cx="381000" cy="381000"/>
          </a:xfrm>
          <a:prstGeom prst="roundRect">
            <a:avLst/>
          </a:prstGeom>
          <a:solidFill>
            <a:srgbClr val="003DA5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457200" y="3414713"/>
            <a:ext cx="22860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Arial"/>
              </a:rPr>
              <a:t>5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952500" y="3390900"/>
            <a:ext cx="76200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F2540"/>
                </a:solidFill>
                <a:latin typeface="Arial"/>
              </a:rPr>
              <a:t>Execute contract and kick off Phase 1 Discovery (Target: April 14, 2026)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F172A"/>
            </a:gs>
            <a:gs pos="100000">
              <a:srgbClr val="1E1B4B"/>
            </a:gs>
          </a:gsLst>
          <a:lin ang="4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952500"/>
            <a:ext cx="8001000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Arial"/>
              </a:rPr>
              <a:t>Thank You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571500" y="1714500"/>
            <a:ext cx="3810000" cy="1238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723900" y="1866900"/>
            <a:ext cx="35052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Primary Contact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23900" y="2057400"/>
            <a:ext cx="35052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Sarah Chen, Engagement Lead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723900" y="2219325"/>
            <a:ext cx="35052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Arial"/>
              </a:rPr>
              <a:t>sarah.chen@company.com  •  +1 (415) 555-0142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723900" y="2352675"/>
            <a:ext cx="35052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Arial"/>
              </a:rPr>
              <a:t>123 Market Street, Suite 400, San Francisco, CA 94105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4572000" y="1714500"/>
            <a:ext cx="3810000" cy="1238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4724400" y="1866900"/>
            <a:ext cx="35052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Legal &amp; Procurement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4724400" y="2057400"/>
            <a:ext cx="35052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James Patterson, VP Legal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4724400" y="2219325"/>
            <a:ext cx="35052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Arial"/>
              </a:rPr>
              <a:t>legal@company.com  •  +1 (415) 555-0199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4724400" y="2352675"/>
            <a:ext cx="35052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Arial"/>
              </a:rPr>
              <a:t>Contract terms valid for 90 days from submission date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71500" y="3619500"/>
            <a:ext cx="8001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0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This proposal is confidential and intended solely for GlobalCorp. Pricing is valid through June 30, 2026. All terms are subject to mutual agreement on a Master Services Agreement. This document does not constitute a binding contract.</a:t>
            </a:r>
            <a:endParaRPr lang="en-US" dirty="0"/>
          </a:p>
        </p:txBody>
      </p:sp>
      <p:pic>
        <p:nvPicPr>
          <p:cNvPr id="15" name="Image 1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4381500"/>
            <a:ext cx="952500" cy="333375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pic>
        <p:nvPicPr>
          <p:cNvPr id="16" name="Image 16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4381500"/>
            <a:ext cx="952500" cy="333375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</p:spTree>
  </p:cSld>
  <p:clrMapOvr>
    <a:masterClrMapping/>
  </p:clrMapOvr>
</p:sld>
</file>

<file path=ppt/theme/theme1.xml><?xml version="1.0" encoding="utf-8"?>
<a:theme xmlns:a="http://schemas.openxmlformats.org/drawingml/2006/main" name="LaunchMatrix">
  <a:themeElements>
    <a:clrScheme name="LaunchMatrix">
      <a:dk1>
        <a:srgbClr val="1B1B3A"/>
      </a:dk1>
      <a:lt1>
        <a:srgbClr val="FFFFFF"/>
      </a:lt1>
      <a:dk2>
        <a:srgbClr val="2D2D5E"/>
      </a:dk2>
      <a:lt2>
        <a:srgbClr val="F5F5F5"/>
      </a:lt2>
      <a:accent1>
        <a:srgbClr val="003DA5"/>
      </a:accent1>
      <a:accent2>
        <a:srgbClr val="0070C0"/>
      </a:accent2>
      <a:accent3>
        <a:srgbClr val="00B050"/>
      </a:accent3>
      <a:accent4>
        <a:srgbClr val="FFC000"/>
      </a:accent4>
      <a:accent5>
        <a:srgbClr val="FF6600"/>
      </a:accent5>
      <a:accent6>
        <a:srgbClr val="C000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22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Calibri</vt:lpstr>
      <vt:lpstr>Calibri Light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GlobalCorp — Response to RFP #2026-0142</dc:title>
  <dc:creator>PaperJSX</dc:creator>
  <cp:lastModifiedBy>PaperJSX</cp:lastModifiedBy>
  <cp:revision>1</cp:revision>
  <dcterms:created xsi:type="dcterms:W3CDTF">2026-03-08T10:06:15Z</dcterms:created>
  <dcterms:modified xsi:type="dcterms:W3CDTF">2026-03-08T10:06:15Z</dcterms:modified>
</cp:coreProperties>
</file>