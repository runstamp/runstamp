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presProps" Target="presProps.xml"/>
  <Relationship Id="rId24" Type="http://schemas.openxmlformats.org/officeDocument/2006/relationships/viewProps" Target="viewProps.xml"/>
  <Relationship Id="rId25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Subscriptions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1</c:v>
                </c:pt>
                <c:pt idx="2">
                  <c:v>1.2</c:v>
                </c:pt>
                <c:pt idx="3">
                  <c:v>1.5</c:v>
                </c:pt>
                <c:pt idx="4">
                  <c:v>1.8</c:v>
                </c:pt>
                <c:pt idx="5">
                  <c:v>2.1</c:v>
                </c:pt>
                <c:pt idx="6">
                  <c:v>2.5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Professional Services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0.3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Platform &amp; Marketplace</c:v>
                </c:pt>
              </c:strCache>
            </c:strRef>
          </c:tx>
          <c:spPr>
            <a:solidFill>
              <a:srgbClr val="60A5FA"/>
            </a:solidFill>
          </c:spP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0.5</c:v>
                </c:pt>
                <c:pt idx="7">
                  <c:v>0.7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Quarter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Revenue ($M)</a:t>
                </a:r>
              </a:p>
            </c:rich>
          </c:tx>
          <c:overlay val="0"/>
        </c:title>
        <c:numFmt formatCode="$#,##0.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Business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1.5</c:v>
                </c:pt>
                <c:pt idx="2">
                  <c:v>1.8</c:v>
                </c:pt>
                <c:pt idx="3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Expansion</c:v>
                </c:pt>
              </c:strCache>
            </c:strRef>
          </c:tx>
          <c:spPr>
            <a:solidFill>
              <a:srgbClr val="60A5FA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0.6</c:v>
                </c:pt>
                <c:pt idx="2">
                  <c:v>0.8</c:v>
                </c:pt>
                <c:pt idx="3">
                  <c:v>1.2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$#,##0.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DAU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12400</c:v>
                </c:pt>
                <c:pt idx="1">
                  <c:v>14200</c:v>
                </c:pt>
                <c:pt idx="2">
                  <c:v>15800</c:v>
                </c:pt>
                <c:pt idx="3">
                  <c:v>18200</c:v>
                </c:pt>
                <c:pt idx="4">
                  <c:v>21500</c:v>
                </c:pt>
                <c:pt idx="5">
                  <c:v>24800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WAU</c:v>
                </c:pt>
              </c:strCache>
            </c:strRef>
          </c:tx>
          <c:spPr>
            <a:solidFill>
              <a:srgbClr val="60A5FA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28600</c:v>
                </c:pt>
                <c:pt idx="1">
                  <c:v>31400</c:v>
                </c:pt>
                <c:pt idx="2">
                  <c:v>34200</c:v>
                </c:pt>
                <c:pt idx="3">
                  <c:v>38900</c:v>
                </c:pt>
                <c:pt idx="4">
                  <c:v>44100</c:v>
                </c:pt>
                <c:pt idx="5">
                  <c:v>51200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 (pts/sprint)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94</c:v>
                </c:pt>
                <c:pt idx="2">
                  <c:v>108</c:v>
                </c:pt>
                <c:pt idx="3">
                  <c:v>126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Incidents (P1/P2)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png"/>
  <Relationship Id="rId4" Type="http://schemas.openxmlformats.org/officeDocument/2006/relationships/image" Target="../media/image1.png"/>
  <Relationship Id="rId5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png"/>
  <Relationship Id="rId4" Type="http://schemas.openxmlformats.org/officeDocument/2006/relationships/image" Target="../media/image2.png"/>
  <Relationship Id="rId5" Type="http://schemas.openxmlformats.org/officeDocument/2006/relationships/image" Target="../media/image2.png"/>
  <Relationship Id="rId6" Type="http://schemas.openxmlformats.org/officeDocument/2006/relationships/image" Target="../media/image2.png"/>
  <Relationship Id="rId7" Type="http://schemas.openxmlformats.org/officeDocument/2006/relationships/image" Target="../media/image2.png"/>
  <Relationship Id="rId8" Type="http://schemas.openxmlformats.org/officeDocument/2006/relationships/image" Target="../media/image2.png"/>
  <Relationship Id="rId9" Type="http://schemas.openxmlformats.org/officeDocument/2006/relationships/image" Target="../media/image2.png"/>
  <Relationship Id="rId10" Type="http://schemas.openxmlformats.org/officeDocument/2006/relationships/image" Target="../media/image2.png"/>
  <Relationship Id="rId11" Type="http://schemas.openxmlformats.org/officeDocument/2006/relationships/image" Target="../media/image2.png"/>
  <Relationship Id="rId12" Type="http://schemas.openxmlformats.org/officeDocument/2006/relationships/image" Target="../media/image2.png"/>
  <Relationship Id="rId13" Type="http://schemas.openxmlformats.org/officeDocument/2006/relationships/image" Target="../media/image2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png"/>
  <Relationship Id="rId4" Type="http://schemas.openxmlformats.org/officeDocument/2006/relationships/image" Target="../media/image2.png"/>
  <Relationship Id="rId5" Type="http://schemas.openxmlformats.org/officeDocument/2006/relationships/image" Target="../media/image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524000"/>
            <a:ext cx="8001000" cy="3524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Company All-Hands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2095500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Q4 2025 • December 15, 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1E1B4B"/>
            </a:gs>
            <a:gs pos="100000">
              <a:srgbClr val="312E8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143000"/>
            <a:ext cx="76200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380"/>
              </a:lnSpc>
            </a:pPr>
            <a:r>
              <a:rPr lang="en-US" sz="1200" b="1" dirty="0">
                <a:solidFill>
                  <a:srgbClr val="FFC000"/>
                </a:solidFill>
                <a:latin typeface="Arial"/>
              </a:rPr>
              <a:t>Fun Fact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7145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600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Our team has collectively visited 47 countries this year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857500"/>
            <a:ext cx="7620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Share yours in #random!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From the CEO: Building the next chapter of durable growth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381000" y="7620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475569"/>
                </a:solidFill>
                <a:latin typeface="Arial"/>
              </a:rPr>
              <a:t>We closed our strongest quarter ever — but what excites me most is the foundation we've built for the years ahead.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81000" y="1428750"/>
            <a:ext cx="257175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58115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1. Customer Obsession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771650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NPS reached 72 — a record high. Every team contributed to this outcome.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238500" y="1428750"/>
            <a:ext cx="257175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90900" y="158115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2. Operational Excellence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390900" y="1771650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Gross margin improved 400bps YoY while accelerating R&amp;D investment.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6096000" y="1428750"/>
            <a:ext cx="257175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6248400" y="158115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3. Talent Density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248400" y="1771650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We grew headcount 40% while improving revenue per employee by 15%.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50000">
              <a:srgbClr val="1E1B4B"/>
            </a:gs>
            <a:gs pos="100000">
              <a:srgbClr val="312E81"/>
            </a:gs>
          </a:gsLst>
          <a:lin ang="3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333500"/>
            <a:ext cx="7620000" cy="790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209"/>
              </a:lnSpc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$10M ARR!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381250"/>
            <a:ext cx="76200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552"/>
              </a:lnSpc>
            </a:pPr>
            <a:r>
              <a:rPr lang="en-US" sz="1350" dirty="0">
                <a:solidFill>
                  <a:srgbClr val="94A3B8"/>
                </a:solidFill>
                <a:latin typeface="Arial"/>
              </a:rPr>
              <a:t>Crossed in November — 18 months ahead of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857500"/>
            <a:ext cx="7620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dirty="0">
                <a:solidFill>
                  <a:srgbClr val="FFC000"/>
                </a:solidFill>
                <a:latin typeface="Arial"/>
              </a:rPr>
              <a:t>Thank you to every single person in this room.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Company scorecard shows broad-based strength across all key metrics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219200" y="942975"/>
            <a:ext cx="8953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$10.2M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562100" y="12858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ARR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438275" y="14192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+68% YoY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105150" y="76200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162425" y="942975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342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152900" y="1285875"/>
            <a:ext cx="476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Customers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162425" y="14192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+45% YoY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829300" y="76200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962775" y="942975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72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010400" y="12858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NPS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867525" y="1419225"/>
            <a:ext cx="4953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+8pts QoQ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81000" y="186690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1438275" y="2047875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156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1428750" y="2390775"/>
            <a:ext cx="476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Headcount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1438275" y="25241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+40% YoY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105150" y="186690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4048125" y="2047875"/>
            <a:ext cx="6858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118%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3895725" y="2390775"/>
            <a:ext cx="9906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Net Revenue Retention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4162425" y="25241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+6pts YoY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5829300" y="186690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838950" y="2047875"/>
            <a:ext cx="5524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78%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6819900" y="2390775"/>
            <a:ext cx="590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Gross Margin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6886575" y="25241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+4pts YoY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81000" y="4953000"/>
            <a:ext cx="13430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Finance &amp; RevOps — Q4 2025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mix shift toward higher-margin SaaS underscores platform scalability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4001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Finance — FY2024-2025 actuals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Four marquee logos closed in Q4, validating enterprise readiness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952500"/>
            <a:ext cx="1905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04900"/>
            <a:ext cx="571500" cy="2857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533400" y="14668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Meridian Health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657350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B050"/>
                </a:solidFill>
                <a:latin typeface="Arial"/>
              </a:rPr>
              <a:t>$420K ACV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885950"/>
            <a:ext cx="1600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Healthcare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2476500" y="952500"/>
            <a:ext cx="1905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0" name="Image 10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1104900"/>
            <a:ext cx="571500" cy="2857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1" name="Text 11"/>
          <p:cNvSpPr txBox="1"/>
          <p:nvPr/>
        </p:nvSpPr>
        <p:spPr>
          <a:xfrm>
            <a:off x="2628900" y="14668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Atlas Financial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628900" y="1657350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B050"/>
                </a:solidFill>
                <a:latin typeface="Arial"/>
              </a:rPr>
              <a:t>$385K ACV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628900" y="1885950"/>
            <a:ext cx="1600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Financial Services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4572000" y="952500"/>
            <a:ext cx="1905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5" name="Image 1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104900"/>
            <a:ext cx="571500" cy="2857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6" name="Text 16"/>
          <p:cNvSpPr txBox="1"/>
          <p:nvPr/>
        </p:nvSpPr>
        <p:spPr>
          <a:xfrm>
            <a:off x="4724400" y="14668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NovaTech Mfg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724400" y="1657350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B050"/>
                </a:solidFill>
                <a:latin typeface="Arial"/>
              </a:rPr>
              <a:t>$310K ACV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4724400" y="1885950"/>
            <a:ext cx="1600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Manufacturing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6667500" y="952500"/>
            <a:ext cx="1905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20" name="Image 20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1104900"/>
            <a:ext cx="571500" cy="2857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21" name="Text 21"/>
          <p:cNvSpPr txBox="1"/>
          <p:nvPr/>
        </p:nvSpPr>
        <p:spPr>
          <a:xfrm>
            <a:off x="6819900" y="14668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Pinnacle Retail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819900" y="1657350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B050"/>
                </a:solidFill>
                <a:latin typeface="Arial"/>
              </a:rPr>
              <a:t>$275K ACV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819900" y="1885950"/>
            <a:ext cx="1600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Retail &amp; CPG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381000" y="4953000"/>
            <a:ext cx="12763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CRM — Q4 2025 closed-won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Sales: Pipeline coverage at 4.2x signals strong Q1 momentum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857250"/>
          <a:ext cx="428625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4953000" y="857250"/>
            <a:ext cx="3810000" cy="485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949"/>
              </a:lnSpc>
              <a:spcBef>
                <a:spcPts val="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Closed $8.6M in new ACV (+72% YoY)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Average deal size up 35% to $185K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Win rate improved from 22% to 28%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Pipeline coverage at 4.2x for Q1'26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953000" y="3048000"/>
            <a:ext cx="1905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562600" y="3181350"/>
            <a:ext cx="6858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112%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534025" y="3524250"/>
            <a:ext cx="742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Quota Attainment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629275" y="3657600"/>
            <a:ext cx="552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+18pts QoQ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4953000"/>
            <a:ext cx="12382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CRM &amp; RevOps — Q4 2025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Product: DAU doubled in H2 as new collaboration features drove daily habit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857250"/>
          <a:ext cx="428625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4953000" y="857250"/>
            <a:ext cx="3810000" cy="485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949"/>
              </a:lnSpc>
              <a:spcBef>
                <a:spcPts val="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Shipped 42 features (vs. 28 in H1)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Real-time collaboration launched — 68% adoption in 4 weeks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P99 latency reduced from 320ms to 180ms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Mobile app launched on iOS and Android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953000" y="3048000"/>
            <a:ext cx="1905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629275" y="3181350"/>
            <a:ext cx="5524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68%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534025" y="3524250"/>
            <a:ext cx="742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Feature Adoption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648325" y="3657600"/>
            <a:ext cx="5143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4-week avg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4953000"/>
            <a:ext cx="12858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Product Analytics — H2 2025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Engineering: Velocity up 54% while P1 incidents dropped 75%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857250"/>
          <a:ext cx="428625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4953000" y="857250"/>
            <a:ext cx="3810000" cy="485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949"/>
              </a:lnSpc>
              <a:spcBef>
                <a:spcPts val="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Migrated to Kubernetes — 99.99% uptime in Q4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CI/CD pipeline reduced deploy time from 45min to 8min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Test coverage increased from 72% to 91%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Hired 18 engineers (4 staff+, 14 senior)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953000" y="3048000"/>
            <a:ext cx="1905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48300" y="3181350"/>
            <a:ext cx="9144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99.99%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753100" y="3524250"/>
            <a:ext cx="3048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Uptime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43575" y="3657600"/>
            <a:ext cx="3238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Q4 avg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4953000"/>
            <a:ext cx="12668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Engineering Ops — Q4 2025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Welcome to the 24 new team members who joined in Q4</a:t>
            </a:r>
            <a:endParaRPr lang="en-US" dirty="0"/>
          </a:p>
        </p:txBody>
      </p:sp>
      <p:grpSp>
        <p:nvGrpSpPr>
          <p:cNvPr id="4" name="Group 4"/>
          <p:cNvGrpSpPr>
            <a:grpSpLocks noGrp="1"/>
          </p:cNvGrpSpPr>
          <p:nvPr/>
        </p:nvGrpSpPr>
        <p:grpSpPr>
          <a:xfrm>
            <a:off x="381000" y="762000"/>
            <a:ext cx="8382000" cy="3429000"/>
            <a:chOff x="0" y="0"/>
            <a:chExt cx="8382000" cy="3429000"/>
          </a:xfrm>
        </p:grpSpPr>
        <p:pic>
          <p:nvPicPr>
            <p:cNvPr id="5" name="Image 5"/>
            <p:cNvPicPr>
              <a:picLocks noGrp="1"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6" name="Image 6"/>
            <p:cNvPicPr>
              <a:picLocks noGrp="1"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4550" y="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7" name="Image 7"/>
            <p:cNvPicPr>
              <a:picLocks noGrp="1"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100" y="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8" name="Image 8"/>
            <p:cNvPicPr>
              <a:picLocks noGrp="1"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650" y="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9" name="Image 9"/>
            <p:cNvPicPr>
              <a:picLocks noGrp="1"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143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0" name="Image 10"/>
            <p:cNvPicPr>
              <a:picLocks noGrp="1"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4550" y="1143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1" name="Image 11"/>
            <p:cNvPicPr>
              <a:picLocks noGrp="1"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100" y="1143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2" name="Image 12"/>
            <p:cNvPicPr>
              <a:picLocks noGrp="1"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650" y="1143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3" name="Image 13"/>
            <p:cNvPicPr>
              <a:picLocks noGrp="1"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86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4" name="Image 14"/>
            <p:cNvPicPr>
              <a:picLocks noGrp="1"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4550" y="2286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5" name="Image 15"/>
            <p:cNvPicPr>
              <a:picLocks noGrp="1"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100" y="2286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6" name="Image 16"/>
            <p:cNvPicPr>
              <a:picLocks noGrp="1"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650" y="2286000"/>
              <a:ext cx="2038350" cy="10668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</p:grpSp>
      <p:sp>
        <p:nvSpPr>
          <p:cNvPr id="17" name="Text 17"/>
          <p:cNvSpPr txBox="1"/>
          <p:nvPr/>
        </p:nvSpPr>
        <p:spPr>
          <a:xfrm>
            <a:off x="381000" y="4381500"/>
            <a:ext cx="8382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Engineering (8) • Product (4) • Sales (5) • G&amp;A (3) • Marketing (4)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Celebrating our Q4 promotions — growth fueled by impact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39052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14400"/>
            <a:ext cx="419100" cy="4191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533400" y="139065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Priya Sharma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54305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B050"/>
                </a:solidFill>
                <a:latin typeface="Arial"/>
              </a:rPr>
              <a:t>Senior Engineer → Staff Engineer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71450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"Led the Kubernetes migration that achieved 99.99% uptime."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4667250" y="762000"/>
            <a:ext cx="39052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0" name="Image 10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0" y="914400"/>
            <a:ext cx="419100" cy="4191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1" name="Text 11"/>
          <p:cNvSpPr txBox="1"/>
          <p:nvPr/>
        </p:nvSpPr>
        <p:spPr>
          <a:xfrm>
            <a:off x="4819650" y="139065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James Walker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819650" y="154305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B050"/>
                </a:solidFill>
                <a:latin typeface="Arial"/>
              </a:rPr>
              <a:t>AE → Senior AE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819650" y="171450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"Closed 3 of our top 5 deals including Meridian Health."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381000" y="2476500"/>
            <a:ext cx="39052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5" name="Image 1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628900"/>
            <a:ext cx="419100" cy="4191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6" name="Text 16"/>
          <p:cNvSpPr txBox="1"/>
          <p:nvPr/>
        </p:nvSpPr>
        <p:spPr>
          <a:xfrm>
            <a:off x="533400" y="310515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Sofia Martinez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33400" y="325755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B050"/>
                </a:solidFill>
                <a:latin typeface="Arial"/>
              </a:rPr>
              <a:t>Product Manager → Senior PM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33400" y="342900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"Drove collaboration feature from concept to 68% adoption."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667250" y="2476500"/>
            <a:ext cx="39052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20" name="Image 20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0" y="2628900"/>
            <a:ext cx="419100" cy="4191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21" name="Text 21"/>
          <p:cNvSpPr txBox="1"/>
          <p:nvPr/>
        </p:nvSpPr>
        <p:spPr>
          <a:xfrm>
            <a:off x="4819650" y="310515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David Okafor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819650" y="325755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B050"/>
                </a:solidFill>
                <a:latin typeface="Arial"/>
              </a:rPr>
              <a:t>CSM → CS Team Lead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4819650" y="3429000"/>
            <a:ext cx="3600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"Grew book of business NRR from 108% to 124%."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Product roadmap balances near-term wins with long-term platform bets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57175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81000" y="762000"/>
            <a:ext cx="9144000" cy="3810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009650"/>
            <a:ext cx="226695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Now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200150"/>
            <a:ext cx="22669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Q1 2026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371600"/>
            <a:ext cx="22669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API v2 with GraphQL support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SOC 2 Type II certification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Advanced permissions engine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Slack &amp; Teams integrations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3238500" y="762000"/>
            <a:ext cx="257175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238500" y="762000"/>
            <a:ext cx="9144000" cy="38100"/>
          </a:xfrm>
          <a:prstGeom prst="rect">
            <a:avLst/>
          </a:prstGeom>
          <a:solidFill>
            <a:srgbClr val="FFC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390900" y="1009650"/>
            <a:ext cx="226695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Next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390900" y="1200150"/>
            <a:ext cx="22669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Q2 2026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390900" y="1371600"/>
            <a:ext cx="22669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Enterprise SSO &amp; SCIM provisioning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Multi-region deployment (EU, APAC)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AI-powered anomaly detection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Custom workflow builder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6096000" y="762000"/>
            <a:ext cx="257175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6096000" y="76200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248400" y="1009650"/>
            <a:ext cx="226695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Later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248400" y="1200150"/>
            <a:ext cx="22669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H2 2026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248400" y="1371600"/>
            <a:ext cx="22669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Embedded analytics marketplace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Low-code extension framework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Self-serve onboarding portal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334155"/>
                </a:solidFill>
                <a:latin typeface="Arial"/>
              </a:rPr>
              <a:t>FedRAMP Moderate certification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Our culture metrics reflect an increasingly diverse and engaged team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3810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Our Mission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2395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50"/>
              </a:lnSpc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Empower every organization to make better decisions through data clarity and collaboration.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572000" y="762000"/>
            <a:ext cx="38100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24400" y="91440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DEI Metrics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24400" y="1123950"/>
            <a:ext cx="3505200" cy="3381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Women in leadership: 42% (+6pts YoY)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Underrepresented minorities: 34% (+4pts)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Pay equity audit: 99.2% parity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2286000"/>
            <a:ext cx="83820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2438400"/>
            <a:ext cx="8077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Upcoming Events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2647950"/>
            <a:ext cx="80772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Jan 15 — Company ski trip (Tahoe)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Feb 1 — Hackathon Week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Mar 10 — Annual offsite (Austin)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Apr 22 — Earth Day volunteer day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13430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People Ops — December 2025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Three headwinds we must address to sustain growth trajectory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8382000" cy="9525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991B1B"/>
                </a:solidFill>
                <a:latin typeface="Arial"/>
              </a:rPr>
              <a:t>1. Enterprise Sales Cycle Length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04900"/>
            <a:ext cx="80772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Average enterprise cycle stretched from 68 to 92 days due to procurement complexity. Action: dedicated deal desk team starting Q1.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81000" y="1857375"/>
            <a:ext cx="8382000" cy="9525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2009775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92400E"/>
                </a:solidFill>
                <a:latin typeface="Arial"/>
              </a:rPr>
              <a:t>2. Engineering Hiring Velocity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33400" y="2200275"/>
            <a:ext cx="80772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Time-to-fill for senior engineers is 58 days (target: 40). Action: expanding referral bonus to $15K and adding 2 sourcers.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2952750"/>
            <a:ext cx="8382000" cy="9525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310515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92400E"/>
                </a:solidFill>
                <a:latin typeface="Arial"/>
              </a:rPr>
              <a:t>3. International Expansion Readiness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3295650"/>
            <a:ext cx="80772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GDPR compliance complete but APAC data residency requirements need engineering investment. Action: Q2 sprint allocated for multi-region.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Q1 2026 priorities: close the gap on enterprise readiness and international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571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3DA5"/>
                </a:solidFill>
                <a:latin typeface="Arial"/>
              </a:rPr>
              <a:t>Revenue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076325"/>
            <a:ext cx="22669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Hit $3.2M quarterly ARR target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Close 2 Fortune 500 logos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Launch partner channel program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238500" y="762000"/>
            <a:ext cx="2571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390900" y="91440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3DA5"/>
                </a:solidFill>
                <a:latin typeface="Arial"/>
              </a:rPr>
              <a:t>Product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90900" y="1076325"/>
            <a:ext cx="22669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Ship API v2 (GraphQL)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Complete SOC 2 Type II audit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Launch AI insights beta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096000" y="762000"/>
            <a:ext cx="2571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248400" y="91440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3DA5"/>
                </a:solidFill>
                <a:latin typeface="Arial"/>
              </a:rPr>
              <a:t>People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6248400" y="1076325"/>
            <a:ext cx="22669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Hire 22 across eng + sales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Launch manager training program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Open London office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714500"/>
            <a:ext cx="76200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450"/>
              </a:lnSpc>
            </a:pPr>
            <a:r>
              <a:rPr lang="en-US" sz="3000" b="1" dirty="0">
                <a:solidFill>
                  <a:srgbClr val="FFFFFF"/>
                </a:solidFill>
                <a:latin typeface="Arial"/>
              </a:rPr>
              <a:t>Your Questions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476500"/>
            <a:ext cx="7620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Submit live at go/allhands-questions or raise your hand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 A: Detailed Financial Metrics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43900" cy="1"/>
        </p:xfrm>
        <a:graphic>
          <a:graphicData uri="http://schemas.openxmlformats.org/drawingml/2006/table">
            <a:tbl>
              <a:tblPr firstRow="0" bandRow="1"/>
              <a:tblGrid>
                <a:gridCol w="1390650"/>
                <a:gridCol w="1390650"/>
                <a:gridCol w="1390650"/>
                <a:gridCol w="1390650"/>
                <a:gridCol w="1390650"/>
                <a:gridCol w="13906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Q3'25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$1.7M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$2.1M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$2.6M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$3.4M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$9.8M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SaaS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$1.9M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$2.5M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$7.1M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Services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$0.5M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$0.6M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$0.7M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$0.9M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$2.7M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Margin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CAC Payback (mo)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LTV:CAC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Burn Multiple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Cash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$18.2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$16.4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$15.1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3144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Finance — Unaudited FY2025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 B: Q1 2026 Hiring Plan by Department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1"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Current HC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 Target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Open Reqs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Priority Roles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Engineering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Staff Eng (2), Backend (4), Infra (3), QA (3)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Sales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Enterprise AE (3), SDR (2), SE (1)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Product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Senior PM (1), Designer (1), Analyst (1)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Marketing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Growth (1), Content (1)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Customer Success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Enterprise CSM (2), Onboarding (1)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G&amp;A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Controller (1), Recruiter (1)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6097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People Ops — Approved Q1 2026 plan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 C: Competitive landscape favors our platform approach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1"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gridSpan="4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Market Comparison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Us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Competitor 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Competitor B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Competitor 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Real-time Collaboration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◐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Enterprise SSO/SCIM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Q1'26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API-first Architecture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◐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Multi-region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Q2'26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AI/ML Insights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Beta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Mobile App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◐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SOC 2 Type II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Q1'26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Pricing (per seat)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5144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Competitive Intel — December 2025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20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All-Hands — Q4 2025</dc:title>
  <dc:creator>PaperJSX</dc:creator>
  <cp:lastModifiedBy>PaperJSX</cp:lastModifiedBy>
  <cp:revision>1</cp:revision>
  <dcterms:created xsi:type="dcterms:W3CDTF">2026-03-08T10:06:15Z</dcterms:created>
  <dcterms:modified xsi:type="dcterms:W3CDTF">2026-03-08T10:06:15Z</dcterms:modified>
</cp:coreProperties>
</file>