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png"/>
  <Relationship Id="rId4" Type="http://schemas.openxmlformats.org/officeDocument/2006/relationships/image" Target="../media/image1.png"/>
  <Relationship Id="rId5" Type="http://schemas.openxmlformats.org/officeDocument/2006/relationships/image" Target="../media/image1.png"/>
  <Relationship Id="rId6" Type="http://schemas.openxmlformats.org/officeDocument/2006/relationships/image" Target="../media/image1.png"/>
  <Relationship Id="rId7" Type="http://schemas.openxmlformats.org/officeDocument/2006/relationships/image" Target="../media/image1.png"/>
  <Relationship Id="rId8" Type="http://schemas.openxmlformats.org/officeDocument/2006/relationships/image" Target="../media/image1.png"/>
  <Relationship Id="rId9" Type="http://schemas.openxmlformats.org/officeDocument/2006/relationships/image" Target="../media/image1.png"/>
  <Relationship Id="rId10" Type="http://schemas.openxmlformats.org/officeDocument/2006/relationships/image" Target="../media/image1.png"/>
  <Relationship Id="rId11" Type="http://schemas.openxmlformats.org/officeDocument/2006/relationships/image" Target="../media/image1.png"/>
  <Relationship Id="rId12" Type="http://schemas.openxmlformats.org/officeDocument/2006/relationships/image" Target="../media/image1.png"/>
  <Relationship Id="rId13" Type="http://schemas.openxmlformats.org/officeDocument/2006/relationships/image" Target="../media/image1.png"/>
  <Relationship Id="rId14" Type="http://schemas.openxmlformats.org/officeDocument/2006/relationships/image" Target="../media/image1.png"/>
  <Relationship Id="rId15" Type="http://schemas.openxmlformats.org/officeDocument/2006/relationships/image" Target="../media/image1.png"/>
  <Relationship Id="rId16" Type="http://schemas.openxmlformats.org/officeDocument/2006/relationships/image" Target="../media/image1.png"/>
  <Relationship Id="rId17" Type="http://schemas.openxmlformats.org/officeDocument/2006/relationships/image" Target="../media/image1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1E1B4B"/>
            </a:gs>
          </a:gsLst>
          <a:lin ang="4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333500"/>
            <a:ext cx="57150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</a:rPr>
              <a:t>Acme Solutions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1905000"/>
            <a:ext cx="6667500" cy="180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dirty="0">
                <a:solidFill>
                  <a:srgbClr val="94A3B8"/>
                </a:solidFill>
                <a:latin typeface="Arial"/>
              </a:rPr>
              <a:t>Accelerating Digital Transformation for Enterprise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71500" y="2286000"/>
            <a:ext cx="47625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94A3B8"/>
                </a:solidFill>
                <a:latin typeface="Arial"/>
              </a:rPr>
              <a:t>Prepared for GlobalCorp  •  March 2026</a:t>
            </a:r>
            <a:endParaRPr lang="en-US" dirty="0"/>
          </a:p>
        </p:txBody>
      </p:sp>
      <p:pic>
        <p:nvPicPr>
          <p:cNvPr id="6" name="Image 6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1524000"/>
            <a:ext cx="1333500" cy="7620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143000"/>
            <a:ext cx="76200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4140"/>
              </a:lnSpc>
            </a:pPr>
            <a:r>
              <a:rPr lang="en-US" sz="3600" b="1" dirty="0">
                <a:solidFill>
                  <a:srgbClr val="FFFFFF"/>
                </a:solidFill>
                <a:latin typeface="Arial"/>
              </a:rPr>
              <a:t>73%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143000" y="1905000"/>
            <a:ext cx="68580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725"/>
              </a:lnSpc>
            </a:pPr>
            <a:r>
              <a:rPr lang="en-US" sz="1500" dirty="0">
                <a:solidFill>
                  <a:srgbClr val="94A3B8"/>
                </a:solidFill>
                <a:latin typeface="Arial"/>
              </a:rPr>
              <a:t>of enterprises will adopt AI-driven workflows by 2027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1333500" y="2476500"/>
            <a:ext cx="6477000" cy="381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"/>
              </a:lnSpc>
            </a:pPr>
            <a:r>
              <a:rPr lang="en-US" sz="975" dirty="0">
                <a:solidFill>
                  <a:srgbClr val="64748B"/>
                </a:solidFill>
                <a:latin typeface="Arial"/>
              </a:rPr>
              <a:t>The market is shifting from manual processes to intelligent automation at an unprecedented pace. Organizations that fail to adapt risk losing competitive advantage within 18 months.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381000" y="4953000"/>
            <a:ext cx="14001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Gartner Technology Trends 2026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Your teams are spending too much time on low-value work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952500"/>
            <a:ext cx="247650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1104900"/>
            <a:ext cx="21717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dirty="0">
                <a:solidFill>
                  <a:srgbClr val="000000"/>
                </a:solidFill>
                <a:latin typeface="Arial"/>
              </a:rPr>
              <a:t>⏱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485900"/>
            <a:ext cx="2171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Manual Processes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714500"/>
            <a:ext cx="2171700" cy="285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13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Teams spend 60% of their time on repetitive data entry and reconciliation across siloed systems.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048000" y="952500"/>
            <a:ext cx="247650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200400" y="1104900"/>
            <a:ext cx="21717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dirty="0">
                <a:solidFill>
                  <a:srgbClr val="000000"/>
                </a:solidFill>
                <a:latin typeface="Arial"/>
              </a:rPr>
              <a:t>🔍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200400" y="1485900"/>
            <a:ext cx="2171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Poor Visibility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3200400" y="1714500"/>
            <a:ext cx="2171700" cy="5238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13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Leadership lacks real-time insight into pipeline health, forcing decisions based on stale weekly reports.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5715000" y="952500"/>
            <a:ext cx="247650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867400" y="1104900"/>
            <a:ext cx="21717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dirty="0">
                <a:solidFill>
                  <a:srgbClr val="000000"/>
                </a:solidFill>
                <a:latin typeface="Arial"/>
              </a:rPr>
              <a:t>📉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867400" y="1485900"/>
            <a:ext cx="2171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Revenue Leakage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5867400" y="1714500"/>
            <a:ext cx="2171700" cy="285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13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Inconsistent workflows and human error result in 12-18% revenue leakage across the sales cycle.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Every quarter of delay compounds the cost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24765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1247775" y="1038225"/>
            <a:ext cx="7429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C00000"/>
                </a:solidFill>
                <a:latin typeface="Arial"/>
              </a:rPr>
              <a:t>$4.2M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1181100" y="1381125"/>
            <a:ext cx="8763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Lost Revenue / Year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162050" y="1514475"/>
            <a:ext cx="9144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C00000"/>
                </a:solidFill>
                <a:latin typeface="Arial"/>
              </a:rPr>
              <a:t>↑ Growing 15% QoQ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009900" y="762000"/>
            <a:ext cx="24765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590925" y="1038225"/>
            <a:ext cx="13144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C00000"/>
                </a:solidFill>
                <a:latin typeface="Arial"/>
              </a:rPr>
              <a:t>28,000 hrs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838575" y="1381125"/>
            <a:ext cx="8191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Wasted FTE Hours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3752850" y="1514475"/>
            <a:ext cx="9906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C000"/>
                </a:solidFill>
                <a:latin typeface="Arial"/>
              </a:rPr>
              <a:t>Equivalent to 14 FTEs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5638800" y="762000"/>
            <a:ext cx="24765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6600825" y="1038225"/>
            <a:ext cx="5524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C00000"/>
                </a:solidFill>
                <a:latin typeface="Arial"/>
              </a:rPr>
              <a:t>23%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6419850" y="1381125"/>
            <a:ext cx="914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Customer Churn Risk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419850" y="1514475"/>
            <a:ext cx="9144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C00000"/>
                </a:solidFill>
                <a:latin typeface="Arial"/>
              </a:rPr>
              <a:t>3× industry average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62000" y="2667000"/>
            <a:ext cx="7620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121"/>
              </a:lnSpc>
            </a:pPr>
            <a:r>
              <a:rPr lang="en-US" sz="975" i="1" dirty="0">
                <a:solidFill>
                  <a:srgbClr val="475569"/>
                </a:solidFill>
                <a:latin typeface="Arial"/>
              </a:rPr>
              <a:t>Based on current trajectory, GlobalCorp stands to lose $16.8M over the next 4 years without intervention.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Trusted by 500+ enterprises worldwide</a:t>
            </a:r>
            <a:endParaRPr lang="en-US" dirty="0"/>
          </a:p>
        </p:txBody>
      </p:sp>
      <p:grpSp>
        <p:nvGrpSpPr>
          <p:cNvPr id="4" name="Group 4"/>
          <p:cNvGrpSpPr>
            <a:grpSpLocks noGrp="1"/>
          </p:cNvGrpSpPr>
          <p:nvPr/>
        </p:nvGrpSpPr>
        <p:grpSpPr>
          <a:xfrm>
            <a:off x="762000" y="857250"/>
            <a:ext cx="7620000" cy="3429000"/>
            <a:chOff x="0" y="0"/>
            <a:chExt cx="7620000" cy="3429000"/>
          </a:xfrm>
        </p:grpSpPr>
        <p:pic>
          <p:nvPicPr>
            <p:cNvPr id="5" name="Image 5"/>
            <p:cNvPicPr>
              <a:picLocks noGrp="1"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6" name="Image 6"/>
            <p:cNvPicPr>
              <a:picLocks noGrp="1"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3100" y="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7" name="Image 7"/>
            <p:cNvPicPr>
              <a:picLocks noGrp="1"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6200" y="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8" name="Image 8"/>
            <p:cNvPicPr>
              <a:picLocks noGrp="1"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9300" y="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9" name="Image 9"/>
            <p:cNvPicPr>
              <a:picLocks noGrp="1"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5725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0" name="Image 10"/>
            <p:cNvPicPr>
              <a:picLocks noGrp="1"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3100" y="85725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1" name="Image 11"/>
            <p:cNvPicPr>
              <a:picLocks noGrp="1"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6200" y="85725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2" name="Image 12"/>
            <p:cNvPicPr>
              <a:picLocks noGrp="1"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9300" y="85725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3" name="Image 13"/>
            <p:cNvPicPr>
              <a:picLocks noGrp="1"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71450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4" name="Image 14"/>
            <p:cNvPicPr>
              <a:picLocks noGrp="1"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3100" y="171450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5" name="Image 15"/>
            <p:cNvPicPr>
              <a:picLocks noGrp="1"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6200" y="171450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6" name="Image 16"/>
            <p:cNvPicPr>
              <a:picLocks noGrp="1"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9300" y="171450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7" name="Image 17"/>
            <p:cNvPicPr>
              <a:picLocks noGrp="1"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57175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8" name="Image 18"/>
            <p:cNvPicPr>
              <a:picLocks noGrp="1"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3100" y="257175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9" name="Image 19"/>
            <p:cNvPicPr>
              <a:picLocks noGrp="1"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6200" y="257175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20" name="Image 20"/>
            <p:cNvPicPr>
              <a:picLocks noGrp="1"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9300" y="2571750"/>
              <a:ext cx="1790700" cy="70485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One platform to unify, automate, and scale your revenue operations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762000"/>
            <a:ext cx="80010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7"/>
              </a:lnSpc>
            </a:pPr>
            <a:r>
              <a:rPr lang="en-US" sz="1050" dirty="0">
                <a:solidFill>
                  <a:srgbClr val="475569"/>
                </a:solidFill>
                <a:latin typeface="Arial"/>
              </a:rPr>
              <a:t>Acme Solutions replaces fragmented tools with an intelligent, end-to-end platform that drives measurable outcomes.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381000" y="1905000"/>
            <a:ext cx="2476500" cy="190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2057400"/>
            <a:ext cx="21717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070"/>
              </a:lnSpc>
            </a:pPr>
            <a:r>
              <a:rPr lang="en-US" sz="1800" b="1" dirty="0">
                <a:solidFill>
                  <a:srgbClr val="003DA5"/>
                </a:solidFill>
                <a:latin typeface="Arial"/>
              </a:rPr>
              <a:t>10×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2371725"/>
            <a:ext cx="2171700" cy="152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Automate Workflows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33400" y="2571750"/>
            <a:ext cx="2171700" cy="381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05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Eliminate manual steps with AI-powered process automation across your entire GTM stack.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3048000" y="1905000"/>
            <a:ext cx="2476500" cy="190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200400" y="2057400"/>
            <a:ext cx="21717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070"/>
              </a:lnSpc>
            </a:pPr>
            <a:r>
              <a:rPr lang="en-US" sz="1800" b="1" dirty="0">
                <a:solidFill>
                  <a:srgbClr val="003DA5"/>
                </a:solidFill>
                <a:latin typeface="Arial"/>
              </a:rPr>
              <a:t>99.5%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3200400" y="2371725"/>
            <a:ext cx="2171700" cy="152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Unified Data Layer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3200400" y="2571750"/>
            <a:ext cx="2171700" cy="381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05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Single source of truth connecting CRM, ERP, and analytics in real time.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5715000" y="1905000"/>
            <a:ext cx="2476500" cy="190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867400" y="2057400"/>
            <a:ext cx="21717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070"/>
              </a:lnSpc>
            </a:pPr>
            <a:r>
              <a:rPr lang="en-US" sz="1800" b="1" dirty="0">
                <a:solidFill>
                  <a:srgbClr val="003DA5"/>
                </a:solidFill>
                <a:latin typeface="Arial"/>
              </a:rPr>
              <a:t>3.2×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5867400" y="2371725"/>
            <a:ext cx="2171700" cy="152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Actionable Intelligence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867400" y="2571750"/>
            <a:ext cx="2171700" cy="381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05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Predictive insights that surface risks and opportunities before they impact revenue.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Get started in four simple steps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1333500"/>
            <a:ext cx="1714500" cy="1428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1485900"/>
            <a:ext cx="14097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897"/>
              </a:lnSpc>
            </a:pPr>
            <a:r>
              <a:rPr lang="en-US" sz="1650" b="1" dirty="0">
                <a:solidFill>
                  <a:srgbClr val="003DA5"/>
                </a:solidFill>
                <a:latin typeface="Arial"/>
              </a:rPr>
              <a:t>01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762125"/>
            <a:ext cx="14097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035"/>
              </a:lnSpc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Connect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933575"/>
            <a:ext cx="14097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Integrate your existing tools in minutes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2476500" y="1333500"/>
            <a:ext cx="1714500" cy="1428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2628900" y="1485900"/>
            <a:ext cx="14097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897"/>
              </a:lnSpc>
            </a:pPr>
            <a:r>
              <a:rPr lang="en-US" sz="1650" b="1" dirty="0">
                <a:solidFill>
                  <a:srgbClr val="0070C0"/>
                </a:solidFill>
                <a:latin typeface="Arial"/>
              </a:rPr>
              <a:t>02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628900" y="1762125"/>
            <a:ext cx="14097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035"/>
              </a:lnSpc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Configure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628900" y="1933575"/>
            <a:ext cx="14097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Set up workflows with our visual builder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4572000" y="1333500"/>
            <a:ext cx="1714500" cy="1428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724400" y="1485900"/>
            <a:ext cx="14097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897"/>
              </a:lnSpc>
            </a:pPr>
            <a:r>
              <a:rPr lang="en-US" sz="1650" b="1" dirty="0">
                <a:solidFill>
                  <a:srgbClr val="00B050"/>
                </a:solidFill>
                <a:latin typeface="Arial"/>
              </a:rPr>
              <a:t>03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724400" y="1762125"/>
            <a:ext cx="14097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035"/>
              </a:lnSpc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Automate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4724400" y="1933575"/>
            <a:ext cx="14097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AI handles routing, enrichment, and alerts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6667500" y="1333500"/>
            <a:ext cx="1714500" cy="1428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6819900" y="1485900"/>
            <a:ext cx="14097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897"/>
              </a:lnSpc>
            </a:pPr>
            <a:r>
              <a:rPr lang="en-US" sz="1650" b="1" dirty="0">
                <a:solidFill>
                  <a:srgbClr val="7C3AED"/>
                </a:solidFill>
                <a:latin typeface="Arial"/>
              </a:rPr>
              <a:t>04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6819900" y="1762125"/>
            <a:ext cx="14097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035"/>
              </a:lnSpc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Optimize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6819900" y="1933575"/>
            <a:ext cx="14097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Continuously improve with predictive analytics</a:t>
            </a:r>
            <a:endParaRPr lang="en-US" dirty="0"/>
          </a:p>
        </p:txBody>
      </p:sp>
      <p:cxnSp>
        <p:nvCxnSpPr>
          <p:cNvPr id="20" name="Connector 20"/>
          <p:cNvCxnSpPr/>
          <p:nvPr/>
        </p:nvCxnSpPr>
        <p:spPr>
          <a:xfrm>
            <a:off x="2095500" y="2047875"/>
            <a:ext cx="381000" cy="9525"/>
          </a:xfrm>
          <a:prstGeom prst="line">
            <a:avLst/>
          </a:prstGeom>
          <a:ln w="19050">
            <a:solidFill>
              <a:srgbClr val="94A3B8"/>
            </a:solidFill>
            <a:tailEnd type="triangle"/>
          </a:ln>
        </p:spPr>
      </p:cxnSp>
      <p:cxnSp>
        <p:nvCxnSpPr>
          <p:cNvPr id="21" name="Connector 21"/>
          <p:cNvCxnSpPr/>
          <p:nvPr/>
        </p:nvCxnSpPr>
        <p:spPr>
          <a:xfrm>
            <a:off x="4191000" y="2047875"/>
            <a:ext cx="381000" cy="9525"/>
          </a:xfrm>
          <a:prstGeom prst="line">
            <a:avLst/>
          </a:prstGeom>
          <a:ln w="19050">
            <a:solidFill>
              <a:srgbClr val="94A3B8"/>
            </a:solidFill>
            <a:tailEnd type="triangle"/>
          </a:ln>
        </p:spPr>
      </p:cxnSp>
      <p:cxnSp>
        <p:nvCxnSpPr>
          <p:cNvPr id="22" name="Connector 22"/>
          <p:cNvCxnSpPr/>
          <p:nvPr/>
        </p:nvCxnSpPr>
        <p:spPr>
          <a:xfrm>
            <a:off x="6286500" y="2047875"/>
            <a:ext cx="381000" cy="9525"/>
          </a:xfrm>
          <a:prstGeom prst="line">
            <a:avLst/>
          </a:prstGeom>
          <a:ln w="19050">
            <a:solidFill>
              <a:srgbClr val="94A3B8"/>
            </a:solidFill>
            <a:tailEnd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Intuitive interface designed for revenue teams</a:t>
            </a:r>
            <a:endParaRPr lang="en-US" dirty="0"/>
          </a:p>
        </p:txBody>
      </p:sp>
      <p:pic>
        <p:nvPicPr>
          <p:cNvPr id="4" name="Image 4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762000"/>
            <a:ext cx="7239000" cy="38100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5" name="Text 5"/>
          <p:cNvSpPr txBox="1"/>
          <p:nvPr/>
        </p:nvSpPr>
        <p:spPr>
          <a:xfrm>
            <a:off x="285750" y="857250"/>
            <a:ext cx="619125" cy="2571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b="1" dirty="0">
                <a:solidFill>
                  <a:srgbClr val="003DA5"/>
                </a:solidFill>
                <a:latin typeface="Arial"/>
              </a:rPr>
              <a:t>Pipeline Dashboard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8239125" y="2095500"/>
            <a:ext cx="714375" cy="17145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b="1" dirty="0">
                <a:solidFill>
                  <a:srgbClr val="003DA5"/>
                </a:solidFill>
                <a:latin typeface="Arial"/>
              </a:rPr>
              <a:t>AI Recommendations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85750" y="3619500"/>
            <a:ext cx="571500" cy="17145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b="1" dirty="0">
                <a:solidFill>
                  <a:srgbClr val="003DA5"/>
                </a:solidFill>
                <a:latin typeface="Arial"/>
              </a:rPr>
              <a:t>Deal Scoring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8239125" y="4191000"/>
            <a:ext cx="619125" cy="17145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b="1" dirty="0">
                <a:solidFill>
                  <a:srgbClr val="003DA5"/>
                </a:solidFill>
                <a:latin typeface="Arial"/>
              </a:rPr>
              <a:t>Activity Feed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Transformation Impact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857250"/>
            <a:ext cx="3810000" cy="3048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1009650"/>
            <a:ext cx="35052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991B1B"/>
                </a:solidFill>
                <a:latin typeface="Arial"/>
              </a:rPr>
              <a:t>BEFORE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200150"/>
            <a:ext cx="3505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7F1D1D"/>
                </a:solidFill>
                <a:latin typeface="Arial"/>
              </a:rPr>
              <a:t>Current State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495425"/>
            <a:ext cx="350520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991B1B"/>
                </a:solidFill>
                <a:latin typeface="Arial"/>
              </a:rPr>
              <a:t>5 disconnected systems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991B1B"/>
                </a:solidFill>
                <a:latin typeface="Arial"/>
              </a:rPr>
              <a:t>48-hour report turnaround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991B1B"/>
                </a:solidFill>
                <a:latin typeface="Arial"/>
              </a:rPr>
              <a:t>15% reconciliation error rate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991B1B"/>
                </a:solidFill>
                <a:latin typeface="Arial"/>
              </a:rPr>
              <a:t>No real-time pipeline visibility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991B1B"/>
                </a:solidFill>
                <a:latin typeface="Arial"/>
              </a:rPr>
              <a:t>$4.2M annual revenue leakage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4762500" y="857250"/>
            <a:ext cx="3810000" cy="304800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BBF7D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914900" y="1009650"/>
            <a:ext cx="35052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166534"/>
                </a:solidFill>
                <a:latin typeface="Arial"/>
              </a:rPr>
              <a:t>AFTER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4914900" y="1200150"/>
            <a:ext cx="3505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14532D"/>
                </a:solidFill>
                <a:latin typeface="Arial"/>
              </a:rPr>
              <a:t>With Acme Solutions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914900" y="1495425"/>
            <a:ext cx="350520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166534"/>
                </a:solidFill>
                <a:latin typeface="Arial"/>
              </a:rPr>
              <a:t>Unified platform, single source of truth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166534"/>
                </a:solidFill>
                <a:latin typeface="Arial"/>
              </a:rPr>
              <a:t>Real-time dashboards and alerts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166534"/>
                </a:solidFill>
                <a:latin typeface="Arial"/>
              </a:rPr>
              <a:t>99.5% data accuracy with validation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166534"/>
                </a:solidFill>
                <a:latin typeface="Arial"/>
              </a:rPr>
              <a:t>Predictive pipeline forecasting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166534"/>
                </a:solidFill>
                <a:latin typeface="Arial"/>
              </a:rPr>
              <a:t>3.2× ROI within first year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Case Study: How TechCorp reduced churn by 40% in 6 months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24765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1162050" y="895350"/>
            <a:ext cx="9144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0B050"/>
                </a:solidFill>
                <a:latin typeface="Arial"/>
              </a:rPr>
              <a:t>+$8.5M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1266825" y="1238250"/>
            <a:ext cx="7048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Revenue Impact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228725" y="1371600"/>
            <a:ext cx="7810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Annual recurring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009900" y="762000"/>
            <a:ext cx="24765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895725" y="895350"/>
            <a:ext cx="7048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0B050"/>
                </a:solidFill>
                <a:latin typeface="Arial"/>
              </a:rPr>
              <a:t>−40%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886200" y="1238250"/>
            <a:ext cx="7239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Churn Reduction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3876675" y="1371600"/>
            <a:ext cx="7429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Within 6 months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5638800" y="762000"/>
            <a:ext cx="24765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6362700" y="895350"/>
            <a:ext cx="10287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03DA5"/>
                </a:solidFill>
                <a:latin typeface="Arial"/>
              </a:rPr>
              <a:t>3 weeks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6581775" y="1238250"/>
            <a:ext cx="5905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Time to Value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505575" y="1371600"/>
            <a:ext cx="7429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Full deployment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381000" y="2095500"/>
            <a:ext cx="2476500" cy="1333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33400" y="2247900"/>
            <a:ext cx="21717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Challenge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33400" y="2409825"/>
            <a:ext cx="2171700" cy="476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5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TechCorp's sales team relied on 6 disconnected tools, leading to poor handoffs and a 28% churn rate.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3048000" y="2095500"/>
            <a:ext cx="2476500" cy="1333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3200400" y="2247900"/>
            <a:ext cx="21717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Approach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3200400" y="2409825"/>
            <a:ext cx="2171700" cy="476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5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Deployed Acme platform in 3 weeks. Automated lead routing, unified CRM data, and enabled predictive health scoring.</a:t>
            </a:r>
            <a:endParaRPr lang="en-US" dirty="0"/>
          </a:p>
        </p:txBody>
      </p:sp>
      <p:sp>
        <p:nvSpPr>
          <p:cNvPr id="22" name="View 22"/>
          <p:cNvSpPr/>
          <p:nvPr/>
        </p:nvSpPr>
        <p:spPr>
          <a:xfrm>
            <a:off x="5715000" y="2095500"/>
            <a:ext cx="2476500" cy="1333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5867400" y="2247900"/>
            <a:ext cx="21717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Results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867400" y="2409825"/>
            <a:ext cx="2171700" cy="428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5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40% churn reduction, $8.5M incremental ARR, and 92% team adoption within 90 days.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How we compare to alternatives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8382000" cy="1"/>
        </p:xfrm>
        <a:graphic>
          <a:graphicData uri="http://schemas.openxmlformats.org/drawingml/2006/table">
            <a:tbl>
              <a:tblPr firstRow="0" bandRow="1"/>
              <a:tblGrid>
                <a:gridCol w="2095500"/>
                <a:gridCol w="2095500"/>
                <a:gridCol w="2095500"/>
                <a:gridCol w="20955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Acme Solutions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Competitor 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Competitor B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AI-Powered Automation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Partial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Real-Time Analytics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Native CRM Integration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Predictive Forecasting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Custom Workflow Builder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Partial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Enterprise SSO / SCIM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Dedicated CSM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99.99% SLA Guarantee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✗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23145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Based on publicly available feature documentation as of March 2026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Flexible pricing that scales with your business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2476500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381000" y="762000"/>
            <a:ext cx="9144000" cy="381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028700"/>
            <a:ext cx="21717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Growth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295400"/>
            <a:ext cx="2171700" cy="2762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070"/>
              </a:lnSpc>
            </a:pPr>
            <a:r>
              <a:rPr lang="en-US" sz="1800" b="1" dirty="0">
                <a:solidFill>
                  <a:srgbClr val="0070C0"/>
                </a:solidFill>
                <a:latin typeface="Arial"/>
              </a:rPr>
              <a:t>$499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33400" y="1562100"/>
            <a:ext cx="21717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/month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33400" y="1781175"/>
            <a:ext cx="21717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Up to 25 users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50 GB storage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Core automations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Email support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Standard analytics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3238500" y="762000"/>
            <a:ext cx="2476500" cy="34290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3DA5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3238500" y="76200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3390900" y="1028700"/>
            <a:ext cx="21717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Business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390900" y="1295400"/>
            <a:ext cx="2171700" cy="2762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070"/>
              </a:lnSpc>
            </a:pPr>
            <a:r>
              <a:rPr lang="en-US" sz="1800" b="1" dirty="0">
                <a:solidFill>
                  <a:srgbClr val="003DA5"/>
                </a:solidFill>
                <a:latin typeface="Arial"/>
              </a:rPr>
              <a:t>$1,299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3390900" y="1562100"/>
            <a:ext cx="21717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/month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3390900" y="1781175"/>
            <a:ext cx="2171700" cy="781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Up to 100 users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500 GB storage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Advanced AI automation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Priority support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Custom dashboards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API access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SSO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6096000" y="762000"/>
            <a:ext cx="2476500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6096000" y="762000"/>
            <a:ext cx="9144000" cy="3810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6248400" y="1028700"/>
            <a:ext cx="21717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Enterprise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6248400" y="1295400"/>
            <a:ext cx="2171700" cy="2762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070"/>
              </a:lnSpc>
            </a:pPr>
            <a:r>
              <a:rPr lang="en-US" sz="1800" b="1" dirty="0">
                <a:solidFill>
                  <a:srgbClr val="00B050"/>
                </a:solidFill>
                <a:latin typeface="Arial"/>
              </a:rPr>
              <a:t>Custom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6248400" y="1562100"/>
            <a:ext cx="21717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/month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6248400" y="1781175"/>
            <a:ext cx="2171700" cy="781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Unlimited users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Unlimited storage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Full platform access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Dedicated CSM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Custom SLA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On-prem option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24/7 support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Go live in 8 weeks with our proven implementation methodology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381000" y="108585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Discovery &amp; Planning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1809750" y="990600"/>
            <a:ext cx="1743075" cy="3048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381000" y="150495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Integration &amp; Config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3552825" y="1409700"/>
            <a:ext cx="2600325" cy="3048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81000" y="192405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Training &amp; UAT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6153150" y="1828800"/>
            <a:ext cx="1743075" cy="30480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81000" y="234315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Go-Live &amp; Optimization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7896225" y="2247900"/>
            <a:ext cx="866775" cy="3048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71500" y="285750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Weeks 1–2: Stakeholder interviews, data audit, integration mapping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71500" y="304800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Weeks 3–5: CRM/ERP connectors, workflow configuration, data migration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71500" y="323850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Weeks 6–7: Team training, user acceptance testing, feedback iteration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571500" y="342900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Week 8: Phased rollout, monitoring, optimization review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1E1B4B"/>
            </a:gs>
          </a:gsLst>
          <a:lin ang="4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952500"/>
            <a:ext cx="7620000" cy="3524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760"/>
              </a:lnSpc>
            </a:pPr>
            <a:r>
              <a:rPr lang="en-US" sz="2400" b="1" dirty="0">
                <a:solidFill>
                  <a:srgbClr val="FFFFFF"/>
                </a:solidFill>
                <a:latin typeface="Arial"/>
              </a:rPr>
              <a:t>Next Steps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1619250"/>
            <a:ext cx="6667500" cy="6191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1207"/>
              </a:lnSpc>
              <a:spcBef>
                <a:spcPts val="0"/>
              </a:spcBef>
              <a:buChar char="•"/>
            </a:pPr>
            <a:r>
              <a:rPr lang="en-US" sz="1050" dirty="0">
                <a:solidFill>
                  <a:srgbClr val="CBD5E1"/>
                </a:solidFill>
                <a:latin typeface="Arial"/>
              </a:rPr>
              <a:t>Schedule technical deep-dive with your IT team (Week 1)</a:t>
            </a:r>
            <a:endParaRPr lang="en-US" dirty="0"/>
          </a:p>
          <a:p>
            <a:pPr lvl="0">
              <a:lnSpc>
                <a:spcPts val="1207"/>
              </a:lnSpc>
              <a:spcBef>
                <a:spcPts val="400"/>
              </a:spcBef>
              <a:buChar char="•"/>
            </a:pPr>
            <a:r>
              <a:rPr lang="en-US" sz="1050" dirty="0">
                <a:solidFill>
                  <a:srgbClr val="CBD5E1"/>
                </a:solidFill>
                <a:latin typeface="Arial"/>
              </a:rPr>
              <a:t>Pilot program kickoff with 10-user cohort (Week 2–3)</a:t>
            </a:r>
            <a:endParaRPr lang="en-US" dirty="0"/>
          </a:p>
          <a:p>
            <a:pPr lvl="0">
              <a:lnSpc>
                <a:spcPts val="1207"/>
              </a:lnSpc>
              <a:spcBef>
                <a:spcPts val="400"/>
              </a:spcBef>
              <a:buChar char="•"/>
            </a:pPr>
            <a:r>
              <a:rPr lang="en-US" sz="1050" dirty="0">
                <a:solidFill>
                  <a:srgbClr val="CBD5E1"/>
                </a:solidFill>
                <a:latin typeface="Arial"/>
              </a:rPr>
              <a:t>Executive review of pilot results (Week 4)</a:t>
            </a:r>
            <a:endParaRPr lang="en-US" dirty="0"/>
          </a:p>
          <a:p>
            <a:pPr lvl="0">
              <a:lnSpc>
                <a:spcPts val="1207"/>
              </a:lnSpc>
              <a:spcBef>
                <a:spcPts val="400"/>
              </a:spcBef>
              <a:buChar char="•"/>
            </a:pPr>
            <a:r>
              <a:rPr lang="en-US" sz="1050" dirty="0">
                <a:solidFill>
                  <a:srgbClr val="CBD5E1"/>
                </a:solidFill>
                <a:latin typeface="Arial"/>
              </a:rPr>
              <a:t>Contract finalization and full rollout planning (Week 5)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62000" y="3333750"/>
            <a:ext cx="1247775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Your Account Team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619500"/>
            <a:ext cx="66675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94A3B8"/>
                </a:solidFill>
                <a:latin typeface="Arial"/>
              </a:rPr>
              <a:t>Sarah Chen, VP Sales  •  sarah@acmesolutions.com  •  +1 (415) 555-0142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62000" y="3810000"/>
            <a:ext cx="66675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94A3B8"/>
                </a:solidFill>
                <a:latin typeface="Arial"/>
              </a:rPr>
              <a:t>James Park, Solutions Architect  •  james@acmesolutions.com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unchMatrix">
  <a:themeElements>
    <a:clrScheme name="LaunchMatrix">
      <a:dk1>
        <a:srgbClr val="1B1B3A"/>
      </a:dk1>
      <a:lt1>
        <a:srgbClr val="FFFFFF"/>
      </a:lt1>
      <a:dk2>
        <a:srgbClr val="2D2D5E"/>
      </a:dk2>
      <a:lt2>
        <a:srgbClr val="F5F5F5"/>
      </a:lt2>
      <a:accent1>
        <a:srgbClr val="003DA5"/>
      </a:accent1>
      <a:accent2>
        <a:srgbClr val="0070C0"/>
      </a:accent2>
      <a:accent3>
        <a:srgbClr val="00B050"/>
      </a:accent3>
      <a:accent4>
        <a:srgbClr val="FFC000"/>
      </a:accent4>
      <a:accent5>
        <a:srgbClr val="FF660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14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Proposal — GlobalCorp Digital Transformation</dc:title>
  <dc:creator>PaperJSX</dc:creator>
  <cp:lastModifiedBy>PaperJSX</cp:lastModifiedBy>
  <cp:revision>1</cp:revision>
  <dcterms:created xsi:type="dcterms:W3CDTF">2026-03-08T10:06:14Z</dcterms:created>
  <dcterms:modified xsi:type="dcterms:W3CDTF">2026-03-08T10:06:14Z</dcterms:modified>
</cp:coreProperties>
</file>