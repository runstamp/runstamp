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webp" ContentType="image/webp"/>
  <Default Extension="tiff" ContentType="image/tiff"/>
  <Default Extension="bmp" ContentType="image/bmp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5" Type="http://schemas.openxmlformats.org/package/2006/relationships/metadata/thumbnail" Target="docProps/thumbnail.jpeg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</p:sldIdLst>
  <p:sldSz cx="9144000" cy="5143500" type="custo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slide" Target="slides/slide18.xml"/>
  <Relationship Id="rId21" Type="http://schemas.openxmlformats.org/officeDocument/2006/relationships/slide" Target="slides/slide19.xml"/>
  <Relationship Id="rId22" Type="http://schemas.openxmlformats.org/officeDocument/2006/relationships/slide" Target="slides/slide20.xml"/>
  <Relationship Id="rId23" Type="http://schemas.openxmlformats.org/officeDocument/2006/relationships/slide" Target="slides/slide21.xml"/>
  <Relationship Id="rId24" Type="http://schemas.openxmlformats.org/officeDocument/2006/relationships/slide" Target="slides/slide22.xml"/>
  <Relationship Id="rId25" Type="http://schemas.openxmlformats.org/officeDocument/2006/relationships/slide" Target="slides/slide23.xml"/>
  <Relationship Id="rId26" Type="http://schemas.openxmlformats.org/officeDocument/2006/relationships/slide" Target="slides/slide24.xml"/>
  <Relationship Id="rId27" Type="http://schemas.openxmlformats.org/officeDocument/2006/relationships/slide" Target="slides/slide25.xml"/>
  <Relationship Id="rId28" Type="http://schemas.openxmlformats.org/officeDocument/2006/relationships/slide" Target="slides/slide26.xml"/>
  <Relationship Id="rId29" Type="http://schemas.openxmlformats.org/officeDocument/2006/relationships/slide" Target="slides/slide27.xml"/>
  <Relationship Id="rId30" Type="http://schemas.openxmlformats.org/officeDocument/2006/relationships/slide" Target="slides/slide28.xml"/>
  <Relationship Id="rId31" Type="http://schemas.openxmlformats.org/officeDocument/2006/relationships/slide" Target="slides/slide29.xml"/>
  <Relationship Id="rId32" Type="http://schemas.openxmlformats.org/officeDocument/2006/relationships/slide" Target="slides/slide30.xml"/>
  <Relationship Id="rId33" Type="http://schemas.openxmlformats.org/officeDocument/2006/relationships/slide" Target="slides/slide31.xml"/>
  <Relationship Id="rId34" Type="http://schemas.openxmlformats.org/officeDocument/2006/relationships/slide" Target="slides/slide32.xml"/>
  <Relationship Id="rId35" Type="http://schemas.openxmlformats.org/officeDocument/2006/relationships/slide" Target="slides/slide33.xml"/>
  <Relationship Id="rId36" Type="http://schemas.openxmlformats.org/officeDocument/2006/relationships/slide" Target="slides/slide34.xml"/>
  <Relationship Id="rId37" Type="http://schemas.openxmlformats.org/officeDocument/2006/relationships/slide" Target="slides/slide35.xml"/>
  <Relationship Id="rId38" Type="http://schemas.openxmlformats.org/officeDocument/2006/relationships/slide" Target="slides/slide36.xml"/>
  <Relationship Id="rId39" Type="http://schemas.openxmlformats.org/officeDocument/2006/relationships/slide" Target="slides/slide37.xml"/>
  <Relationship Id="rId40" Type="http://schemas.openxmlformats.org/officeDocument/2006/relationships/slide" Target="slides/slide38.xml"/>
  <Relationship Id="rId41" Type="http://schemas.openxmlformats.org/officeDocument/2006/relationships/presProps" Target="presProps.xml"/>
  <Relationship Id="rId42" Type="http://schemas.openxmlformats.org/officeDocument/2006/relationships/viewProps" Target="viewProps.xml"/>
  <Relationship Id="rId43" Type="http://schemas.openxmlformats.org/officeDocument/2006/relationships/tableStyles" Target="tableStyles.xml"/>
</Relationships>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lsx"/>
</Relationships>
</file>

<file path=ppt/charts/_rels/chart2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2.xlsx"/>
</Relationships>
</file>

<file path=ppt/charts/_rels/chart3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3.xlsx"/>
</Relationships>
</file>

<file path=ppt/charts/_rels/chart4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4.xlsx"/>
</Relationships>
</file>

<file path=ppt/charts/_rels/chart5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5.xlsx"/>
</Relationships>
</file>

<file path=ppt/charts/_rels/chart6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6.xlsx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Deal Value ($B)</c:v>
                </c:pt>
              </c:strCache>
            </c:strRef>
          </c:tx>
          <c:spPr>
            <a:solidFill>
              <a:srgbClr val="003A70"/>
            </a:solidFill>
          </c:spPr>
          <c:cat>
            <c:strRef>
              <c:f>Sheet1!$A$2:$A$11</c:f>
              <c:strCach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120</c:v>
                </c:pt>
                <c:pt idx="1">
                  <c:v>135</c:v>
                </c:pt>
                <c:pt idx="2">
                  <c:v>155</c:v>
                </c:pt>
                <c:pt idx="3">
                  <c:v>160</c:v>
                </c:pt>
                <c:pt idx="4">
                  <c:v>95</c:v>
                </c:pt>
                <c:pt idx="5">
                  <c:v>140</c:v>
                </c:pt>
                <c:pt idx="6">
                  <c:v>170</c:v>
                </c:pt>
                <c:pt idx="7">
                  <c:v>150</c:v>
                </c:pt>
                <c:pt idx="8">
                  <c:v>165</c:v>
                </c:pt>
                <c:pt idx="9">
                  <c:v>185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 Count</c:v>
                </c:pt>
              </c:strCache>
            </c:strRef>
          </c:tx>
          <c:spPr>
            <a:solidFill>
              <a:srgbClr val="5B9BD5"/>
            </a:solidFill>
          </c:spPr>
          <c:cat>
            <c:strRef>
              <c:f>Sheet1!$A$2:$A$11</c:f>
              <c:strCache>
                <c:ptCount val="10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  <c:pt idx="6">
                  <c:v>2022</c:v>
                </c:pt>
                <c:pt idx="7">
                  <c:v>2023</c:v>
                </c:pt>
                <c:pt idx="8">
                  <c:v>2024</c:v>
                </c:pt>
                <c:pt idx="9">
                  <c:v>2025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280</c:v>
                </c:pt>
                <c:pt idx="1">
                  <c:v>310</c:v>
                </c:pt>
                <c:pt idx="2">
                  <c:v>345</c:v>
                </c:pt>
                <c:pt idx="3">
                  <c:v>360</c:v>
                </c:pt>
                <c:pt idx="4">
                  <c:v>210</c:v>
                </c:pt>
                <c:pt idx="5">
                  <c:v>320</c:v>
                </c:pt>
                <c:pt idx="6">
                  <c:v>375</c:v>
                </c:pt>
                <c:pt idx="7">
                  <c:v>340</c:v>
                </c:pt>
                <c:pt idx="8">
                  <c:v>365</c:v>
                </c:pt>
                <c:pt idx="9">
                  <c:v>395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Deal Value ($B)</a:t>
                </a:r>
              </a:p>
            </c:rich>
          </c:tx>
          <c:overlay val="0"/>
        </c:title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Senior Secured (bps)</c:v>
                </c:pt>
              </c:strCache>
            </c:strRef>
          </c:tx>
          <c:spPr>
            <a:solidFill>
              <a:srgbClr val="003A70"/>
            </a:solidFill>
          </c:spPr>
          <c:cat>
            <c:strRef>
              <c:f>Sheet1!$A$2:$A$10</c:f>
              <c:strCache>
                <c:ptCount val="9"/>
                <c:pt idx="0">
                  <c:v>Q1'24</c:v>
                </c:pt>
                <c:pt idx="1">
                  <c:v>Q2'24</c:v>
                </c:pt>
                <c:pt idx="2">
                  <c:v>Q3'24</c:v>
                </c:pt>
                <c:pt idx="3">
                  <c:v>Q4'24</c:v>
                </c:pt>
                <c:pt idx="4">
                  <c:v>Q1'25</c:v>
                </c:pt>
                <c:pt idx="5">
                  <c:v>Q2'25</c:v>
                </c:pt>
                <c:pt idx="6">
                  <c:v>Q3'25</c:v>
                </c:pt>
                <c:pt idx="7">
                  <c:v>Q4'25</c:v>
                </c:pt>
                <c:pt idx="8">
                  <c:v>Q1'26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425</c:v>
                </c:pt>
                <c:pt idx="1">
                  <c:v>400</c:v>
                </c:pt>
                <c:pt idx="2">
                  <c:v>390</c:v>
                </c:pt>
                <c:pt idx="3">
                  <c:v>375</c:v>
                </c:pt>
                <c:pt idx="4">
                  <c:v>365</c:v>
                </c:pt>
                <c:pt idx="5">
                  <c:v>350</c:v>
                </c:pt>
                <c:pt idx="6">
                  <c:v>340</c:v>
                </c:pt>
                <c:pt idx="7">
                  <c:v>335</c:v>
                </c:pt>
                <c:pt idx="8">
                  <c:v>325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Yield (bps)</c:v>
                </c:pt>
              </c:strCache>
            </c:strRef>
          </c:tx>
          <c:spPr>
            <a:solidFill>
              <a:srgbClr val="C00000"/>
            </a:solidFill>
          </c:spPr>
          <c:cat>
            <c:strRef>
              <c:f>Sheet1!$A$2:$A$10</c:f>
              <c:strCache>
                <c:ptCount val="9"/>
                <c:pt idx="0">
                  <c:v>Q1'24</c:v>
                </c:pt>
                <c:pt idx="1">
                  <c:v>Q2'24</c:v>
                </c:pt>
                <c:pt idx="2">
                  <c:v>Q3'24</c:v>
                </c:pt>
                <c:pt idx="3">
                  <c:v>Q4'24</c:v>
                </c:pt>
                <c:pt idx="4">
                  <c:v>Q1'25</c:v>
                </c:pt>
                <c:pt idx="5">
                  <c:v>Q2'25</c:v>
                </c:pt>
                <c:pt idx="6">
                  <c:v>Q3'25</c:v>
                </c:pt>
                <c:pt idx="7">
                  <c:v>Q4'25</c:v>
                </c:pt>
                <c:pt idx="8">
                  <c:v>Q1'26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550</c:v>
                </c:pt>
                <c:pt idx="1">
                  <c:v>530</c:v>
                </c:pt>
                <c:pt idx="2">
                  <c:v>510</c:v>
                </c:pt>
                <c:pt idx="3">
                  <c:v>495</c:v>
                </c:pt>
                <c:pt idx="4">
                  <c:v>480</c:v>
                </c:pt>
                <c:pt idx="5">
                  <c:v>465</c:v>
                </c:pt>
                <c:pt idx="6">
                  <c:v>450</c:v>
                </c:pt>
                <c:pt idx="7">
                  <c:v>440</c:v>
                </c:pt>
                <c:pt idx="8">
                  <c:v>430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Investment Grade (bps)</c:v>
                </c:pt>
              </c:strCache>
            </c:strRef>
          </c:tx>
          <c:spPr>
            <a:solidFill>
              <a:srgbClr val="00B050"/>
            </a:solidFill>
          </c:spPr>
          <c:cat>
            <c:strRef>
              <c:f>Sheet1!$A$2:$A$10</c:f>
              <c:strCache>
                <c:ptCount val="9"/>
                <c:pt idx="0">
                  <c:v>Q1'24</c:v>
                </c:pt>
                <c:pt idx="1">
                  <c:v>Q2'24</c:v>
                </c:pt>
                <c:pt idx="2">
                  <c:v>Q3'24</c:v>
                </c:pt>
                <c:pt idx="3">
                  <c:v>Q4'24</c:v>
                </c:pt>
                <c:pt idx="4">
                  <c:v>Q1'25</c:v>
                </c:pt>
                <c:pt idx="5">
                  <c:v>Q2'25</c:v>
                </c:pt>
                <c:pt idx="6">
                  <c:v>Q3'25</c:v>
                </c:pt>
                <c:pt idx="7">
                  <c:v>Q4'25</c:v>
                </c:pt>
                <c:pt idx="8">
                  <c:v>Q1'26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150</c:v>
                </c:pt>
                <c:pt idx="1">
                  <c:v>145</c:v>
                </c:pt>
                <c:pt idx="2">
                  <c:v>140</c:v>
                </c:pt>
                <c:pt idx="3">
                  <c:v>135</c:v>
                </c:pt>
                <c:pt idx="4">
                  <c:v>130</c:v>
                </c:pt>
                <c:pt idx="5">
                  <c:v>128</c:v>
                </c:pt>
                <c:pt idx="6">
                  <c:v>125</c:v>
                </c:pt>
                <c:pt idx="7">
                  <c:v>122</c:v>
                </c:pt>
                <c:pt idx="8">
                  <c:v>120</c:v>
                </c:pt>
              </c:numCache>
            </c:numRef>
          </c:val>
        </c:ser>
        <c:marker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Spread (bps)</a:t>
                </a:r>
              </a:p>
            </c:rich>
          </c:tx>
          <c:overlay val="0"/>
        </c:title>
        <c:numFmt formatCode="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EV/EBITDA (Industrials)</c:v>
                </c:pt>
              </c:strCache>
            </c:strRef>
          </c:tx>
          <c:spPr>
            <a:solidFill>
              <a:srgbClr val="003A70"/>
            </a:solidFill>
          </c:spPr>
          <c:cat>
            <c:strRef>
              <c:f>Sheet1!$A$2:$A$9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10.5</c:v>
                </c:pt>
                <c:pt idx="1">
                  <c:v>11</c:v>
                </c:pt>
                <c:pt idx="2">
                  <c:v>9.2</c:v>
                </c:pt>
                <c:pt idx="3">
                  <c:v>12</c:v>
                </c:pt>
                <c:pt idx="4">
                  <c:v>12.5</c:v>
                </c:pt>
                <c:pt idx="5">
                  <c:v>11.8</c:v>
                </c:pt>
                <c:pt idx="6">
                  <c:v>12.8</c:v>
                </c:pt>
                <c:pt idx="7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EV/EBITDA (S&amp;P 500)</c:v>
                </c:pt>
              </c:strCache>
            </c:strRef>
          </c:tx>
          <c:spPr>
            <a:solidFill>
              <a:srgbClr val="94A3B8"/>
            </a:solidFill>
          </c:spPr>
          <c:cat>
            <c:strRef>
              <c:f>Sheet1!$A$2:$A$9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12.8</c:v>
                </c:pt>
                <c:pt idx="1">
                  <c:v>13.2</c:v>
                </c:pt>
                <c:pt idx="2">
                  <c:v>14.5</c:v>
                </c:pt>
                <c:pt idx="3">
                  <c:v>16</c:v>
                </c:pt>
                <c:pt idx="4">
                  <c:v>14.2</c:v>
                </c:pt>
                <c:pt idx="5">
                  <c:v>13.8</c:v>
                </c:pt>
                <c:pt idx="6">
                  <c:v>14.5</c:v>
                </c:pt>
                <c:pt idx="7">
                  <c:v>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EV/Revenue (Industrials)</c:v>
                </c:pt>
              </c:strCache>
            </c:strRef>
          </c:tx>
          <c:spPr>
            <a:solidFill>
              <a:srgbClr val="5B9BD5"/>
            </a:solidFill>
          </c:spPr>
          <c:cat>
            <c:strRef>
              <c:f>Sheet1!$A$2:$A$9</c:f>
              <c:strCache>
                <c:ptCount val="8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2.2</c:v>
                </c:pt>
                <c:pt idx="1">
                  <c:v>2.4</c:v>
                </c:pt>
                <c:pt idx="2">
                  <c:v>1.8</c:v>
                </c:pt>
                <c:pt idx="3">
                  <c:v>2.8</c:v>
                </c:pt>
                <c:pt idx="4">
                  <c:v>3</c:v>
                </c:pt>
                <c:pt idx="5">
                  <c:v>2.7</c:v>
                </c:pt>
                <c:pt idx="6">
                  <c:v>3.1</c:v>
                </c:pt>
                <c:pt idx="7">
                  <c:v>3.4</c:v>
                </c:pt>
              </c:numCache>
            </c:numRef>
          </c:val>
        </c:ser>
        <c:marker val="0"/>
        <c:axId val="111111111"/>
        <c:axId val="222222222"/>
      </c:lineChart>
      <c:catAx>
        <c:axId val="111111111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rPr lang="en-US" sz="750">
                    <a:solidFill>
                      <a:srgbClr val="000000"/>
                    </a:solidFill>
                    <a:latin typeface="Calibri"/>
                  </a:rPr>
                  <a:t>Multiple (x)</a:t>
                </a:r>
              </a:p>
            </c:rich>
          </c:tx>
          <c:overlay val="0"/>
        </c:title>
        <c:numFmt formatCode="0.0x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Mix</c:v>
                </c:pt>
              </c:strCache>
            </c:strRef>
          </c:tx>
          <c:dPt>
            <c:idx val="0"/>
            <c:spPr>
              <a:solidFill>
                <a:srgbClr val="003A70"/>
              </a:solidFill>
            </c:spPr>
          </c:dPt>
          <c:dPt>
            <c:idx val="1"/>
            <c:spPr>
              <a:solidFill>
                <a:srgbClr val="5B9BD5"/>
              </a:solidFill>
            </c:spPr>
          </c:dPt>
          <c:dPt>
            <c:idx val="2"/>
            <c:spPr>
              <a:solidFill>
                <a:srgbClr val="A5C8E1"/>
              </a:solidFill>
            </c:spPr>
          </c:dPt>
          <c:cat>
            <c:strRef>
              <c:f>Sheet1!$A$2:$A$4</c:f>
              <c:strCache>
                <c:ptCount val="3"/>
                <c:pt idx="0">
                  <c:v>Precision Components</c:v>
                </c:pt>
                <c:pt idx="1">
                  <c:v>Engineered Solutions</c:v>
                </c:pt>
                <c:pt idx="2">
                  <c:v>Aftermarket Services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</c:v>
                </c:pt>
                <c:pt idx="1">
                  <c:v>32</c:v>
                </c:pt>
                <c:pt idx="2">
                  <c:v>20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</c:pieChart>
      <c:spPr>
        <a:noFill/>
        <a:ln>
          <a:noFill/>
        </a:ln>
      </c:spPr>
    </c:plotArea>
    <c:legend>
      <c:legendPos val="b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End Markets</c:v>
                </c:pt>
              </c:strCache>
            </c:strRef>
          </c:tx>
          <c:dPt>
            <c:idx val="0"/>
            <c:spPr>
              <a:solidFill>
                <a:srgbClr val="003A70"/>
              </a:solidFill>
            </c:spPr>
          </c:dPt>
          <c:dPt>
            <c:idx val="1"/>
            <c:spPr>
              <a:solidFill>
                <a:srgbClr val="5B9BD5"/>
              </a:solidFill>
            </c:spPr>
          </c:dPt>
          <c:dPt>
            <c:idx val="2"/>
            <c:spPr>
              <a:solidFill>
                <a:srgbClr val="A5C8E1"/>
              </a:solidFill>
            </c:spPr>
          </c:dPt>
          <c:dPt>
            <c:idx val="3"/>
            <c:spPr>
              <a:solidFill>
                <a:srgbClr val="00B050"/>
              </a:solidFill>
            </c:spPr>
          </c:dPt>
          <c:dPt>
            <c:idx val="4"/>
            <c:spPr>
              <a:solidFill>
                <a:srgbClr val="94A3B8"/>
              </a:solidFill>
            </c:spPr>
          </c:dPt>
          <c:cat>
            <c:strRef>
              <c:f>Sheet1!$A$2:$A$6</c:f>
              <c:strCache>
                <c:ptCount val="5"/>
                <c:pt idx="0">
                  <c:v>Aerospace &amp; Defense</c:v>
                </c:pt>
                <c:pt idx="1">
                  <c:v>Industrial OEM</c:v>
                </c:pt>
                <c:pt idx="2">
                  <c:v>Energy</c:v>
                </c:pt>
                <c:pt idx="3">
                  <c:v>Transportation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35</c:v>
                </c:pt>
                <c:pt idx="1">
                  <c:v>25</c:v>
                </c:pt>
                <c:pt idx="2">
                  <c:v>18</c:v>
                </c:pt>
                <c:pt idx="3">
                  <c:v>14</c:v>
                </c:pt>
                <c:pt idx="4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</c:pieChart>
      <c:spPr>
        <a:noFill/>
        <a:ln>
          <a:noFill/>
        </a:ln>
      </c:spPr>
    </c:plotArea>
    <c:legend>
      <c:legendPos val="r"/>
      <c:overlay val="0"/>
    </c:legend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FFFFFF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Comparable Companies</c:v>
                </c:pt>
                <c:pt idx="1">
                  <c:v>Precedent Transactions</c:v>
                </c:pt>
                <c:pt idx="2">
                  <c:v>DCF Analysis</c:v>
                </c:pt>
                <c:pt idx="3">
                  <c:v>LBO Analysis</c:v>
                </c:pt>
                <c:pt idx="4">
                  <c:v>52-Week Range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1550</c:v>
                </c:pt>
                <c:pt idx="1">
                  <c:v>1750</c:v>
                </c:pt>
                <c:pt idx="2">
                  <c:v>1650</c:v>
                </c:pt>
                <c:pt idx="3">
                  <c:v>1500</c:v>
                </c:pt>
                <c:pt idx="4">
                  <c:v>1400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ED7D31"/>
            </a:solidFill>
          </c:spPr>
          <c:dPt>
            <c:idx val="0"/>
            <c:spPr>
              <a:solidFill>
                <a:srgbClr val="003A70"/>
              </a:solidFill>
            </c:spPr>
          </c:dPt>
          <c:dPt>
            <c:idx val="1"/>
            <c:spPr>
              <a:solidFill>
                <a:srgbClr val="2E75B6"/>
              </a:solidFill>
            </c:spPr>
          </c:dPt>
          <c:dPt>
            <c:idx val="2"/>
            <c:spPr>
              <a:solidFill>
                <a:srgbClr val="5B9BD5"/>
              </a:solidFill>
            </c:spPr>
          </c:dPt>
          <c:dPt>
            <c:idx val="3"/>
            <c:spPr>
              <a:solidFill>
                <a:srgbClr val="00B050"/>
              </a:solidFill>
            </c:spPr>
          </c:dPt>
          <c:dPt>
            <c:idx val="4"/>
            <c:spPr>
              <a:solidFill>
                <a:srgbClr val="94A3B8"/>
              </a:solidFill>
            </c:spPr>
          </c:dPt>
          <c:dLbls>
            <c:txPr>
              <a:bodyPr/>
              <a:lstStyle/>
              <a:p>
                <a:pPr>
                  <a:defRPr sz="675">
                    <a:latin typeface="Calibri"/>
                  </a:defRPr>
                </a:pPr>
                <a:endParaRPr lang="en-US" dirty="0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Sheet1!$A$2:$A$6</c:f>
              <c:strCache>
                <c:ptCount val="5"/>
                <c:pt idx="0">
                  <c:v>Comparable Companies</c:v>
                </c:pt>
                <c:pt idx="1">
                  <c:v>Precedent Transactions</c:v>
                </c:pt>
                <c:pt idx="2">
                  <c:v>DCF Analysis</c:v>
                </c:pt>
                <c:pt idx="3">
                  <c:v>LBO Analysis</c:v>
                </c:pt>
                <c:pt idx="4">
                  <c:v>52-Week Range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300</c:v>
                </c:pt>
                <c:pt idx="1">
                  <c:v>350</c:v>
                </c:pt>
                <c:pt idx="2">
                  <c:v>300</c:v>
                </c:pt>
                <c:pt idx="3">
                  <c:v>300</c:v>
                </c:pt>
                <c:pt idx="4">
                  <c:v>300</c:v>
                </c:pt>
              </c:numCache>
            </c:numRef>
          </c:val>
        </c:ser>
        <c:axId val="111111111"/>
        <c:axId val="222222222"/>
      </c:barChart>
      <c:catAx>
        <c:axId val="111111111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</c:spPr>
        <c:crossAx val="222222222"/>
        <c:crosses val="autoZero"/>
        <c:auto val="1"/>
        <c:lblAlgn val="ctr"/>
        <c:lblOffset val="100"/>
      </c:catAx>
      <c:valAx>
        <c:axId val="222222222"/>
        <c:scaling>
          <c:orientation val="minMax"/>
          <c:max val="2310"/>
        </c:scaling>
        <c:delete val="0"/>
        <c:axPos val="b"/>
        <c:majorGridlines/>
        <c:numFmt formatCode="$#,##0" sourceLinked="0"/>
        <c:majorTickMark val="out"/>
        <c:minorTickMark val="none"/>
        <c:tickLblPos val="nextTo"/>
        <c:spPr>
          <a:noFill/>
          <a:ln>
            <a:noFill/>
          </a:ln>
        </c:spPr>
        <c:crossAx val="111111111"/>
        <c:crosses val="autoZero"/>
        <c:crossBetween val="between"/>
      </c:valAx>
      <c:spPr>
        <a:noFill/>
        <a:ln>
          <a:noFill/>
        </a:ln>
      </c:spPr>
    </c:plotArea>
    <c:plotVisOnly val="1"/>
  </c:chart>
  <c:externalData r:id="rId1">
    <c:autoUpdate val="0"/>
  </c:externalData>
  <c:printSettings>
    <c:headerFooter/>
    <c:pageMargins b="0.75" l="0.7" r="0.7" t="0.75" header="0.3" footer="0.3"/>
    <c:pageSetup/>
  </c:printSettings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image" Target="../media/image1.png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  <Relationship Id="rId3" Type="http://schemas.openxmlformats.org/officeDocument/2006/relationships/image" Target="../media/image2.png"/>
  <Relationship Id="rId4" Type="http://schemas.openxmlformats.org/officeDocument/2006/relationships/image" Target="../media/image2.png"/>
  <Relationship Id="rId5" Type="http://schemas.openxmlformats.org/officeDocument/2006/relationships/image" Target="../media/image2.png"/>
  <Relationship Id="rId6" Type="http://schemas.openxmlformats.org/officeDocument/2006/relationships/image" Target="../media/image1.png"/>
  <Relationship Id="rId7" Type="http://schemas.openxmlformats.org/officeDocument/2006/relationships/image" Target="../media/image1.png"/>
  <Relationship Id="rId8" Type="http://schemas.openxmlformats.org/officeDocument/2006/relationships/image" Target="../media/image1.png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chart" Target="../charts/char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chart" Target="../charts/chart2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chart" Target="../charts/chart3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chart" Target="../charts/chart4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chart" Target="../charts/chart5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  <Relationship Id="rId3" Type="http://schemas.openxmlformats.org/officeDocument/2006/relationships/chart" Target="../charts/chart6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2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rgbClr val="001529"/>
            </a:gs>
            <a:gs pos="50000">
              <a:srgbClr val="002952"/>
            </a:gs>
            <a:gs pos="100000">
              <a:srgbClr val="003A70"/>
            </a:gs>
          </a:gsLst>
          <a:lin ang="4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C9A84C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3" name="Image 3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500" y="571500"/>
            <a:ext cx="1143000" cy="3429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4" name="Text 4"/>
          <p:cNvSpPr txBox="1"/>
          <p:nvPr/>
        </p:nvSpPr>
        <p:spPr>
          <a:xfrm>
            <a:off x="571500" y="1047750"/>
            <a:ext cx="47625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dirty="0">
                <a:solidFill>
                  <a:srgbClr val="94A3B8"/>
                </a:solidFill>
                <a:latin typeface="Arial"/>
              </a:rPr>
              <a:t>Meridian Capital Partners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571500" y="1619250"/>
            <a:ext cx="800100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</a:rPr>
              <a:t>Project Atlas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571500" y="2190750"/>
            <a:ext cx="66675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dirty="0">
                <a:solidFill>
                  <a:srgbClr val="94A3B8"/>
                </a:solidFill>
                <a:latin typeface="Arial"/>
              </a:rPr>
              <a:t>Confidential Discussion Materials Prepared for Apex Industries, Inc.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571500" y="2571750"/>
            <a:ext cx="6096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dirty="0">
                <a:solidFill>
                  <a:srgbClr val="94A3B8"/>
                </a:solidFill>
                <a:latin typeface="Arial"/>
              </a:rPr>
              <a:t>March 2026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571500" y="4648200"/>
            <a:ext cx="714375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C9A84C"/>
                </a:solidFill>
                <a:latin typeface="Arial"/>
              </a:rPr>
              <a:t>CONFIDENTIAL</a:t>
            </a:r>
            <a:endParaRPr lang="en-US" dirty="0"/>
          </a:p>
        </p:txBody>
      </p:sp>
      <p:pic>
        <p:nvPicPr>
          <p:cNvPr id="9" name="Image 9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Table of Contents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571500" y="857250"/>
          <a:ext cx="6667500" cy="1"/>
        </p:xfrm>
        <a:graphic>
          <a:graphicData uri="http://schemas.openxmlformats.org/drawingml/2006/table">
            <a:tbl>
              <a:tblPr firstRow="0" bandRow="1"/>
              <a:tblGrid>
                <a:gridCol w="5715000"/>
                <a:gridCol w="9525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Section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Page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I.   Executive Summary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II.  Team &amp; Credentials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III. Market Overview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IV.  Company Overview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V.   Valuation &amp; Transaction Analysis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VI.  Appendix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Apex represents a compelling acquisition target at $1.6B–$2.1B implied enterprise value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476250" y="762000"/>
            <a:ext cx="8191500" cy="7715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Situation Overview: Apex Industries is a market leader in specialty industrial components with $1.25B LTM revenue and 22.7% EBITDA margins</a:t>
            </a:r>
            <a:endParaRPr lang="en-US" dirty="0"/>
          </a:p>
          <a:p>
            <a:pPr lvl="1">
              <a:lnSpc>
                <a:spcPts val="862"/>
              </a:lnSpc>
              <a:spcBef>
                <a:spcPts val="400"/>
              </a:spcBef>
              <a:buChar char="–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The Company has retained Meridian Capital Partners to evaluate strategic alternatives, including a potential sale process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Valuation Range: Based on our analysis across DCF, comparable companies, and precedent transactions, we estimate an enterprise value of $1.6B–$2.1B</a:t>
            </a:r>
            <a:endParaRPr lang="en-US" dirty="0"/>
          </a:p>
          <a:p>
            <a:pPr lvl="1">
              <a:lnSpc>
                <a:spcPts val="862"/>
              </a:lnSpc>
              <a:spcBef>
                <a:spcPts val="400"/>
              </a:spcBef>
              <a:buChar char="–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DCF analysis: $1.65B–$1.95B (WACC: 9.0%–11.0%)</a:t>
            </a:r>
            <a:endParaRPr lang="en-US" dirty="0"/>
          </a:p>
          <a:p>
            <a:pPr lvl="1">
              <a:lnSpc>
                <a:spcPts val="862"/>
              </a:lnSpc>
              <a:spcBef>
                <a:spcPts val="400"/>
              </a:spcBef>
              <a:buChar char="–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Comparable companies: $1.55B–$1.85B (12.5x–14.8x EV/EBITDA)</a:t>
            </a:r>
            <a:endParaRPr lang="en-US" dirty="0"/>
          </a:p>
          <a:p>
            <a:pPr lvl="1">
              <a:lnSpc>
                <a:spcPts val="862"/>
              </a:lnSpc>
              <a:spcBef>
                <a:spcPts val="400"/>
              </a:spcBef>
              <a:buChar char="–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Precedent transactions: $1.75B–$2.10B (14.0x–16.8x EV/EBITDA)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Recommendation: We recommend pursuing a targeted dual-track process, engaging 8–10 strategic and financial buyers over a 12-week timeline</a:t>
            </a:r>
            <a:endParaRPr lang="en-US" dirty="0"/>
          </a:p>
        </p:txBody>
      </p:sp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3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81000" y="4953000"/>
            <a:ext cx="21336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Meridian Capital Partners analysis, company financials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Meridian brings deep sector expertise with 40+ years of combined M&amp;A experience</a:t>
            </a:r>
            <a:endParaRPr lang="en-US" dirty="0"/>
          </a:p>
        </p:txBody>
      </p:sp>
      <p:grpSp>
        <p:nvGrpSpPr>
          <p:cNvPr id="4" name="Group 4"/>
          <p:cNvGrpSpPr>
            <a:grpSpLocks noGrp="1"/>
          </p:cNvGrpSpPr>
          <p:nvPr/>
        </p:nvGrpSpPr>
        <p:grpSpPr>
          <a:xfrm>
            <a:off x="476250" y="762000"/>
            <a:ext cx="8191500" cy="1905000"/>
            <a:chOff x="0" y="0"/>
            <a:chExt cx="8191500" cy="1905000"/>
          </a:xfrm>
        </p:grpSpPr>
        <p:pic>
          <p:nvPicPr>
            <p:cNvPr id="5" name="Image 5"/>
            <p:cNvPicPr>
              <a:picLocks noGrp="1"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2657475" cy="83820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6" name="Image 6"/>
            <p:cNvPicPr>
              <a:picLocks noGrp="1"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1775" y="0"/>
              <a:ext cx="2647950" cy="83820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7" name="Image 7"/>
            <p:cNvPicPr>
              <a:picLocks noGrp="1"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4025" y="0"/>
              <a:ext cx="2657475" cy="83820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8" name="Image 8"/>
            <p:cNvPicPr>
              <a:picLocks noGrp="1"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952500"/>
              <a:ext cx="2657475" cy="83820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9" name="Image 9"/>
            <p:cNvPicPr>
              <a:picLocks noGrp="1"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1775" y="952500"/>
              <a:ext cx="2647950" cy="83820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  <p:pic>
          <p:nvPicPr>
            <p:cNvPr id="10" name="Image 10"/>
            <p:cNvPicPr>
              <a:picLocks noGrp="1"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4025" y="952500"/>
              <a:ext cx="2657475" cy="838200"/>
            </a:xfrm>
            <a:prstGeom prst="rect">
              <a:avLst/>
            </a:prstGeom>
          </p:spPr>
          <p:txBody>
            <a:bodyPr rtlCol="0"/>
            <a:lstStyle/>
            <a:p>
              <a:endParaRPr lang="en-US" dirty="0"/>
            </a:p>
          </p:txBody>
        </p:pic>
      </p:grpSp>
      <p:sp>
        <p:nvSpPr>
          <p:cNvPr id="11" name="Text 11"/>
          <p:cNvSpPr txBox="1"/>
          <p:nvPr/>
        </p:nvSpPr>
        <p:spPr>
          <a:xfrm>
            <a:off x="476250" y="2857500"/>
            <a:ext cx="8191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J. Harrison, MD  •  S. Chen, MD  •  R. Patel, VP  •  M. Torres, VP  •  A. Kim, Associate  •  L. Wright, Analyst</a:t>
            </a:r>
            <a:endParaRPr lang="en-US" dirty="0"/>
          </a:p>
        </p:txBody>
      </p:sp>
      <p:sp>
        <p:nvSpPr>
          <p:cNvPr id="12" name="Text 12"/>
          <p:cNvSpPr txBox="1"/>
          <p:nvPr/>
        </p:nvSpPr>
        <p:spPr>
          <a:xfrm>
            <a:off x="476250" y="3238500"/>
            <a:ext cx="8191500" cy="3333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200+ completed M&amp;A transactions totaling $45B+ in aggregate value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Sector expertise: industrials, specialty manufacturing, aerospace &amp; defense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Average managing director tenure: 18 years in investment banking</a:t>
            </a:r>
            <a:endParaRPr lang="en-US" dirty="0"/>
          </a:p>
        </p:txBody>
      </p:sp>
      <p:pic>
        <p:nvPicPr>
          <p:cNvPr id="13" name="Image 13"/>
          <p:cNvPicPr>
            <a:picLocks noGrp="1"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4" name="Text 14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4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Meridian ranks #3 in mid-market industrials M&amp;A by deal count over the past 5 years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76250" y="762000"/>
          <a:ext cx="5238750" cy="1"/>
        </p:xfrm>
        <a:graphic>
          <a:graphicData uri="http://schemas.openxmlformats.org/drawingml/2006/table">
            <a:tbl>
              <a:tblPr firstRow="0" bandRow="1"/>
              <a:tblGrid>
                <a:gridCol w="571500"/>
                <a:gridCol w="2381250"/>
                <a:gridCol w="952500"/>
                <a:gridCol w="13335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Rank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Advisor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Deals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Agg. Value ($B)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Goldman Sachs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87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$142.5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J.P. Morgan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$128.3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Meridian Capital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$48.7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Morgan Stanley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$110.2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Lazard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$65.4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476250" y="27622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03A70"/>
                </a:solidFill>
                <a:latin typeface="Arial"/>
              </a:rPr>
              <a:t>Selected Recent Transactions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476250" y="3048000"/>
            <a:ext cx="8191500" cy="3333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Sale of Precision Components Corp. to Honeywell — $780.0m (14.2x EBITDA)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Sale of Atlas Manufacturing to PE consortium — $1.2B (12.8x EBITDA)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Acquisition of Delta Systems by client — $425.0m (11.5x EBITDA)</a:t>
            </a:r>
            <a:endParaRPr lang="en-US" dirty="0"/>
          </a:p>
        </p:txBody>
      </p:sp>
      <p:pic>
        <p:nvPicPr>
          <p:cNvPr id="7" name="Image 7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8" name="Text 8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5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81000" y="4953000"/>
            <a:ext cx="24003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Dealogic, mid-market industrials ($100m–$2B EV), 2021–2025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Industrial sector M&amp;A volume recovered to pre-pandemic levels, reaching $185B in 2025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6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81000" y="4953000"/>
            <a:ext cx="20574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Dealogic, industrial sector M&amp;A transactions globally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Favorable credit conditions support leveraged transaction structures at attractive spreads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7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81000" y="4953000"/>
            <a:ext cx="16573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LCD, ICE BofA indices as of March 2026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Industrial EV/EBITDA multiples expanded to 13.5x, driven by scarcity of quality assets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8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81000" y="4953000"/>
            <a:ext cx="17145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FactSet, S&amp;P Capital IQ as of March 2026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Apex is a diversified industrial leader with #1 or #2 position across three core segments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476250" y="762000"/>
            <a:ext cx="4762500" cy="876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Founded in 1987; headquartered in Chicago, IL; ~4,200 employees across 12 facilities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LTM Revenue: $1,250.0m | LTM EBITDA: $283.8m | EBITDA Margin: 22.7%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Three operating segments:</a:t>
            </a:r>
            <a:endParaRPr lang="en-US" dirty="0"/>
          </a:p>
          <a:p>
            <a:pPr lvl="1">
              <a:lnSpc>
                <a:spcPts val="862"/>
              </a:lnSpc>
              <a:spcBef>
                <a:spcPts val="400"/>
              </a:spcBef>
              <a:buChar char="–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Precision Components (48% of revenue) — aerospace &amp; defense fasteners, connectors</a:t>
            </a:r>
            <a:endParaRPr lang="en-US" dirty="0"/>
          </a:p>
          <a:p>
            <a:pPr lvl="1">
              <a:lnSpc>
                <a:spcPts val="862"/>
              </a:lnSpc>
              <a:spcBef>
                <a:spcPts val="400"/>
              </a:spcBef>
              <a:buChar char="–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Engineered Solutions (32% of revenue) — custom industrial assemblies</a:t>
            </a:r>
            <a:endParaRPr lang="en-US" dirty="0"/>
          </a:p>
          <a:p>
            <a:pPr lvl="1">
              <a:lnSpc>
                <a:spcPts val="862"/>
              </a:lnSpc>
              <a:spcBef>
                <a:spcPts val="400"/>
              </a:spcBef>
              <a:buChar char="–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Aftermarket Services (20% of revenue) — high-margin MRO and replacement parts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90%+ customer retention rate; 65% of revenue under long-term contracts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Key competitive advantages: proprietary manufacturing processes, FAA/DOD certifications, switching costs</a:t>
            </a:r>
            <a:endParaRPr lang="en-US" dirty="0"/>
          </a:p>
        </p:txBody>
      </p:sp>
      <p:graphicFrame>
        <p:nvGraphicFramePr>
          <p:cNvPr id="5" name="Chart 5"/>
          <p:cNvGraphicFramePr>
            <a:graphicFrameLocks noGrp="1"/>
          </p:cNvGraphicFramePr>
          <p:nvPr/>
        </p:nvGraphicFramePr>
        <p:xfrm>
          <a:off x="5524500" y="952500"/>
          <a:ext cx="3333750" cy="266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Image 6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7" name="Text 7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9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81000" y="4953000"/>
            <a:ext cx="22764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Company management, Meridian Capital Partners analysis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Decentralized operating model enables segment-level accountability and margin optimization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3619500" y="809625"/>
            <a:ext cx="1905000" cy="381000"/>
          </a:xfrm>
          <a:prstGeom prst="roundRect">
            <a:avLst/>
          </a:prstGeom>
          <a:solidFill>
            <a:srgbClr val="003A70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3771900" y="962025"/>
            <a:ext cx="16002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862"/>
              </a:lnSpc>
            </a:pPr>
            <a:r>
              <a:rPr lang="en-US" sz="750" b="1" dirty="0">
                <a:solidFill>
                  <a:srgbClr val="FFFFFF"/>
                </a:solidFill>
                <a:latin typeface="Arial"/>
              </a:rPr>
              <a:t>CEO — R. Mitchell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952500" y="1619250"/>
            <a:ext cx="1714500" cy="5238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1104900" y="1771650"/>
            <a:ext cx="14097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475569"/>
                </a:solidFill>
                <a:latin typeface="Arial"/>
              </a:rPr>
              <a:t>Precision Components</a:t>
            </a:r>
            <a:endParaRPr lang="en-US" dirty="0"/>
          </a:p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475569"/>
                </a:solidFill>
                <a:latin typeface="Arial"/>
              </a:rPr>
              <a:t>GM: J. Davis</a:t>
            </a:r>
            <a:endParaRPr lang="en-US" dirty="0"/>
          </a:p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475569"/>
                </a:solidFill>
                <a:latin typeface="Arial"/>
              </a:rPr>
              <a:t>Revenue: $600.0m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714750" y="1619250"/>
            <a:ext cx="1714500" cy="5238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867150" y="1771650"/>
            <a:ext cx="14097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475569"/>
                </a:solidFill>
                <a:latin typeface="Arial"/>
              </a:rPr>
              <a:t>Engineered Solutions</a:t>
            </a:r>
            <a:endParaRPr lang="en-US" dirty="0"/>
          </a:p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475569"/>
                </a:solidFill>
                <a:latin typeface="Arial"/>
              </a:rPr>
              <a:t>GM: K. Nakamura</a:t>
            </a:r>
            <a:endParaRPr lang="en-US" dirty="0"/>
          </a:p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475569"/>
                </a:solidFill>
                <a:latin typeface="Arial"/>
              </a:rPr>
              <a:t>Revenue: $400.0m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6477000" y="1619250"/>
            <a:ext cx="1714500" cy="5238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6629400" y="1771650"/>
            <a:ext cx="1409700" cy="2667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475569"/>
                </a:solidFill>
                <a:latin typeface="Arial"/>
              </a:rPr>
              <a:t>Aftermarket Services</a:t>
            </a:r>
            <a:endParaRPr lang="en-US" dirty="0"/>
          </a:p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475569"/>
                </a:solidFill>
                <a:latin typeface="Arial"/>
              </a:rPr>
              <a:t>GM: L. Fernandez</a:t>
            </a:r>
            <a:endParaRPr lang="en-US" dirty="0"/>
          </a:p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475569"/>
                </a:solidFill>
                <a:latin typeface="Arial"/>
              </a:rPr>
              <a:t>Revenue: $250.0m</a:t>
            </a:r>
            <a:endParaRPr lang="en-US" dirty="0"/>
          </a:p>
        </p:txBody>
      </p:sp>
      <p:cxnSp>
        <p:nvCxnSpPr>
          <p:cNvPr id="12" name="Connector 12"/>
          <p:cNvCxnSpPr/>
          <p:nvPr/>
        </p:nvCxnSpPr>
        <p:spPr>
          <a:xfrm>
            <a:off x="4572000" y="1190625"/>
            <a:ext cx="9525" cy="428625"/>
          </a:xfrm>
          <a:prstGeom prst="line">
            <a:avLst/>
          </a:prstGeom>
          <a:ln w="19050">
            <a:solidFill>
              <a:srgbClr val="003A70"/>
            </a:solidFill>
          </a:ln>
        </p:spPr>
      </p:cxnSp>
      <p:cxnSp>
        <p:nvCxnSpPr>
          <p:cNvPr id="13" name="Connector 13"/>
          <p:cNvCxnSpPr/>
          <p:nvPr/>
        </p:nvCxnSpPr>
        <p:spPr>
          <a:xfrm>
            <a:off x="1809750" y="1381125"/>
            <a:ext cx="2762250" cy="9525"/>
          </a:xfrm>
          <a:prstGeom prst="line">
            <a:avLst/>
          </a:prstGeom>
          <a:ln w="9525">
            <a:solidFill>
              <a:srgbClr val="003A70"/>
            </a:solidFill>
          </a:ln>
        </p:spPr>
      </p:cxnSp>
      <p:cxnSp>
        <p:nvCxnSpPr>
          <p:cNvPr id="14" name="Connector 14"/>
          <p:cNvCxnSpPr/>
          <p:nvPr/>
        </p:nvCxnSpPr>
        <p:spPr>
          <a:xfrm>
            <a:off x="1809750" y="1381125"/>
            <a:ext cx="9525" cy="238125"/>
          </a:xfrm>
          <a:prstGeom prst="line">
            <a:avLst/>
          </a:prstGeom>
          <a:ln w="9525">
            <a:solidFill>
              <a:srgbClr val="003A70"/>
            </a:solidFill>
          </a:ln>
        </p:spPr>
      </p:cxnSp>
      <p:cxnSp>
        <p:nvCxnSpPr>
          <p:cNvPr id="15" name="Connector 15"/>
          <p:cNvCxnSpPr/>
          <p:nvPr/>
        </p:nvCxnSpPr>
        <p:spPr>
          <a:xfrm flipH="1">
            <a:off x="4572000" y="1381125"/>
            <a:ext cx="2762250" cy="9525"/>
          </a:xfrm>
          <a:prstGeom prst="line">
            <a:avLst/>
          </a:prstGeom>
          <a:ln w="9525">
            <a:solidFill>
              <a:srgbClr val="003A70"/>
            </a:solidFill>
          </a:ln>
        </p:spPr>
      </p:cxnSp>
      <p:cxnSp>
        <p:nvCxnSpPr>
          <p:cNvPr id="16" name="Connector 16"/>
          <p:cNvCxnSpPr/>
          <p:nvPr/>
        </p:nvCxnSpPr>
        <p:spPr>
          <a:xfrm>
            <a:off x="7334250" y="1381125"/>
            <a:ext cx="9525" cy="238125"/>
          </a:xfrm>
          <a:prstGeom prst="line">
            <a:avLst/>
          </a:prstGeom>
          <a:ln w="9525">
            <a:solidFill>
              <a:srgbClr val="003A70"/>
            </a:solidFill>
          </a:ln>
        </p:spPr>
      </p:cxnSp>
      <p:sp>
        <p:nvSpPr>
          <p:cNvPr id="17" name="Text 17"/>
          <p:cNvSpPr txBox="1"/>
          <p:nvPr/>
        </p:nvSpPr>
        <p:spPr>
          <a:xfrm>
            <a:off x="476250" y="2476500"/>
            <a:ext cx="3810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03A70"/>
                </a:solidFill>
                <a:latin typeface="Arial"/>
              </a:rPr>
              <a:t>End Market Diversification</a:t>
            </a:r>
            <a:endParaRPr lang="en-US" dirty="0"/>
          </a:p>
        </p:txBody>
      </p:sp>
      <p:graphicFrame>
        <p:nvGraphicFramePr>
          <p:cNvPr id="18" name="Chart 18"/>
          <p:cNvGraphicFramePr>
            <a:graphicFrameLocks noGrp="1"/>
          </p:cNvGraphicFramePr>
          <p:nvPr/>
        </p:nvGraphicFramePr>
        <p:xfrm>
          <a:off x="476250" y="2714625"/>
          <a:ext cx="3810000" cy="190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9" name="Image 19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20" name="Text 20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10</a:t>
            </a:r>
            <a:endParaRPr lang="en-US" dirty="0"/>
          </a:p>
        </p:txBody>
      </p:sp>
      <p:sp>
        <p:nvSpPr>
          <p:cNvPr id="21" name="Text 21"/>
          <p:cNvSpPr txBox="1"/>
          <p:nvPr/>
        </p:nvSpPr>
        <p:spPr>
          <a:xfrm>
            <a:off x="381000" y="4953000"/>
            <a:ext cx="10763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Company management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Revenue grew at 12.3% CAGR over the past 5 years, with gross margins expanding 280bps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6477000" cy="1"/>
        </p:xfrm>
        <a:graphic>
          <a:graphicData uri="http://schemas.openxmlformats.org/drawingml/2006/table">
            <a:tbl>
              <a:tblPr firstRow="0" bandRow="1"/>
              <a:tblGrid>
                <a:gridCol w="1238250"/>
                <a:gridCol w="857250"/>
                <a:gridCol w="857250"/>
                <a:gridCol w="857250"/>
                <a:gridCol w="857250"/>
                <a:gridCol w="857250"/>
                <a:gridCol w="9525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gridSpan="5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Historical Financials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($m)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FY21A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FY22A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FY23A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FY24A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FY25A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FY21-25 CAGR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$780.0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$892.0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$1,005.0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$1,125.0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$1,250.0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  Growth 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—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12.7%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11.9%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11.1%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COGS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($460.2)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($521.8)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($582.9)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($641.3)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($693.8)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Gross Profit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$319.8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$370.2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$422.1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$483.8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$556.3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  Gross Margin 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41.0%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41.5%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42.0%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43.0%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44.5%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+350bps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11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81000" y="4953000"/>
            <a:ext cx="18192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Company filings, audited financial statements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EBITDA margins expanded from 18.5% to 22.7%, driven by operating leverage and mix shift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14375"/>
          <a:ext cx="6334125" cy="1"/>
        </p:xfrm>
        <a:graphic>
          <a:graphicData uri="http://schemas.openxmlformats.org/drawingml/2006/table">
            <a:tbl>
              <a:tblPr firstRow="0" bandRow="1"/>
              <a:tblGrid>
                <a:gridCol w="1333500"/>
                <a:gridCol w="809625"/>
                <a:gridCol w="809625"/>
                <a:gridCol w="809625"/>
                <a:gridCol w="809625"/>
                <a:gridCol w="809625"/>
                <a:gridCol w="9525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gridSpan="5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Profitability Metrics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($m)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FY21A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FY22A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FY23A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FY24A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FY25A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FY21-25 CAGR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Gross Profit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$319.8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$370.2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$422.1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$483.8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$556.3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SG&amp;A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($132.6)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($147.2)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($160.8)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($174.4)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($187.5)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  SG&amp;A % of 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17.0%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16.5%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16.0%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(200bps)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R&amp;D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($42.9)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($47.3)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($52.3)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($56.3)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($62.5)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  R&amp;D % of 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5.3%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(50bps)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$144.3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$175.7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$209.0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$253.1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$283.8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18.4%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  EBITDA Margin 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19.7%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22.7%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+420bps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D&amp;A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($31.2)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($35.7)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($40.2)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($45.0)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($50.0)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$113.1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$140.0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$168.8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$208.1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$233.8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19.9%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  EBIT Margin 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15.7%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16.8%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18.7%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+420bps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12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81000" y="4953000"/>
            <a:ext cx="18192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Company filings, audited financial statements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Strong free cash flow generation of $180m+ supports deleveraging and growth investment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14375"/>
          <a:ext cx="6572250" cy="1"/>
        </p:xfrm>
        <a:graphic>
          <a:graphicData uri="http://schemas.openxmlformats.org/drawingml/2006/table">
            <a:tbl>
              <a:tblPr firstRow="0" bandRow="1"/>
              <a:tblGrid>
                <a:gridCol w="1333500"/>
                <a:gridCol w="1047750"/>
                <a:gridCol w="1047750"/>
                <a:gridCol w="1047750"/>
                <a:gridCol w="1047750"/>
                <a:gridCol w="10477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gridSpan="5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Cash Flow &amp; Leverage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($m)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FY21A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FY22A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FY23A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FY24A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FY25A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$144.3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$175.7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$209.0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$253.1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$283.8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(-) Capex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($27.3)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($31.2)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($35.2)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($39.4)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($43.8)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  % of 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(-) Change in NWC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($8.6)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($12.4)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($10.1)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($13.5)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($11.3)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(-) Cash Taxes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($28.3)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($35.0)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($42.2)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($52.0)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($58.5)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Unlevered FCF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$80.1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$97.1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$121.5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$148.2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$170.2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  FCF Conversion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55.5%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55.3%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58.1%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58.6%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60.0%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Net Debt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$280.0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$245.0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$210.0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$175.0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$140.0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Net Debt / 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1.9x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1.4x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1.0x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0.7x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0.5x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13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81000" y="4953000"/>
            <a:ext cx="18192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Company filings, audited financial statements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Apex trades at a discount to peers on EV/EBITDA, reflecting upside in a change-of-control scenario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90500" y="666750"/>
          <a:ext cx="7429500" cy="1"/>
        </p:xfrm>
        <a:graphic>
          <a:graphicData uri="http://schemas.openxmlformats.org/drawingml/2006/table">
            <a:tbl>
              <a:tblPr firstRow="0" bandRow="1"/>
              <a:tblGrid>
                <a:gridCol w="1047750"/>
                <a:gridCol w="457200"/>
                <a:gridCol w="495300"/>
                <a:gridCol w="495300"/>
                <a:gridCol w="457200"/>
                <a:gridCol w="476250"/>
                <a:gridCol w="438150"/>
                <a:gridCol w="514350"/>
                <a:gridCol w="400050"/>
                <a:gridCol w="438150"/>
                <a:gridCol w="438150"/>
                <a:gridCol w="476250"/>
                <a:gridCol w="381000"/>
                <a:gridCol w="457200"/>
                <a:gridCol w="4572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 gridSpan="3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Market Data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Financials ($m)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gridSpan="4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Valuation Multiples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gridSpan="3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Margins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Growth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Mkt Cap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EV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Rev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EBITDA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EV/Rev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EV/EBITDA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P/E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EV/FCF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Gross %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EBITDA %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Net %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Rev Gr%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EPS Gr%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Apex Industries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$48.50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$3,340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$1,250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$284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2.7x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19.6x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44.5%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22.7%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11.1%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Honeywell Intl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$215.30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$145,200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$162,400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$37,400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$8,950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4.3x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28.5x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24.2x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38.2%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23.9%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Parker Hannifin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$485.60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$63,100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$72,500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$19,800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$4,360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3.7x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16.6x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25.8x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21.4x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36.5%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13.2%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Illinois Tool Wks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$252.40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$75,600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$79,200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$16,100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$4,190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4.9x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18.9x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26.2x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23.8x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42.8%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26.0%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17.5%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Emerson Electric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$112.80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$65,400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$73,800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$17,500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$4,025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18.3x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27.0x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40.5%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23.0%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Roper Technologies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$545.20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$58,900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$64,200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$6,300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$2,270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28.3x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35.2x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30.1x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68.5%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36.0%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Mean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19.1x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27.1x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23.1x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44.8%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24.9%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Median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26.6x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42.3%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24.5%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9.9%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14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81000" y="4953000"/>
            <a:ext cx="30670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FactSet, company filings as of March 2026. All multiples based on NTM estimates.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Comparable company analysis (cont'd) — smaller-cap peers trade at wider range of multiples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90500" y="666750"/>
          <a:ext cx="7429500" cy="1"/>
        </p:xfrm>
        <a:graphic>
          <a:graphicData uri="http://schemas.openxmlformats.org/drawingml/2006/table">
            <a:tbl>
              <a:tblPr firstRow="0" bandRow="1"/>
              <a:tblGrid>
                <a:gridCol w="1047750"/>
                <a:gridCol w="457200"/>
                <a:gridCol w="495300"/>
                <a:gridCol w="495300"/>
                <a:gridCol w="457200"/>
                <a:gridCol w="476250"/>
                <a:gridCol w="438150"/>
                <a:gridCol w="514350"/>
                <a:gridCol w="400050"/>
                <a:gridCol w="438150"/>
                <a:gridCol w="438150"/>
                <a:gridCol w="476250"/>
                <a:gridCol w="381000"/>
                <a:gridCol w="457200"/>
                <a:gridCol w="4572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 gridSpan="3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Market Data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Financials ($m)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gridSpan="4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Valuation Multiples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gridSpan="3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Margins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gridSpan="2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Growth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Price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Mkt Cap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EV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Rev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EBITDA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EV/Rev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EV/EBITDA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P/E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EV/FCF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Gross %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EBITDA %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Net %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Rev Gr%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525" b="1" dirty="0">
                          <a:solidFill>
                            <a:srgbClr val="FFFFFF"/>
                          </a:solidFill>
                        </a:rPr>
                        <a:t>EPS Gr%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Ametek Inc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$175.40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$40,800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$43,500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$6,800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$1,836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6.4x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23.7x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30.5x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26.8x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35.8%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27.0%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16.2%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12.4%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Fortive Corp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$78.90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$27,400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$30,100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$1,550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4.9x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19.4x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24.8x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58.2%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25.0%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Nordson Corp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$245.80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$14,100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$15,800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$2,700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$756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5.9x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20.9x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28.2x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24.0x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55.2%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28.0%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16.5%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Watts Water Tech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$198.50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$6,600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$7,100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$2,050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$410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17.3x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25.5x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21.2x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42.0%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RBC Bearings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$285.60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$8,300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$9,800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$1,600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$432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22.7x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32.0x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27.5x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42.5%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27.0%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13.2%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Barnes Group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$42.80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$2,100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$3,200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$1,300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$247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13.0x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32.8%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19.0%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Mean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19.1x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27.1x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23.1x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44.8%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24.9%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Median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26.6x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42.3%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24.5%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9.9%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25th Percentile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17.0x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24.9x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37.0%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22.3%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12.6%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7.6%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75th Percentile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21.6x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29.9x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25.0x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54.5%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27.0%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16.4%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12.6%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15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81000" y="4953000"/>
            <a:ext cx="30670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FactSet, company filings as of March 2026. All multiples based on NTM estimates.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Precedent industrial transactions command 14.0x–16.8x EV/EBITDA with 25–40% control premiums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6286500" cy="1"/>
        </p:xfrm>
        <a:graphic>
          <a:graphicData uri="http://schemas.openxmlformats.org/drawingml/2006/table">
            <a:tbl>
              <a:tblPr firstRow="0" bandRow="1"/>
              <a:tblGrid>
                <a:gridCol w="619125"/>
                <a:gridCol w="1238250"/>
                <a:gridCol w="1143000"/>
                <a:gridCol w="762000"/>
                <a:gridCol w="571500"/>
                <a:gridCol w="666750"/>
                <a:gridCol w="619125"/>
                <a:gridCol w="6667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Acquirer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EV ($m)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EV/Rev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EV/EBITDA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Premium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Deal Type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Jan-26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Precision Aero Corp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Honeywell Intl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$2,450.0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16.8x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35.2%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Strategic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Nov-25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Atlas Manufacturing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PE Consortium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$1,200.0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28.0%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LBO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Sep-25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Omega Systems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Parker Hannifin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$890.0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2.9x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13.2x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32.5%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Strategic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Jun-25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Delta Components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Emerson Electric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$675.0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15.0x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30.8%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Strategic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Mar-25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Sigma Industries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KKR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$1,850.0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16.2x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25.4%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LBO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16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81000" y="4953000"/>
            <a:ext cx="16859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Dealogic, company filings, press releases</a:t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Precedent transactions (cont'd) — median EV/EBITDA of 14.8x across 10 transactions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6286500" cy="1"/>
        </p:xfrm>
        <a:graphic>
          <a:graphicData uri="http://schemas.openxmlformats.org/drawingml/2006/table">
            <a:tbl>
              <a:tblPr firstRow="0" bandRow="1"/>
              <a:tblGrid>
                <a:gridCol w="619125"/>
                <a:gridCol w="1238250"/>
                <a:gridCol w="1143000"/>
                <a:gridCol w="762000"/>
                <a:gridCol w="571500"/>
                <a:gridCol w="666750"/>
                <a:gridCol w="619125"/>
                <a:gridCol w="6667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Acquirer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EV ($m)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EV/Rev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EV/EBITDA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Premium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Deal Type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Dec-24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Vanguard Precision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Danaher Corp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$1,550.0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27.5%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Strategic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Aug-24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Pinnacle MFG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Advent Intl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$920.0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2.7x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LBO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May-24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Apex Dynamics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Roper Technologies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$2,100.0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38.2%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Strategic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Jan-24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CoreTech Systems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Carlyle Group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$780.0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3.0x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14.0x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26.8%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LBO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Oct-23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Titan Industrials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Illinois Tool Works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$1,350.0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3.4x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33.0%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Strategic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Mean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$1,376.5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29.9%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Median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$1,200.0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3.4x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28.8%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17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81000" y="4953000"/>
            <a:ext cx="16859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Dealogic, company filings, press releases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DCF base case implies $1.80B enterprise value at 10.0% WACC and 2.5% terminal growth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476250" y="685800"/>
            <a:ext cx="8858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03A70"/>
                </a:solidFill>
                <a:latin typeface="Arial"/>
              </a:rPr>
              <a:t>Key Assumptions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476250" y="904875"/>
          <a:ext cx="3048000" cy="1"/>
        </p:xfrm>
        <a:graphic>
          <a:graphicData uri="http://schemas.openxmlformats.org/drawingml/2006/table">
            <a:tbl>
              <a:tblPr firstRow="0" bandRow="0"/>
              <a:tblGrid>
                <a:gridCol w="1905000"/>
                <a:gridCol w="11430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Assumption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WACC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Terminal Growth Rate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Tax Rate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25.0%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Capex (% of Revenue)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NWC (% of Rev Change)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D&amp;A (% of Revenue)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4572000" y="685800"/>
            <a:ext cx="1343025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03A70"/>
                </a:solidFill>
                <a:latin typeface="Arial"/>
              </a:rPr>
              <a:t>Projected Free Cash Flows</a:t>
            </a:r>
            <a:endParaRPr lang="en-US" dirty="0"/>
          </a:p>
        </p:txBody>
      </p:sp>
      <p:graphicFrame>
        <p:nvGraphicFramePr>
          <p:cNvPr id="7" name="Table 7"/>
          <p:cNvGraphicFramePr>
            <a:graphicFrameLocks noGrp="1"/>
          </p:cNvGraphicFramePr>
          <p:nvPr/>
        </p:nvGraphicFramePr>
        <p:xfrm>
          <a:off x="4000500" y="904875"/>
          <a:ext cx="4781550" cy="1"/>
        </p:xfrm>
        <a:graphic>
          <a:graphicData uri="http://schemas.openxmlformats.org/drawingml/2006/table">
            <a:tbl>
              <a:tblPr firstRow="0" bandRow="1"/>
              <a:tblGrid>
                <a:gridCol w="666750"/>
                <a:gridCol w="685800"/>
                <a:gridCol w="685800"/>
                <a:gridCol w="685800"/>
                <a:gridCol w="685800"/>
                <a:gridCol w="685800"/>
                <a:gridCol w="6858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($m)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FY26E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FY27E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FY28E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FY29E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FY30E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00" b="1" dirty="0">
                          <a:solidFill>
                            <a:srgbClr val="FFFFFF"/>
                          </a:solidFill>
                        </a:rPr>
                        <a:t>Terminal</a:t>
                      </a:r>
                      <a:endParaRPr lang="en-US" dirty="0"/>
                    </a:p>
                  </a:txBody>
                  <a:tcPr marL="28575" marR="28575" marT="28575" marB="28575">
                    <a:lnB w="19050" cap="flat" cmpd="sng">
                      <a:solidFill>
                        <a:srgbClr val="003A70"/>
                      </a:solidFill>
                      <a:prstDash val="solid"/>
                    </a:lnB>
                    <a:solidFill>
                      <a:srgbClr val="003A7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$1,400.0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$1,554.0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$1,694.0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$1,830.0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$1,958.0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$336.0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$388.5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$432.0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$476.8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$519.8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(-) Taxes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($63.0)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($73.5)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($82.5)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($92.0)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($101.0)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(-) Capex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($49.0)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($54.4)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($59.3)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($64.1)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($68.5)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(-) ΔNWC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($15.0)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($15.4)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($14.0)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($13.6)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($12.8)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UFCF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$209.0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$245.2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$276.2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$307.1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$337.5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$4,593.8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pic>
        <p:nvPicPr>
          <p:cNvPr id="8" name="Image 8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9" name="Text 9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18</a:t>
            </a:r>
            <a:endParaRPr lang="en-US" dirty="0"/>
          </a:p>
        </p:txBody>
      </p:sp>
      <p:sp>
        <p:nvSpPr>
          <p:cNvPr id="10" name="Text 10"/>
          <p:cNvSpPr txBox="1"/>
          <p:nvPr/>
        </p:nvSpPr>
        <p:spPr>
          <a:xfrm>
            <a:off x="381000" y="4953000"/>
            <a:ext cx="20002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Meridian Capital Partners DCF model, March 2026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Implied enterprise value of $1.55B–$2.25B across WACC and terminal growth sensitivities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857250"/>
          <a:ext cx="6381750" cy="1"/>
        </p:xfrm>
        <a:graphic>
          <a:graphicData uri="http://schemas.openxmlformats.org/drawingml/2006/table">
            <a:tbl>
              <a:tblPr firstRow="0" bandRow="1"/>
              <a:tblGrid>
                <a:gridCol w="1143000"/>
                <a:gridCol w="1047750"/>
                <a:gridCol w="1047750"/>
                <a:gridCol w="1047750"/>
                <a:gridCol w="1047750"/>
                <a:gridCol w="10477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gridSpan="5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Terminal Growth Rate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WACC \ TGR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1.5%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2.0%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2.5%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3.0%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3.5%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8.5%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$2,050.0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$2,150.0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$2,280.0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$2,450.0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$2,680.0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9.5%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$1,780.0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$1,860.0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$1,960.0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$2,080.0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$2,240.0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10.0%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$1,660.0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$1,730.0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$1,810.0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$1,920.0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$2,050.0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10.5%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$1,560.0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$1,620.0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$1,690.0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$1,780.0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$1,890.0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11.5%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$1,380.0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$1,430.0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$1,490.0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$1,560.0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$1,650.0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762000" y="3238500"/>
            <a:ext cx="5715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03A70"/>
                </a:solidFill>
                <a:latin typeface="Arial"/>
              </a:rPr>
              <a:t>Base case highlighted: WACC 10.0%, TGR 2.5% → EV of $1,810.0m</a:t>
            </a:r>
            <a:endParaRPr lang="en-US" dirty="0"/>
          </a:p>
        </p:txBody>
      </p:sp>
      <p:pic>
        <p:nvPicPr>
          <p:cNvPr id="6" name="Image 6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7" name="Text 7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19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81000" y="4953000"/>
            <a:ext cx="20002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Meridian Capital Partners DCF model, March 2026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Valuation across all methodologies supports an enterprise value range of $1.6B–$2.1B</a:t>
            </a:r>
            <a:endParaRPr lang="en-US" dirty="0"/>
          </a:p>
        </p:txBody>
      </p:sp>
      <p:graphicFrame>
        <p:nvGraphicFramePr>
          <p:cNvPr id="4" name="Chart 4"/>
          <p:cNvGraphicFramePr>
            <a:graphicFrameLocks noGrp="1"/>
          </p:cNvGraphicFramePr>
          <p:nvPr/>
        </p:nvGraphicFramePr>
        <p:xfrm>
          <a:off x="381000" y="762000"/>
          <a:ext cx="8382000" cy="3333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5"/>
          <p:cNvSpPr txBox="1"/>
          <p:nvPr/>
        </p:nvSpPr>
        <p:spPr>
          <a:xfrm>
            <a:off x="381000" y="4191000"/>
            <a:ext cx="4762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i="1" dirty="0">
                <a:solidFill>
                  <a:srgbClr val="475569"/>
                </a:solidFill>
                <a:latin typeface="Arial"/>
              </a:rPr>
              <a:t>Current share price implies ~$1,620m EV</a:t>
            </a:r>
            <a:endParaRPr lang="en-US" dirty="0"/>
          </a:p>
        </p:txBody>
      </p:sp>
      <p:pic>
        <p:nvPicPr>
          <p:cNvPr id="6" name="Image 6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7" name="Text 7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20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81000" y="4953000"/>
            <a:ext cx="17526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Meridian Capital Partners analysis, FactSet</a:t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Transaction funded through balanced mix of equity and debt; total consideration of $2.1B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62000"/>
          <a:ext cx="3429000" cy="1"/>
        </p:xfrm>
        <a:graphic>
          <a:graphicData uri="http://schemas.openxmlformats.org/drawingml/2006/table">
            <a:tbl>
              <a:tblPr firstRow="0" bandRow="0"/>
              <a:tblGrid>
                <a:gridCol w="1666875"/>
                <a:gridCol w="1047750"/>
                <a:gridCol w="714375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Sources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Amount ($m)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% Total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Revolving Credit Facility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$75.0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3.6%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Term Loan B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$750.0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35.7%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Senior Unsecured Notes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16.7%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Rollover Equity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$325.0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Sponsor Equity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$600.0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28.6%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Total Sources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$2,100.0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100.0%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4857750" y="762000"/>
          <a:ext cx="3524250" cy="1"/>
        </p:xfrm>
        <a:graphic>
          <a:graphicData uri="http://schemas.openxmlformats.org/drawingml/2006/table">
            <a:tbl>
              <a:tblPr firstRow="0" bandRow="0"/>
              <a:tblGrid>
                <a:gridCol w="1762125"/>
                <a:gridCol w="1047750"/>
                <a:gridCol w="714375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Uses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Amount ($m)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% Total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Equity Purchase Price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$1,680.0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80.0%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Refinance Existing Debt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$230.0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Transaction Fees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$98.0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Financing Fees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$62.0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Cash to Balance Sheet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Total Uses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$2,100.0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100.0%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6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7" name="Text 7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21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81000" y="4953000"/>
            <a:ext cx="26860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Meridian Capital Partners, indicative terms subject to market conditions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Pro forma leverage of 4.8x EBITDA with line of sight to rapid deleveraging below 3.0x by Year 3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571500" y="762000"/>
          <a:ext cx="5334000" cy="1"/>
        </p:xfrm>
        <a:graphic>
          <a:graphicData uri="http://schemas.openxmlformats.org/drawingml/2006/table">
            <a:tbl>
              <a:tblPr firstRow="0" bandRow="1"/>
              <a:tblGrid>
                <a:gridCol w="1714500"/>
                <a:gridCol w="952500"/>
                <a:gridCol w="762000"/>
                <a:gridCol w="1143000"/>
                <a:gridCol w="7620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Capital Structure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Amount ($m)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Multiple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Maturity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Revolving Credit Facility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$75.0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0.3x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SOFR + 275bps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2031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Term Loan B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$750.0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SOFR + 350bps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2033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Senior Unsecured Notes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7.500%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2034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Total Debt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$1,175.0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Rollover Equity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$325.0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Sponsor Equity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$600.0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Total Capitalization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$2,100.0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/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571500" y="2952750"/>
            <a:ext cx="3810000" cy="1238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949"/>
              </a:lnSpc>
            </a:pPr>
            <a:r>
              <a:rPr lang="en-US" sz="825" b="1" dirty="0">
                <a:solidFill>
                  <a:srgbClr val="003A70"/>
                </a:solidFill>
                <a:latin typeface="Arial"/>
              </a:rPr>
              <a:t>Pro Forma Credit Statistics</a:t>
            </a:r>
            <a:endParaRPr lang="en-US" dirty="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571500" y="3190875"/>
          <a:ext cx="5524500" cy="1"/>
        </p:xfrm>
        <a:graphic>
          <a:graphicData uri="http://schemas.openxmlformats.org/drawingml/2006/table">
            <a:tbl>
              <a:tblPr firstRow="0" bandRow="0"/>
              <a:tblGrid>
                <a:gridCol w="1714500"/>
                <a:gridCol w="952500"/>
                <a:gridCol w="952500"/>
                <a:gridCol w="952500"/>
                <a:gridCol w="9525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Close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Year 1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Total Debt / 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Senior Secured / 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2.9x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1.7x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Interest Coverage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3.7x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4.3x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FCF / Debt Service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1.4x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1.9x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Image 7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8" name="Text 8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22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381000" y="4953000"/>
            <a:ext cx="20478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Meridian Capital Partners, indicative financing terms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Honeywell International — High strategic fit as a strategic acquirer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476250" y="714375"/>
            <a:ext cx="8191500" cy="7524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628650" y="866775"/>
            <a:ext cx="78867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03A70"/>
                </a:solidFill>
                <a:latin typeface="Arial"/>
              </a:rPr>
              <a:t>Honeywell International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628650" y="1038225"/>
            <a:ext cx="78867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</a:rPr>
              <a:t>Strategic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28650" y="1209675"/>
            <a:ext cx="78867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Diversified industrial conglomerate with $37.4B revenue. Strong aerospace &amp; defense presence.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76250" y="1809750"/>
            <a:ext cx="3810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03A70"/>
                </a:solidFill>
                <a:latin typeface="Arial"/>
              </a:rPr>
              <a:t>Strategic Rationale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76250" y="2000250"/>
            <a:ext cx="8191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Bolt-on to Aerospace segment; cross-sell aftermarket services to installed base of 50,000+ platforms.</a:t>
            </a:r>
            <a:endParaRPr lang="en-US" dirty="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476250" y="2476500"/>
          <a:ext cx="3810000" cy="1"/>
        </p:xfrm>
        <a:graphic>
          <a:graphicData uri="http://schemas.openxmlformats.org/drawingml/2006/table">
            <a:tbl>
              <a:tblPr firstRow="0" bandRow="0"/>
              <a:tblGrid>
                <a:gridCol w="1905000"/>
                <a:gridCol w="19050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$37,400.0m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$8,950.0m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Current EV/EBITDA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Acquisition Capacity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$15.0B+ acquisition capacity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Strategic Fit Assessment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1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2" name="Text 12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23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381000" y="4953000"/>
            <a:ext cx="23145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FactSet, company filings, Meridian Capital Partners analysis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Parker Hannifin — High strategic fit as a strategic acquirer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476250" y="714375"/>
            <a:ext cx="8191500" cy="7524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628650" y="866775"/>
            <a:ext cx="78867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03A70"/>
                </a:solidFill>
                <a:latin typeface="Arial"/>
              </a:rPr>
              <a:t>Parker Hannifin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628650" y="1038225"/>
            <a:ext cx="78867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</a:rPr>
              <a:t>Strategic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28650" y="1209675"/>
            <a:ext cx="78867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Global leader in motion and control technologies with $19.8B revenue.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76250" y="1809750"/>
            <a:ext cx="3810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03A70"/>
                </a:solidFill>
                <a:latin typeface="Arial"/>
              </a:rPr>
              <a:t>Strategic Rationale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76250" y="2000250"/>
            <a:ext cx="8191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Expand precision components portfolio; consolidate supply chain for aerospace customers.</a:t>
            </a:r>
            <a:endParaRPr lang="en-US" dirty="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476250" y="2476500"/>
          <a:ext cx="3810000" cy="1"/>
        </p:xfrm>
        <a:graphic>
          <a:graphicData uri="http://schemas.openxmlformats.org/drawingml/2006/table">
            <a:tbl>
              <a:tblPr firstRow="0" bandRow="0"/>
              <a:tblGrid>
                <a:gridCol w="1905000"/>
                <a:gridCol w="19050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$19,800.0m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$4,360.0m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Current EV/EBITDA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16.6x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Acquisition Capacity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$8.0B+ acquisition capacity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Strategic Fit Assessment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1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2" name="Text 12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24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381000" y="4953000"/>
            <a:ext cx="23145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FactSet, company filings, Meridian Capital Partners analysis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Emerson Electric — Medium–High strategic fit as a strategic acquirer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476250" y="714375"/>
            <a:ext cx="8191500" cy="7524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628650" y="866775"/>
            <a:ext cx="78867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03A70"/>
                </a:solidFill>
                <a:latin typeface="Arial"/>
              </a:rPr>
              <a:t>Emerson Electric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628650" y="1038225"/>
            <a:ext cx="78867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</a:rPr>
              <a:t>Strategic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28650" y="1209675"/>
            <a:ext cx="78867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Technology and engineering company with $17.5B revenue post-portfolio rationalization.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76250" y="1809750"/>
            <a:ext cx="3810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03A70"/>
                </a:solidFill>
                <a:latin typeface="Arial"/>
              </a:rPr>
              <a:t>Strategic Rationale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76250" y="2000250"/>
            <a:ext cx="8191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Strengthen industrial automation adjacency; Apex's aftermarket aligns with recurring revenue strategy.</a:t>
            </a:r>
            <a:endParaRPr lang="en-US" dirty="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476250" y="2476500"/>
          <a:ext cx="3810000" cy="1"/>
        </p:xfrm>
        <a:graphic>
          <a:graphicData uri="http://schemas.openxmlformats.org/drawingml/2006/table">
            <a:tbl>
              <a:tblPr firstRow="0" bandRow="0"/>
              <a:tblGrid>
                <a:gridCol w="1905000"/>
                <a:gridCol w="19050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$17,500.0m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$4,025.0m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Current EV/EBITDA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18.3x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Acquisition Capacity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$10.0B+ acquisition capacity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Strategic Fit Assessment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Medium–High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1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2" name="Text 12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25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381000" y="4953000"/>
            <a:ext cx="23145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FactSet, company filings, Meridian Capital Partners analysis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Illinois Tool Works — Medium strategic fit as a strategic acquirer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476250" y="714375"/>
            <a:ext cx="8191500" cy="7524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628650" y="866775"/>
            <a:ext cx="78867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03A70"/>
                </a:solidFill>
                <a:latin typeface="Arial"/>
              </a:rPr>
              <a:t>Illinois Tool Works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628650" y="1038225"/>
            <a:ext cx="78867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</a:rPr>
              <a:t>Strategic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28650" y="1209675"/>
            <a:ext cx="78867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Diversified manufacturer with $16.1B revenue and industry-leading 26% EBITDA margins.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76250" y="1809750"/>
            <a:ext cx="3810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03A70"/>
                </a:solidFill>
                <a:latin typeface="Arial"/>
              </a:rPr>
              <a:t>Strategic Rationale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76250" y="2000250"/>
            <a:ext cx="8191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Apply ITW's 80/20 operating model to Apex; margin expansion opportunity of 300–500bps.</a:t>
            </a:r>
            <a:endParaRPr lang="en-US" dirty="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476250" y="2476500"/>
          <a:ext cx="3810000" cy="1"/>
        </p:xfrm>
        <a:graphic>
          <a:graphicData uri="http://schemas.openxmlformats.org/drawingml/2006/table">
            <a:tbl>
              <a:tblPr firstRow="0" bandRow="0"/>
              <a:tblGrid>
                <a:gridCol w="1905000"/>
                <a:gridCol w="19050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$16,100.0m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$4,190.0m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Current EV/EBITDA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18.9x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Acquisition Capacity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$6.0B+ acquisition capacity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Strategic Fit Assessment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1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2" name="Text 12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26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381000" y="4953000"/>
            <a:ext cx="23145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FactSet, company filings, Meridian Capital Partners analysis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KKR &amp; Co. — High strategic fit as a financial sponsor acquirer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476250" y="714375"/>
            <a:ext cx="8191500" cy="7524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628650" y="866775"/>
            <a:ext cx="78867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03A70"/>
                </a:solidFill>
                <a:latin typeface="Arial"/>
              </a:rPr>
              <a:t>KKR &amp; Co.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628650" y="1038225"/>
            <a:ext cx="78867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</a:rPr>
              <a:t>Financial Sponsor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28650" y="1209675"/>
            <a:ext cx="78867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Leading global PE firm with $500B+ AUM and deep industrials portfolio.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76250" y="1809750"/>
            <a:ext cx="3810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03A70"/>
                </a:solidFill>
                <a:latin typeface="Arial"/>
              </a:rPr>
              <a:t>Strategic Rationale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76250" y="2000250"/>
            <a:ext cx="8191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Platform investment for industrial roll-up strategy; Apex as cornerstone for bolt-on acquisitions.</a:t>
            </a:r>
            <a:endParaRPr lang="en-US" dirty="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476250" y="2476500"/>
          <a:ext cx="3810000" cy="1"/>
        </p:xfrm>
        <a:graphic>
          <a:graphicData uri="http://schemas.openxmlformats.org/drawingml/2006/table">
            <a:tbl>
              <a:tblPr firstRow="0" bandRow="0"/>
              <a:tblGrid>
                <a:gridCol w="1905000"/>
                <a:gridCol w="19050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N/A (PE)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N/A (PE)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Current EV/EBITDA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N/A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Acquisition Capacity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$4.0B equity check capacity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Strategic Fit Assessment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1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2" name="Text 12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27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381000" y="4953000"/>
            <a:ext cx="23145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FactSet, company filings, Meridian Capital Partners analysis</a:t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Carlyle Group — High strategic fit as a financial sponsor acquirer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476250" y="714375"/>
            <a:ext cx="8191500" cy="7524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628650" y="866775"/>
            <a:ext cx="78867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03A70"/>
                </a:solidFill>
                <a:latin typeface="Arial"/>
              </a:rPr>
              <a:t>Carlyle Group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628650" y="1038225"/>
            <a:ext cx="78867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</a:rPr>
              <a:t>Financial Sponsor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28650" y="1209675"/>
            <a:ext cx="78867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Global PE firm with $385B+ AUM; extensive aerospace &amp; defense track record.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76250" y="1809750"/>
            <a:ext cx="3810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03A70"/>
                </a:solidFill>
                <a:latin typeface="Arial"/>
              </a:rPr>
              <a:t>Strategic Rationale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76250" y="2000250"/>
            <a:ext cx="8191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Leverage sector expertise; operational improvement playbook from prior industrial deals.</a:t>
            </a:r>
            <a:endParaRPr lang="en-US" dirty="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476250" y="2476500"/>
          <a:ext cx="3810000" cy="1"/>
        </p:xfrm>
        <a:graphic>
          <a:graphicData uri="http://schemas.openxmlformats.org/drawingml/2006/table">
            <a:tbl>
              <a:tblPr firstRow="0" bandRow="0"/>
              <a:tblGrid>
                <a:gridCol w="1905000"/>
                <a:gridCol w="19050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N/A (PE)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N/A (PE)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Current EV/EBITDA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N/A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Acquisition Capacity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$3.5B equity check capacity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Strategic Fit Assessment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1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2" name="Text 12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28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381000" y="4953000"/>
            <a:ext cx="23145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FactSet, company filings, Meridian Capital Partners analysis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Advent International — Medium–High strategic fit as a financial sponsor acquirer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476250" y="714375"/>
            <a:ext cx="8191500" cy="7524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628650" y="866775"/>
            <a:ext cx="78867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03A70"/>
                </a:solidFill>
                <a:latin typeface="Arial"/>
              </a:rPr>
              <a:t>Advent International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628650" y="1038225"/>
            <a:ext cx="78867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</a:rPr>
              <a:t>Financial Sponsor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28650" y="1209675"/>
            <a:ext cx="78867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PE firm with $90B+ AUM focused on branded industrial and business services.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76250" y="1809750"/>
            <a:ext cx="3810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03A70"/>
                </a:solidFill>
                <a:latin typeface="Arial"/>
              </a:rPr>
              <a:t>Strategic Rationale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76250" y="2000250"/>
            <a:ext cx="8191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Aftermarket services carve-out potential; international expansion expertise.</a:t>
            </a:r>
            <a:endParaRPr lang="en-US" dirty="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476250" y="2476500"/>
          <a:ext cx="3810000" cy="1"/>
        </p:xfrm>
        <a:graphic>
          <a:graphicData uri="http://schemas.openxmlformats.org/drawingml/2006/table">
            <a:tbl>
              <a:tblPr firstRow="0" bandRow="0"/>
              <a:tblGrid>
                <a:gridCol w="1905000"/>
                <a:gridCol w="19050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N/A (PE)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N/A (PE)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Current EV/EBITDA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N/A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Acquisition Capacity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$2.5B equity check capacity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Strategic Fit Assessment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Medium–High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1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2" name="Text 12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29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381000" y="4953000"/>
            <a:ext cx="23145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FactSet, company filings, Meridian Capital Partners analysis</a:t>
            </a:r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Danaher Corporation — Medium strategic fit as a strategic acquirer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476250" y="714375"/>
            <a:ext cx="8191500" cy="7524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57150" dist="19050" dir="5400000" algn="ctr" rotWithShape="0">
              <a:srgbClr val="000000">
                <a:alpha val="5000"/>
              </a:srgbClr>
            </a:outerShdw>
          </a:effectLst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628650" y="866775"/>
            <a:ext cx="788670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003A70"/>
                </a:solidFill>
                <a:latin typeface="Arial"/>
              </a:rPr>
              <a:t>Danaher Corporation</a:t>
            </a:r>
            <a:endParaRPr lang="en-US" dirty="0"/>
          </a:p>
        </p:txBody>
      </p:sp>
      <p:sp>
        <p:nvSpPr>
          <p:cNvPr id="6" name="Text 6"/>
          <p:cNvSpPr txBox="1"/>
          <p:nvPr/>
        </p:nvSpPr>
        <p:spPr>
          <a:xfrm>
            <a:off x="628650" y="1038225"/>
            <a:ext cx="78867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94A3B8"/>
                </a:solidFill>
                <a:latin typeface="Arial"/>
              </a:rPr>
              <a:t>Strategic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628650" y="1209675"/>
            <a:ext cx="78867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/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Diversified science &amp; technology company with $24.6B revenue; Danaher Business System.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476250" y="1809750"/>
            <a:ext cx="3810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03A70"/>
                </a:solidFill>
                <a:latin typeface="Arial"/>
              </a:rPr>
              <a:t>Strategic Rationale</a:t>
            </a:r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76250" y="2000250"/>
            <a:ext cx="8191500" cy="10477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475569"/>
                </a:solidFill>
                <a:latin typeface="Arial"/>
              </a:rPr>
              <a:t>Apply DBS continuous improvement to Apex operations; engineering solutions synergies.</a:t>
            </a:r>
            <a:endParaRPr lang="en-US" dirty="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476250" y="2476500"/>
          <a:ext cx="3810000" cy="1"/>
        </p:xfrm>
        <a:graphic>
          <a:graphicData uri="http://schemas.openxmlformats.org/drawingml/2006/table">
            <a:tbl>
              <a:tblPr firstRow="0" bandRow="0"/>
              <a:tblGrid>
                <a:gridCol w="1905000"/>
                <a:gridCol w="19050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Value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Revenue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$24,600.0m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$6,150.0m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Current EV/EBITDA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22.5x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Acquisition Capacity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$12.0B+ acquisition capacity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Strategic Fit Assessment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" name="Image 11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12" name="Text 12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30</a:t>
            </a:r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381000" y="4953000"/>
            <a:ext cx="23145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FactSet, company filings, Meridian Capital Partners analysis</a:t>
            </a:r>
            <a:endParaRPr 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Recommended 12-week dual-track process to maximize competitive tension and valuation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476250" y="685800"/>
            <a:ext cx="3810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03A70"/>
                </a:solidFill>
                <a:latin typeface="Arial"/>
              </a:rPr>
              <a:t>Phase I: Preparation (Weeks 1–3)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476250" y="97155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Prepare CIM / Teaser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1905000" y="942975"/>
            <a:ext cx="4638675" cy="171450"/>
          </a:xfrm>
          <a:prstGeom prst="rect">
            <a:avLst/>
          </a:prstGeom>
          <a:solidFill>
            <a:srgbClr val="003A7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476250" y="125730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Build Data Room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3067050" y="1228725"/>
            <a:ext cx="5791200" cy="171450"/>
          </a:xfrm>
          <a:prstGeom prst="rect">
            <a:avLst/>
          </a:prstGeom>
          <a:solidFill>
            <a:srgbClr val="003A7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76250" y="154305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Identify Buyer Universe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1905000" y="1514475"/>
            <a:ext cx="3476625" cy="171450"/>
          </a:xfrm>
          <a:prstGeom prst="rect">
            <a:avLst/>
          </a:prstGeom>
          <a:solidFill>
            <a:srgbClr val="5B9BD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76250" y="182880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Management Prep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5381625" y="1800225"/>
            <a:ext cx="3476625" cy="171450"/>
          </a:xfrm>
          <a:prstGeom prst="rect">
            <a:avLst/>
          </a:prstGeom>
          <a:solidFill>
            <a:srgbClr val="5B9BD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476250" y="2143125"/>
            <a:ext cx="3810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03A70"/>
                </a:solidFill>
                <a:latin typeface="Arial"/>
              </a:rPr>
              <a:t>Phase II: First Round (Weeks 3–7)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476250" y="2428875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Distribute Teasers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4886325" y="2400300"/>
            <a:ext cx="990600" cy="171450"/>
          </a:xfrm>
          <a:prstGeom prst="rect">
            <a:avLst/>
          </a:prstGeom>
          <a:solidFill>
            <a:srgbClr val="00B05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476250" y="2714625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Execute NDAs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5381625" y="2686050"/>
            <a:ext cx="1485900" cy="171450"/>
          </a:xfrm>
          <a:prstGeom prst="rect">
            <a:avLst/>
          </a:prstGeom>
          <a:solidFill>
            <a:srgbClr val="00B05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476250" y="3000375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Distribute CIM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5876925" y="2971800"/>
            <a:ext cx="990600" cy="171450"/>
          </a:xfrm>
          <a:prstGeom prst="rect">
            <a:avLst/>
          </a:prstGeom>
          <a:solidFill>
            <a:srgbClr val="2E75B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476250" y="3286125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Receive IOIs</a:t>
            </a:r>
            <a:endParaRPr lang="en-US" dirty="0"/>
          </a:p>
        </p:txBody>
      </p:sp>
      <p:sp>
        <p:nvSpPr>
          <p:cNvPr id="21" name="View 21"/>
          <p:cNvSpPr/>
          <p:nvPr/>
        </p:nvSpPr>
        <p:spPr>
          <a:xfrm>
            <a:off x="6867525" y="3257550"/>
            <a:ext cx="1990725" cy="171450"/>
          </a:xfrm>
          <a:prstGeom prst="rect">
            <a:avLst/>
          </a:prstGeom>
          <a:solidFill>
            <a:srgbClr val="2E75B6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476250" y="3571875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Evaluate &amp; Select</a:t>
            </a:r>
            <a:endParaRPr lang="en-US" dirty="0"/>
          </a:p>
        </p:txBody>
      </p:sp>
      <p:sp>
        <p:nvSpPr>
          <p:cNvPr id="23" name="View 23"/>
          <p:cNvSpPr/>
          <p:nvPr/>
        </p:nvSpPr>
        <p:spPr>
          <a:xfrm>
            <a:off x="8362950" y="3543300"/>
            <a:ext cx="495300" cy="171450"/>
          </a:xfrm>
          <a:prstGeom prst="rect">
            <a:avLst/>
          </a:prstGeom>
          <a:solidFill>
            <a:srgbClr val="FFC00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24" name="Image 24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25" name="Text 25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31</a:t>
            </a:r>
            <a:endParaRPr lang="en-US" dirty="0"/>
          </a:p>
        </p:txBody>
      </p:sp>
      <p:sp>
        <p:nvSpPr>
          <p:cNvPr id="26" name="Text 26"/>
          <p:cNvSpPr txBox="1"/>
          <p:nvPr/>
        </p:nvSpPr>
        <p:spPr>
          <a:xfrm>
            <a:off x="381000" y="4953000"/>
            <a:ext cx="22288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Meridian Capital Partners recommended process timeline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Final phase drives to definitive agreement by Week 12, with signing targeted for Q2 2026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476250" y="685800"/>
            <a:ext cx="3810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03A70"/>
                </a:solidFill>
                <a:latin typeface="Arial"/>
              </a:rPr>
              <a:t>Phase III: Second Round (Weeks 7–10)</a:t>
            </a:r>
            <a:endParaRPr lang="en-US" dirty="0"/>
          </a:p>
        </p:txBody>
      </p:sp>
      <p:sp>
        <p:nvSpPr>
          <p:cNvPr id="5" name="Text 5"/>
          <p:cNvSpPr txBox="1"/>
          <p:nvPr/>
        </p:nvSpPr>
        <p:spPr>
          <a:xfrm>
            <a:off x="476250" y="97155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Mgmt Presentations</a:t>
            </a:r>
            <a:endParaRPr lang="en-US" dirty="0"/>
          </a:p>
        </p:txBody>
      </p:sp>
      <p:sp>
        <p:nvSpPr>
          <p:cNvPr id="6" name="View 6"/>
          <p:cNvSpPr/>
          <p:nvPr/>
        </p:nvSpPr>
        <p:spPr>
          <a:xfrm>
            <a:off x="6772275" y="942975"/>
            <a:ext cx="1390650" cy="171450"/>
          </a:xfrm>
          <a:prstGeom prst="rect">
            <a:avLst/>
          </a:prstGeom>
          <a:solidFill>
            <a:srgbClr val="003A7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476250" y="125730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Site Visits</a:t>
            </a:r>
            <a:endParaRPr lang="en-US" dirty="0"/>
          </a:p>
        </p:txBody>
      </p:sp>
      <p:sp>
        <p:nvSpPr>
          <p:cNvPr id="8" name="View 8"/>
          <p:cNvSpPr/>
          <p:nvPr/>
        </p:nvSpPr>
        <p:spPr>
          <a:xfrm>
            <a:off x="7124700" y="1228725"/>
            <a:ext cx="1038225" cy="171450"/>
          </a:xfrm>
          <a:prstGeom prst="rect">
            <a:avLst/>
          </a:prstGeom>
          <a:solidFill>
            <a:srgbClr val="003A7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9" name="Text 9"/>
          <p:cNvSpPr txBox="1"/>
          <p:nvPr/>
        </p:nvSpPr>
        <p:spPr>
          <a:xfrm>
            <a:off x="476250" y="154305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Due Diligence Access</a:t>
            </a:r>
            <a:endParaRPr lang="en-US" dirty="0"/>
          </a:p>
        </p:txBody>
      </p:sp>
      <p:sp>
        <p:nvSpPr>
          <p:cNvPr id="10" name="View 10"/>
          <p:cNvSpPr/>
          <p:nvPr/>
        </p:nvSpPr>
        <p:spPr>
          <a:xfrm>
            <a:off x="6772275" y="1514475"/>
            <a:ext cx="2085975" cy="171450"/>
          </a:xfrm>
          <a:prstGeom prst="rect">
            <a:avLst/>
          </a:prstGeom>
          <a:solidFill>
            <a:srgbClr val="5B9BD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1" name="Text 11"/>
          <p:cNvSpPr txBox="1"/>
          <p:nvPr/>
        </p:nvSpPr>
        <p:spPr>
          <a:xfrm>
            <a:off x="476250" y="1828800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Receive Final Bids</a:t>
            </a:r>
            <a:endParaRPr lang="en-US" dirty="0"/>
          </a:p>
        </p:txBody>
      </p:sp>
      <p:sp>
        <p:nvSpPr>
          <p:cNvPr id="12" name="View 12"/>
          <p:cNvSpPr/>
          <p:nvPr/>
        </p:nvSpPr>
        <p:spPr>
          <a:xfrm>
            <a:off x="8162925" y="1800225"/>
            <a:ext cx="695325" cy="171450"/>
          </a:xfrm>
          <a:prstGeom prst="rect">
            <a:avLst/>
          </a:prstGeom>
          <a:solidFill>
            <a:srgbClr val="FFC00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3" name="Text 13"/>
          <p:cNvSpPr txBox="1"/>
          <p:nvPr/>
        </p:nvSpPr>
        <p:spPr>
          <a:xfrm>
            <a:off x="476250" y="2143125"/>
            <a:ext cx="3810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03A70"/>
                </a:solidFill>
                <a:latin typeface="Arial"/>
              </a:rPr>
              <a:t>Phase IV: Negotiation &amp; Close (Weeks 10–12)</a:t>
            </a:r>
            <a:endParaRPr lang="en-US" dirty="0"/>
          </a:p>
        </p:txBody>
      </p:sp>
      <p:sp>
        <p:nvSpPr>
          <p:cNvPr id="14" name="Text 14"/>
          <p:cNvSpPr txBox="1"/>
          <p:nvPr/>
        </p:nvSpPr>
        <p:spPr>
          <a:xfrm>
            <a:off x="476250" y="2428875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Negotiate Terms</a:t>
            </a:r>
            <a:endParaRPr lang="en-US" dirty="0"/>
          </a:p>
        </p:txBody>
      </p:sp>
      <p:sp>
        <p:nvSpPr>
          <p:cNvPr id="15" name="View 15"/>
          <p:cNvSpPr/>
          <p:nvPr/>
        </p:nvSpPr>
        <p:spPr>
          <a:xfrm>
            <a:off x="7643813" y="2400300"/>
            <a:ext cx="866775" cy="171450"/>
          </a:xfrm>
          <a:prstGeom prst="rect">
            <a:avLst/>
          </a:prstGeom>
          <a:solidFill>
            <a:srgbClr val="C0000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6" name="Text 16"/>
          <p:cNvSpPr txBox="1"/>
          <p:nvPr/>
        </p:nvSpPr>
        <p:spPr>
          <a:xfrm>
            <a:off x="476250" y="2714625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Board Approval</a:t>
            </a:r>
            <a:endParaRPr lang="en-US" dirty="0"/>
          </a:p>
        </p:txBody>
      </p:sp>
      <p:sp>
        <p:nvSpPr>
          <p:cNvPr id="17" name="View 17"/>
          <p:cNvSpPr/>
          <p:nvPr/>
        </p:nvSpPr>
        <p:spPr>
          <a:xfrm>
            <a:off x="8229600" y="2686050"/>
            <a:ext cx="280988" cy="171450"/>
          </a:xfrm>
          <a:prstGeom prst="rect">
            <a:avLst/>
          </a:prstGeom>
          <a:solidFill>
            <a:srgbClr val="C0000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18" name="Text 18"/>
          <p:cNvSpPr txBox="1"/>
          <p:nvPr/>
        </p:nvSpPr>
        <p:spPr>
          <a:xfrm>
            <a:off x="476250" y="3000375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Definitive Agreement</a:t>
            </a:r>
            <a:endParaRPr lang="en-US" dirty="0"/>
          </a:p>
        </p:txBody>
      </p:sp>
      <p:sp>
        <p:nvSpPr>
          <p:cNvPr id="19" name="View 19"/>
          <p:cNvSpPr/>
          <p:nvPr/>
        </p:nvSpPr>
        <p:spPr>
          <a:xfrm>
            <a:off x="8510588" y="2971800"/>
            <a:ext cx="290513" cy="171450"/>
          </a:xfrm>
          <a:prstGeom prst="rect">
            <a:avLst/>
          </a:prstGeom>
          <a:solidFill>
            <a:srgbClr val="C0000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0" name="Text 20"/>
          <p:cNvSpPr txBox="1"/>
          <p:nvPr/>
        </p:nvSpPr>
        <p:spPr>
          <a:xfrm>
            <a:off x="476250" y="3286125"/>
            <a:ext cx="13335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776"/>
              </a:lnSpc>
            </a:pPr>
            <a:r>
              <a:rPr lang="en-US" sz="675" dirty="0">
                <a:solidFill>
                  <a:srgbClr val="0F2540"/>
                </a:solidFill>
                <a:latin typeface="Arial"/>
              </a:rPr>
              <a:t>Signing</a:t>
            </a:r>
            <a:endParaRPr lang="en-US" dirty="0"/>
          </a:p>
        </p:txBody>
      </p:sp>
      <p:sp>
        <p:nvSpPr>
          <p:cNvPr id="21" name="View 21"/>
          <p:cNvSpPr/>
          <p:nvPr/>
        </p:nvSpPr>
        <p:spPr>
          <a:xfrm>
            <a:off x="8801100" y="3257550"/>
            <a:ext cx="95250" cy="171450"/>
          </a:xfrm>
          <a:prstGeom prst="rect">
            <a:avLst/>
          </a:prstGeom>
          <a:solidFill>
            <a:srgbClr val="C00000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22" name="Text 22"/>
          <p:cNvSpPr txBox="1"/>
          <p:nvPr/>
        </p:nvSpPr>
        <p:spPr>
          <a:xfrm>
            <a:off x="476250" y="3524250"/>
            <a:ext cx="3810000" cy="11430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862"/>
              </a:lnSpc>
            </a:pPr>
            <a:r>
              <a:rPr lang="en-US" sz="750" b="1" dirty="0">
                <a:solidFill>
                  <a:srgbClr val="003A70"/>
                </a:solidFill>
                <a:latin typeface="Arial"/>
              </a:rPr>
              <a:t>Key Milestones</a:t>
            </a:r>
            <a:endParaRPr lang="en-US" dirty="0"/>
          </a:p>
        </p:txBody>
      </p:sp>
      <p:sp>
        <p:nvSpPr>
          <p:cNvPr id="23" name="Text 23"/>
          <p:cNvSpPr txBox="1"/>
          <p:nvPr/>
        </p:nvSpPr>
        <p:spPr>
          <a:xfrm>
            <a:off x="476250" y="3714750"/>
            <a:ext cx="819150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lvl="0">
              <a:lnSpc>
                <a:spcPts val="776"/>
              </a:lnSpc>
              <a:spcBef>
                <a:spcPts val="0"/>
              </a:spcBef>
              <a:buChar char="•"/>
            </a:pPr>
            <a:r>
              <a:rPr lang="en-US" sz="675" dirty="0">
                <a:solidFill>
                  <a:srgbClr val="000000"/>
                </a:solidFill>
                <a:latin typeface="Arial"/>
              </a:rPr>
              <a:t>Week 3: Teaser distribution to 25+ potential buyers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000000"/>
                </a:solidFill>
                <a:latin typeface="Arial"/>
              </a:rPr>
              <a:t>Week 7: IOI deadline — target 8–10 indicative offers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000000"/>
                </a:solidFill>
                <a:latin typeface="Arial"/>
              </a:rPr>
              <a:t>Week 10: Final bid deadline — target 3–4 final offers</a:t>
            </a:r>
            <a:endParaRPr lang="en-US" dirty="0"/>
          </a:p>
          <a:p>
            <a:pPr lvl="0">
              <a:lnSpc>
                <a:spcPts val="776"/>
              </a:lnSpc>
              <a:spcBef>
                <a:spcPts val="400"/>
              </a:spcBef>
              <a:buChar char="•"/>
            </a:pPr>
            <a:r>
              <a:rPr lang="en-US" sz="675" dirty="0">
                <a:solidFill>
                  <a:srgbClr val="000000"/>
                </a:solidFill>
                <a:latin typeface="Arial"/>
              </a:rPr>
              <a:t>Week 12: Definitive agreement execution</a:t>
            </a:r>
            <a:endParaRPr lang="en-US" dirty="0"/>
          </a:p>
        </p:txBody>
      </p:sp>
      <p:pic>
        <p:nvPicPr>
          <p:cNvPr id="24" name="Image 24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25" name="Text 25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32</a:t>
            </a:r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Meridian recommends a targeted dual-track process to achieve $1.8B–$2.1B enterprise value</a:t>
            </a:r>
            <a:endParaRPr lang="en-US" dirty="0"/>
          </a:p>
        </p:txBody>
      </p:sp>
      <p:sp>
        <p:nvSpPr>
          <p:cNvPr id="4" name="Text 4"/>
          <p:cNvSpPr txBox="1"/>
          <p:nvPr/>
        </p:nvSpPr>
        <p:spPr>
          <a:xfrm>
            <a:off x="476250" y="714375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03A70"/>
                </a:solidFill>
                <a:latin typeface="Arial"/>
              </a:rPr>
              <a:t>Valuation Summary</a:t>
            </a:r>
            <a:endParaRPr lang="en-US" dirty="0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476250" y="952500"/>
          <a:ext cx="5429250" cy="1"/>
        </p:xfrm>
        <a:graphic>
          <a:graphicData uri="http://schemas.openxmlformats.org/drawingml/2006/table">
            <a:tbl>
              <a:tblPr firstRow="0" bandRow="1"/>
              <a:tblGrid>
                <a:gridCol w="1714500"/>
                <a:gridCol w="1238250"/>
                <a:gridCol w="1238250"/>
                <a:gridCol w="12382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Methodology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Low ($m)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Mid ($m)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High ($m)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Comparable Companies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$1,550.0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$1,700.0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$1,850.0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Precedent Transactions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$1,750.0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$1,925.0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$2,100.0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DCF Analysis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$1,650.0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$1,800.0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$1,950.0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LBO Analysis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$1,500.0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$1,650.0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$1,800.0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Blended Range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$1,612.5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$1,768.8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$1,925.0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6"/>
          <p:cNvSpPr txBox="1"/>
          <p:nvPr/>
        </p:nvSpPr>
        <p:spPr>
          <a:xfrm>
            <a:off x="476250" y="2952750"/>
            <a:ext cx="3810000" cy="1333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035"/>
              </a:lnSpc>
            </a:pPr>
            <a:r>
              <a:rPr lang="en-US" sz="900" b="1" dirty="0">
                <a:solidFill>
                  <a:srgbClr val="003A70"/>
                </a:solidFill>
                <a:latin typeface="Arial"/>
              </a:rPr>
              <a:t>Recommendation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476250" y="3190875"/>
            <a:ext cx="8191500" cy="4381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lvl="0">
              <a:lnSpc>
                <a:spcPts val="862"/>
              </a:lnSpc>
              <a:spcBef>
                <a:spcPts val="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Pursue dual-track process: simultaneous outreach to strategic acquirers and financial sponsors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Target 8–10 qualified buyers across strategic (5) and financial (3–5) categories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Execute 12-week compressed timeline to maintain momentum and competitive tension</a:t>
            </a:r>
            <a:endParaRPr lang="en-US" dirty="0"/>
          </a:p>
          <a:p>
            <a:pPr lvl="0">
              <a:lnSpc>
                <a:spcPts val="862"/>
              </a:lnSpc>
              <a:spcBef>
                <a:spcPts val="400"/>
              </a:spcBef>
              <a:buChar char="•"/>
            </a:pPr>
            <a:r>
              <a:rPr lang="en-US" sz="750" dirty="0">
                <a:solidFill>
                  <a:srgbClr val="000000"/>
                </a:solidFill>
                <a:latin typeface="Arial"/>
              </a:rPr>
              <a:t>Recommended price target: $1.8B–$2.1B (14.0x–16.5x LTM EBITDA, 25–35% control premium)</a:t>
            </a:r>
            <a:endParaRPr lang="en-US" dirty="0"/>
          </a:p>
        </p:txBody>
      </p:sp>
      <p:pic>
        <p:nvPicPr>
          <p:cNvPr id="8" name="Image 8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9" name="Text 9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33</a:t>
            </a: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3A7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62000" y="1714500"/>
            <a:ext cx="133350" cy="161925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207"/>
              </a:lnSpc>
            </a:pPr>
            <a:r>
              <a:rPr lang="en-US" sz="1050" b="1" dirty="0">
                <a:solidFill>
                  <a:srgbClr val="FFFFFF"/>
                </a:solidFill>
                <a:latin typeface="Arial"/>
              </a:rPr>
              <a:t>VI</a:t>
            </a:r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762000" y="2000250"/>
            <a:ext cx="6667500" cy="4000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3105"/>
              </a:lnSpc>
            </a:pPr>
            <a:r>
              <a:rPr lang="en-US" sz="2700" b="1" dirty="0">
                <a:solidFill>
                  <a:srgbClr val="FFFFFF"/>
                </a:solidFill>
                <a:latin typeface="Arial"/>
              </a:rPr>
              <a:t>Appendix</a:t>
            </a:r>
            <a:endParaRPr lang="en-US" dirty="0"/>
          </a:p>
        </p:txBody>
      </p:sp>
      <p:sp>
        <p:nvSpPr>
          <p:cNvPr id="4" name="View 4"/>
          <p:cNvSpPr/>
          <p:nvPr/>
        </p:nvSpPr>
        <p:spPr>
          <a:xfrm>
            <a:off x="762000" y="2571750"/>
            <a:ext cx="571500" cy="28575"/>
          </a:xfrm>
          <a:prstGeom prst="rect">
            <a:avLst/>
          </a:prstGeom>
          <a:solidFill>
            <a:srgbClr val="FFFFFF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34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Appendix A: Detailed DCF Model Assumptions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381000" y="714375"/>
          <a:ext cx="5905500" cy="1"/>
        </p:xfrm>
        <a:graphic>
          <a:graphicData uri="http://schemas.openxmlformats.org/drawingml/2006/table">
            <a:tbl>
              <a:tblPr firstRow="0" bandRow="1"/>
              <a:tblGrid>
                <a:gridCol w="1619250"/>
                <a:gridCol w="952500"/>
                <a:gridCol w="952500"/>
                <a:gridCol w="952500"/>
                <a:gridCol w="14287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Assumption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Base Case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Low Case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High Case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Revenue Growth FY26E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Management guidance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Revenue Growth FY27E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Management guidance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Revenue Growth FY28E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Meridian estimate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Revenue Growth FY29E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Meridian estimate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Revenue Growth FY30E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7.0%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9.0%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Meridian estimate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EBITDA Margin (terminal)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26.5%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24.0%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28.0%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Peer median + mgmt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Capex (% of Revenue)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Historical average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NWC (% of Rev Change)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Historical average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WACC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10.0%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11.5%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CAPM build-up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Terminal Growth Rate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3.5%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GDP + inflation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Tax Rate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25.0%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25.0%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25.0%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Statutory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35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81000" y="4953000"/>
            <a:ext cx="227647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Company management, Meridian Capital Partners analysis</a:t>
            </a:r>
            <a:endParaRPr lang="en-U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Appendix B: Extended Buyer Universe — Additional Strategic Acquirers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285750" y="762000"/>
          <a:ext cx="6286500" cy="1"/>
        </p:xfrm>
        <a:graphic>
          <a:graphicData uri="http://schemas.openxmlformats.org/drawingml/2006/table">
            <a:tbl>
              <a:tblPr firstRow="0" bandRow="1"/>
              <a:tblGrid>
                <a:gridCol w="1238250"/>
                <a:gridCol w="904875"/>
                <a:gridCol w="857250"/>
                <a:gridCol w="714375"/>
                <a:gridCol w="1905000"/>
                <a:gridCol w="66675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Revenue ($m)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EBITDA ($m)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EV/EBITDA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Rationale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Fit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Roper Technologies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$6,300.0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$2,270.0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28.3x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Engineering solutions overlap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Fortive Corp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$6,200.0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$1,550.0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19.4x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Industrial tech adjacency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Ametek Inc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$6,800.0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$1,836.0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23.7x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Precision instruments synergy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Low–Med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Textron Inc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$13,700.0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$1,780.0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12.5x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A&amp;D components fit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Low–Med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TransDigm Group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$7,200.0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$3,240.0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25.8x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Aftermarket focus alignment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36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81000" y="4953000"/>
            <a:ext cx="17240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FactSet, company filings as of March 2026</a:t>
            </a:r>
            <a:endParaRPr lang="en-U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Appendix B (cont'd): Extended Buyer Universe — Additional Financial Sponsors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76250" y="762000"/>
          <a:ext cx="6096000" cy="1"/>
        </p:xfrm>
        <a:graphic>
          <a:graphicData uri="http://schemas.openxmlformats.org/drawingml/2006/table">
            <a:tbl>
              <a:tblPr firstRow="0" bandRow="1"/>
              <a:tblGrid>
                <a:gridCol w="1428750"/>
                <a:gridCol w="857250"/>
                <a:gridCol w="1428750"/>
                <a:gridCol w="1428750"/>
                <a:gridCol w="9525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Sponsor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AUM ($B)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Industrials Deals (5yr)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Typical Check ($m)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Fit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Blackstone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$1,000+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$1,500–$5,000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Apollo Global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$650+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$800–$3,000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Medium–High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Bain Capital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$180+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8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$500–$2,000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Warburg Pincus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$85+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6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$400–$1,500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Medium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Leonard Green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$55+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$300–$1,000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Low–Med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5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6" name="Text 6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37</a:t>
            </a:r>
            <a:endParaRPr lang="en-US" dirty="0"/>
          </a:p>
        </p:txBody>
      </p:sp>
      <p:sp>
        <p:nvSpPr>
          <p:cNvPr id="7" name="Text 7"/>
          <p:cNvSpPr txBox="1"/>
          <p:nvPr/>
        </p:nvSpPr>
        <p:spPr>
          <a:xfrm>
            <a:off x="381000" y="4953000"/>
            <a:ext cx="211455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Preqin, PitchBook, Meridian Capital Partners research</a:t>
            </a:r>
            <a:endParaRPr lang="en-U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0" y="0"/>
            <a:ext cx="9144000" cy="38100"/>
          </a:xfrm>
          <a:prstGeom prst="rect">
            <a:avLst/>
          </a:prstGeom>
          <a:solidFill>
            <a:srgbClr val="003DA5"/>
          </a:solidFill>
          <a:ln>
            <a:noFill/>
            <a:round/>
          </a:ln>
        </p:spPr>
        <p:txBody>
          <a:bodyPr rtlCol="0" lIns="0" tIns="0" rIns="0" bIns="0"/>
          <a:lstStyle/>
          <a:p>
            <a:endParaRPr lang="en-US" dirty="0"/>
          </a:p>
        </p:txBody>
      </p:sp>
      <p:sp>
        <p:nvSpPr>
          <p:cNvPr id="3" name="Text 3"/>
          <p:cNvSpPr txBox="1"/>
          <p:nvPr/>
        </p:nvSpPr>
        <p:spPr>
          <a:xfrm>
            <a:off x="381000" y="190500"/>
            <a:ext cx="8382000" cy="476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1552"/>
              </a:lnSpc>
            </a:pPr>
            <a:r>
              <a:rPr lang="en-US" sz="1350" b="1" dirty="0">
                <a:solidFill>
                  <a:srgbClr val="0F2540"/>
                </a:solidFill>
                <a:latin typeface="Arial"/>
              </a:rPr>
              <a:t>Appendix C: Illustrative Accretion / Dilution Analysis at Various Offer Prices</a:t>
            </a:r>
            <a:endParaRPr lang="en-US" dirty="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476250" y="762000"/>
          <a:ext cx="6286500" cy="1"/>
        </p:xfrm>
        <a:graphic>
          <a:graphicData uri="http://schemas.openxmlformats.org/drawingml/2006/table">
            <a:tbl>
              <a:tblPr firstRow="0" bandRow="1"/>
              <a:tblGrid>
                <a:gridCol w="1524000"/>
                <a:gridCol w="952500"/>
                <a:gridCol w="952500"/>
                <a:gridCol w="952500"/>
                <a:gridCol w="952500"/>
                <a:gridCol w="952500"/>
              </a:tblGrid>
              <a:tr h="266700">
                <a:tc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/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gridSpan="5">
                  <a:txBody>
                    <a:bodyPr rtlCol="0" lIns="0" tIns="0" rIns="0" bIns="0"/>
                    <a:lstStyle/>
                    <a:p>
                      <a:pPr algn="ct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Offer Price per Share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 rtlCol="0" lIns="0" tIns="0" rIns="0" bIns="0"/>
                    <a:lstStyle/>
                    <a:p>
                      <a:r>
                        <a:rPr lang="en-US" dirty="0"/>
                        <a:t/>
                      </a:r>
                      <a:endParaRPr lang="en-US" dirty="0"/>
                    </a:p>
                  </a:txBody>
                  <a:tcPr/>
                </a:tc>
              </a:tr>
              <a:tr h="2667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$45.00/sh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$48.50/sh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$52.00/sh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$55.00/sh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750" b="1" dirty="0">
                          <a:solidFill>
                            <a:srgbClr val="FFFFFF"/>
                          </a:solidFill>
                        </a:rPr>
                        <a:t>$58.00/sh</a:t>
                      </a:r>
                      <a:endParaRPr lang="en-US" dirty="0"/>
                    </a:p>
                  </a:txBody>
                  <a:tcPr marL="57150" marR="57150" marT="57150" marB="57150">
                    <a:lnB w="19050" cap="flat" cmpd="sng">
                      <a:solidFill>
                        <a:srgbClr val="003DA5"/>
                      </a:solidFill>
                      <a:prstDash val="solid"/>
                    </a:lnB>
                    <a:solidFill>
                      <a:srgbClr val="0F2540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Offer Premium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15.4%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24.4%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33.3%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41.0%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48.7%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Implied EV ($m)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$1,680.0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$1,810.0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$1,940.0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$2,050.0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$2,165.0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Implied EV/EBITDA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13.2x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14.2x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15.2x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16.1x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17.0x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Pro Forma EPS (Yr 1)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$4.85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$4.65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$4.42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$4.22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$4.01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Accretion / (Dilution)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5.2%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0.8%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(4.1%)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(8.5%)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(13.0%)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 rtlCol="0" lIns="0" tIns="0" rIns="0" bIns="0"/>
                    <a:lstStyle/>
                    <a:p>
                      <a:pPr algn="l"/>
                      <a:r>
                        <a:rPr lang="en-US" sz="675" dirty="0"/>
                        <a:t>Breakeven Synergies ($m)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$0.0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$28.0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$58.0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rtlCol="0" lIns="0" tIns="0" rIns="0" bIns="0"/>
                    <a:lstStyle/>
                    <a:p>
                      <a:pPr algn="r"/>
                      <a:r>
                        <a:rPr lang="en-US" sz="675" dirty="0"/>
                        <a:t>$89.0</a:t>
                      </a:r>
                      <a:endParaRPr lang="en-US" dirty="0"/>
                    </a:p>
                  </a:txBody>
                  <a:tcPr marL="38100" marR="38100" marT="38100" marB="38100">
                    <a:lnB w="4763" cap="flat" cmpd="sng">
                      <a:solidFill>
                        <a:srgbClr val="E2E8F0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5"/>
          <p:cNvSpPr txBox="1"/>
          <p:nvPr/>
        </p:nvSpPr>
        <p:spPr>
          <a:xfrm>
            <a:off x="476250" y="3238500"/>
            <a:ext cx="81915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i="1" dirty="0">
                <a:solidFill>
                  <a:srgbClr val="94A3B8"/>
                </a:solidFill>
                <a:latin typeface="Arial"/>
              </a:rPr>
              <a:t>Note: Analysis assumes acquirer current P/E of 22.0x, 25% tax rate, $50m run-rate synergies (base case), 100% stock deal.</a:t>
            </a:r>
            <a:endParaRPr lang="en-US" dirty="0"/>
          </a:p>
        </p:txBody>
      </p:sp>
      <p:pic>
        <p:nvPicPr>
          <p:cNvPr id="6" name="Image 6"/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1500" y="4800600"/>
            <a:ext cx="762000" cy="2286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pic>
      <p:sp>
        <p:nvSpPr>
          <p:cNvPr id="7" name="Text 7"/>
          <p:cNvSpPr txBox="1"/>
          <p:nvPr/>
        </p:nvSpPr>
        <p:spPr>
          <a:xfrm>
            <a:off x="4381500" y="4953000"/>
            <a:ext cx="381000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 algn="ctr"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38</a:t>
            </a:r>
            <a:endParaRPr lang="en-US" dirty="0"/>
          </a:p>
        </p:txBody>
      </p:sp>
      <p:sp>
        <p:nvSpPr>
          <p:cNvPr id="8" name="Text 8"/>
          <p:cNvSpPr txBox="1"/>
          <p:nvPr/>
        </p:nvSpPr>
        <p:spPr>
          <a:xfrm>
            <a:off x="381000" y="4953000"/>
            <a:ext cx="1990725" cy="95250"/>
          </a:xfrm>
          <a:prstGeom prst="rect">
            <a:avLst/>
          </a:prstGeom>
          <a:noFill/>
          <a:ln>
            <a:noFill/>
          </a:ln>
        </p:spPr>
        <p:txBody>
          <a:bodyPr wrap="square" rtlCol="0" spcFirstLastPara="0" lIns="0" tIns="0" rIns="0" bIns="0">
            <a:normAutofit/>
          </a:bodyPr>
          <a:lstStyle/>
          <a:p>
            <a:pPr>
              <a:lnSpc>
                <a:spcPts val="690"/>
              </a:lnSpc>
            </a:pPr>
            <a:r>
              <a:rPr lang="en-US" sz="600" dirty="0">
                <a:solidFill>
                  <a:srgbClr val="94A3B8"/>
                </a:solidFill>
                <a:latin typeface="Arial"/>
              </a:rPr>
              <a:t>Source: Meridian Capital Partners analysis, illustrative only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unchMatrix">
  <a:themeElements>
    <a:clrScheme name="LaunchMatrix">
      <a:dk1>
        <a:srgbClr val="1B1B3A"/>
      </a:dk1>
      <a:lt1>
        <a:srgbClr val="FFFFFF"/>
      </a:lt1>
      <a:dk2>
        <a:srgbClr val="2D2D5E"/>
      </a:dk2>
      <a:lt2>
        <a:srgbClr val="F5F5F5"/>
      </a:lt2>
      <a:accent1>
        <a:srgbClr val="003DA5"/>
      </a:accent1>
      <a:accent2>
        <a:srgbClr val="0070C0"/>
      </a:accent2>
      <a:accent3>
        <a:srgbClr val="00B050"/>
      </a:accent3>
      <a:accent4>
        <a:srgbClr val="FFC000"/>
      </a:accent4>
      <a:accent5>
        <a:srgbClr val="FF6600"/>
      </a:accent5>
      <a:accent6>
        <a:srgbClr val="C0000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PaperJSX</Application>
  <PresentationFormat>On-screen Show (16:9)</PresentationFormat>
  <Slides>38</Slides>
  <HiddenSlides>0</HiddenSlide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Calibri</vt:lpstr>
      <vt:lpstr>Calibri Light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Atlas — Confidential Discussion Materials</dc:title>
  <dc:creator>PaperJSX</dc:creator>
  <cp:lastModifiedBy>PaperJSX</cp:lastModifiedBy>
  <cp:revision>1</cp:revision>
  <dcterms:created xsi:type="dcterms:W3CDTF">2026-03-08T10:06:14Z</dcterms:created>
  <dcterms:modified xsi:type="dcterms:W3CDTF">2026-03-08T10:06:14Z</dcterms:modified>
</cp:coreProperties>
</file>