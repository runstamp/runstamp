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23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51435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presProps" Target="presProps.xml"/>
  <Relationship Id="rId28" Type="http://schemas.openxmlformats.org/officeDocument/2006/relationships/viewProps" Target="viewProps.xml"/>
  <Relationship Id="rId29" Type="http://schemas.openxmlformats.org/officeDocument/2006/relationships/tableStyles" Target="tableStyles.xml"/>
  <Relationship Id="rId30" Type="http://schemas.openxmlformats.org/officeDocument/2006/relationships/notesMaster" Target="notesMasters/notesMaster1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_rels/chart4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4.xlsx"/>
</Relationships>
</file>

<file path=ppt/charts/_rels/chart5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5.xlsx"/>
</Relationships>
</file>

<file path=ppt/charts/_rels/chart6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6.xlsx"/>
</Relationships>
</file>

<file path=ppt/charts/_rels/chart7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7.xlsx"/>
</Relationships>
</file>

<file path=ppt/charts/_rels/chart8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8.xlsx"/>
</Relationships>
</file>

<file path=ppt/charts/_rels/chart9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9.xlsx"/>
</Relationships>
</file>

<file path=ppt/charts/_rels/chart10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0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2800</c:v>
                </c:pt>
                <c:pt idx="1">
                  <c:v>1900</c:v>
                </c:pt>
                <c:pt idx="2">
                  <c:v>1400</c:v>
                </c:pt>
                <c:pt idx="3">
                  <c:v>420</c:v>
                </c:pt>
                <c:pt idx="4">
                  <c:v>280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Mid-Market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1600</c:v>
                </c:pt>
                <c:pt idx="1">
                  <c:v>1100</c:v>
                </c:pt>
                <c:pt idx="2">
                  <c:v>850</c:v>
                </c:pt>
                <c:pt idx="3">
                  <c:v>310</c:v>
                </c:pt>
                <c:pt idx="4">
                  <c:v>190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SMB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950</c:v>
                </c:pt>
                <c:pt idx="1">
                  <c:v>680</c:v>
                </c:pt>
                <c:pt idx="2">
                  <c:v>520</c:v>
                </c:pt>
                <c:pt idx="3">
                  <c:v>240</c:v>
                </c:pt>
                <c:pt idx="4">
                  <c:v>120</c:v>
                </c:pt>
              </c:numCache>
            </c:numRef>
          </c:val>
        </c:ser>
        <c:dLbls>
          <c:txPr>
            <a:bodyPr/>
            <a:lstStyle/>
            <a:p>
              <a:pPr>
                <a:defRPr sz="600">
                  <a:latin typeface="Calibri"/>
                </a:defRPr>
              </a:pPr>
              <a:endParaRPr lang="en-US" dirty="0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Region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Market Size ($M)</a:t>
                </a:r>
              </a:p>
            </c:rich>
          </c:tx>
          <c:overlay val="0"/>
        </c:title>
        <c:numFmt formatCode="$#,##0M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Sheet1!$A$2:$A$9</c:f>
              <c:strCache>
                <c:ptCount val="8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</c:v>
                </c:pt>
                <c:pt idx="1">
                  <c:v>88</c:v>
                </c:pt>
                <c:pt idx="2">
                  <c:v>91</c:v>
                </c:pt>
                <c:pt idx="3">
                  <c:v>97</c:v>
                </c:pt>
                <c:pt idx="4">
                  <c:v>103</c:v>
                </c:pt>
                <c:pt idx="5">
                  <c:v>110</c:v>
                </c:pt>
                <c:pt idx="6">
                  <c:v>116</c:v>
                </c:pt>
                <c:pt idx="7">
                  <c:v>124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Mid-Market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Sheet1!$A$2:$A$9</c:f>
              <c:strCache>
                <c:ptCount val="8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45</c:v>
                </c:pt>
                <c:pt idx="1">
                  <c:v>47</c:v>
                </c:pt>
                <c:pt idx="2">
                  <c:v>49</c:v>
                </c:pt>
                <c:pt idx="3">
                  <c:v>51</c:v>
                </c:pt>
                <c:pt idx="4">
                  <c:v>54</c:v>
                </c:pt>
                <c:pt idx="5">
                  <c:v>56</c:v>
                </c:pt>
                <c:pt idx="6">
                  <c:v>58</c:v>
                </c:pt>
                <c:pt idx="7">
                  <c:v>61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SMB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Sheet1!$A$2:$A$9</c:f>
              <c:strCache>
                <c:ptCount val="8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32</c:v>
                </c:pt>
                <c:pt idx="1">
                  <c:v>33</c:v>
                </c:pt>
                <c:pt idx="2">
                  <c:v>33</c:v>
                </c:pt>
                <c:pt idx="3">
                  <c:v>34</c:v>
                </c:pt>
                <c:pt idx="4">
                  <c:v>34</c:v>
                </c:pt>
                <c:pt idx="5">
                  <c:v>35</c:v>
                </c:pt>
                <c:pt idx="6">
                  <c:v>35</c:v>
                </c:pt>
                <c:pt idx="7">
                  <c:v>36</c:v>
                </c:pt>
              </c:numCache>
            </c:numRef>
          </c:val>
        </c:ser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Quarter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Revenue ($M)</a:t>
                </a:r>
              </a:p>
            </c:rich>
          </c:tx>
          <c:overlay val="0"/>
        </c:title>
        <c:numFmt formatCode="$#,##0M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FY25 Base</c:v>
                </c:pt>
                <c:pt idx="1">
                  <c:v>New Logos</c:v>
                </c:pt>
                <c:pt idx="2">
                  <c:v>Upsell</c:v>
                </c:pt>
                <c:pt idx="3">
                  <c:v>Price Increase</c:v>
                </c:pt>
                <c:pt idx="4">
                  <c:v>M&amp;A</c:v>
                </c:pt>
                <c:pt idx="5">
                  <c:v>Churn</c:v>
                </c:pt>
                <c:pt idx="6">
                  <c:v>Downsell</c:v>
                </c:pt>
                <c:pt idx="7">
                  <c:v>FX Impact</c:v>
                </c:pt>
                <c:pt idx="8">
                  <c:v>FY26 Target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100</c:v>
                </c:pt>
                <c:pt idx="2">
                  <c:v>115</c:v>
                </c:pt>
                <c:pt idx="3">
                  <c:v>127</c:v>
                </c:pt>
                <c:pt idx="4">
                  <c:v>135</c:v>
                </c:pt>
                <c:pt idx="5">
                  <c:v>131</c:v>
                </c:pt>
                <c:pt idx="6">
                  <c:v>128</c:v>
                </c:pt>
                <c:pt idx="7">
                  <c:v>126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00B050"/>
            </a:solidFill>
          </c:spPr>
          <c:dPt>
            <c:idx val="0"/>
            <c:spPr>
              <a:solidFill>
                <a:srgbClr val="003DA5"/>
              </a:solidFill>
            </c:spPr>
          </c:dPt>
          <c:dPt>
            <c:idx val="8"/>
            <c:spPr>
              <a:solidFill>
                <a:srgbClr val="003DA5"/>
              </a:solidFill>
            </c:spPr>
          </c:dPt>
          <c:cat>
            <c:strRef>
              <c:f>Sheet1!$A$2:$A$10</c:f>
              <c:strCache>
                <c:ptCount val="9"/>
                <c:pt idx="0">
                  <c:v>FY25 Base</c:v>
                </c:pt>
                <c:pt idx="1">
                  <c:v>New Logos</c:v>
                </c:pt>
                <c:pt idx="2">
                  <c:v>Upsell</c:v>
                </c:pt>
                <c:pt idx="3">
                  <c:v>Price Increase</c:v>
                </c:pt>
                <c:pt idx="4">
                  <c:v>M&amp;A</c:v>
                </c:pt>
                <c:pt idx="5">
                  <c:v>Churn</c:v>
                </c:pt>
                <c:pt idx="6">
                  <c:v>Downsell</c:v>
                </c:pt>
                <c:pt idx="7">
                  <c:v>FX Impact</c:v>
                </c:pt>
                <c:pt idx="8">
                  <c:v>FY26 Target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100</c:v>
                </c:pt>
                <c:pt idx="1">
                  <c:v>15</c:v>
                </c:pt>
                <c:pt idx="2">
                  <c:v>12</c:v>
                </c:pt>
                <c:pt idx="3">
                  <c:v>8</c:v>
                </c:pt>
                <c:pt idx="4">
                  <c:v>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Sheet1!$A$2:$A$10</c:f>
              <c:strCache>
                <c:ptCount val="9"/>
                <c:pt idx="0">
                  <c:v>FY25 Base</c:v>
                </c:pt>
                <c:pt idx="1">
                  <c:v>New Logos</c:v>
                </c:pt>
                <c:pt idx="2">
                  <c:v>Upsell</c:v>
                </c:pt>
                <c:pt idx="3">
                  <c:v>Price Increase</c:v>
                </c:pt>
                <c:pt idx="4">
                  <c:v>M&amp;A</c:v>
                </c:pt>
                <c:pt idx="5">
                  <c:v>Churn</c:v>
                </c:pt>
                <c:pt idx="6">
                  <c:v>Downsell</c:v>
                </c:pt>
                <c:pt idx="7">
                  <c:v>FX Impact</c:v>
                </c:pt>
                <c:pt idx="8">
                  <c:v>FY26 Target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7</c:v>
                </c:pt>
                <c:pt idx="6">
                  <c:v>3</c:v>
                </c:pt>
                <c:pt idx="7">
                  <c:v>2</c:v>
                </c:pt>
                <c:pt idx="8">
                  <c:v>0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$#,##0M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Stars</c:v>
                </c:pt>
              </c:strCache>
            </c:strRef>
          </c:tx>
          <c:spPr>
            <a:solidFill>
              <a:srgbClr val="00B050"/>
            </a:solidFill>
          </c:spPr>
          <c:xVal>
            <c:numRef>
              <c:f>Sheet1!$A$2:$A$3</c:f>
              <c:numCache>
                <c:formatCode>General</c:formatCode>
                <c:ptCount val="2"/>
                <c:pt idx="0">
                  <c:v>0.65</c:v>
                </c:pt>
                <c:pt idx="1">
                  <c:v>0.72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22</c:v>
                </c:pt>
              </c:numCache>
            </c:numRef>
          </c:yVal>
          <c:bubbleSize>
            <c:numRef>
              <c:f>Sheet1!$C$2:$C$3</c:f>
              <c:numCache>
                <c:formatCode>General</c:formatCode>
                <c:ptCount val="2"/>
                <c:pt idx="0">
                  <c:v>45</c:v>
                </c:pt>
                <c:pt idx="1">
                  <c:v>60</c:v>
                </c:pt>
              </c:numCache>
            </c:numRef>
          </c:bubbleSize>
        </c:ser>
        <c:ser>
          <c:idx val="1"/>
          <c:order val="1"/>
          <c:tx>
            <c:strRef>
              <c:f>Sheet1!$E$1</c:f>
              <c:strCache>
                <c:ptCount val="1"/>
                <c:pt idx="0">
                  <c:v>Cash Cows</c:v>
                </c:pt>
              </c:strCache>
            </c:strRef>
          </c:tx>
          <c:spPr>
            <a:solidFill>
              <a:srgbClr val="003DA5"/>
            </a:solidFill>
          </c:spPr>
          <c:xVal>
            <c:numRef>
              <c:f>Sheet1!$D$2:$D$4</c:f>
              <c:numCache>
                <c:formatCode>General</c:formatCode>
                <c:ptCount val="3"/>
                <c:pt idx="0">
                  <c:v>0.58</c:v>
                </c:pt>
                <c:pt idx="1">
                  <c:v>0.48</c:v>
                </c:pt>
                <c:pt idx="2">
                  <c:v>0.55</c:v>
                </c:pt>
              </c:numCache>
            </c:numRef>
          </c:xVal>
          <c:yVal>
            <c:numRef>
              <c:f>Sheet1!$E$2:$E$4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5</c:v>
                </c:pt>
              </c:numCache>
            </c:numRef>
          </c:yVal>
          <c:bubbleSize>
            <c:numRef>
              <c:f>Sheet1!$F$2:$F$4</c:f>
              <c:numCache>
                <c:formatCode>General</c:formatCode>
                <c:ptCount val="3"/>
                <c:pt idx="0">
                  <c:v>80</c:v>
                </c:pt>
                <c:pt idx="1">
                  <c:v>55</c:v>
                </c:pt>
                <c:pt idx="2">
                  <c:v>65</c:v>
                </c:pt>
              </c:numCache>
            </c:numRef>
          </c:bubbleSize>
        </c:ser>
        <c:ser>
          <c:idx val="2"/>
          <c:order val="2"/>
          <c:tx>
            <c:strRef>
              <c:f>Sheet1!$H$1</c:f>
              <c:strCache>
                <c:ptCount val="1"/>
                <c:pt idx="0">
                  <c:v>Question Marks</c:v>
                </c:pt>
              </c:strCache>
            </c:strRef>
          </c:tx>
          <c:spPr>
            <a:solidFill>
              <a:srgbClr val="FFC000"/>
            </a:solidFill>
          </c:spPr>
          <c:xVal>
            <c:numRef>
              <c:f>Sheet1!$G$2:$G$6</c:f>
              <c:numCache>
                <c:formatCode>General</c:formatCode>
                <c:ptCount val="5"/>
                <c:pt idx="0">
                  <c:v>0.15</c:v>
                </c:pt>
                <c:pt idx="1">
                  <c:v>0.22</c:v>
                </c:pt>
                <c:pt idx="2">
                  <c:v>0.18</c:v>
                </c:pt>
                <c:pt idx="3">
                  <c:v>0.28</c:v>
                </c:pt>
                <c:pt idx="4">
                  <c:v>0.12</c:v>
                </c:pt>
              </c:numCache>
            </c:numRef>
          </c:xVal>
          <c:yVal>
            <c:numRef>
              <c:f>Sheet1!$H$2:$H$6</c:f>
              <c:numCache>
                <c:formatCode>General</c:formatCode>
                <c:ptCount val="5"/>
                <c:pt idx="0">
                  <c:v>15</c:v>
                </c:pt>
                <c:pt idx="1">
                  <c:v>20</c:v>
                </c:pt>
                <c:pt idx="2">
                  <c:v>12</c:v>
                </c:pt>
                <c:pt idx="3">
                  <c:v>25</c:v>
                </c:pt>
                <c:pt idx="4">
                  <c:v>10</c:v>
                </c:pt>
              </c:numCache>
            </c:numRef>
          </c:yVal>
          <c:bubbleSize>
            <c:numRef>
              <c:f>Sheet1!$I$2:$I$6</c:f>
              <c:numCache>
                <c:formatCode>General</c:formatCode>
                <c:ptCount val="5"/>
                <c:pt idx="0">
                  <c:v>20</c:v>
                </c:pt>
                <c:pt idx="1">
                  <c:v>25</c:v>
                </c:pt>
                <c:pt idx="2">
                  <c:v>15</c:v>
                </c:pt>
                <c:pt idx="3">
                  <c:v>30</c:v>
                </c:pt>
                <c:pt idx="4">
                  <c:v>18</c:v>
                </c:pt>
              </c:numCache>
            </c:numRef>
          </c:bubbleSize>
        </c:ser>
        <c:bubbleScale val="100"/>
        <c:axId val="333333333"/>
        <c:axId val="444444444"/>
      </c:bubbleChart>
      <c:valAx>
        <c:axId val="33333333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Relative Market Share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444444444"/>
        <c:crosses val="autoZero"/>
      </c:valAx>
      <c:valAx>
        <c:axId val="444444444"/>
        <c:scaling>
          <c:orientation val="minMax"/>
          <c:max val="3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Market Growth Rate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333333333"/>
        <c:crosses val="autoZero"/>
      </c:valAx>
      <c:spPr>
        <a:noFill/>
        <a:ln>
          <a:noFill/>
        </a:ln>
      </c:spPr>
    </c:plotArea>
    <c:legend>
      <c:legendPos val="r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Sheet1!$A$2:$A$7</c:f>
              <c:strCache>
                <c:ptCount val="6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52</c:v>
                </c:pt>
                <c:pt idx="2">
                  <c:v>60</c:v>
                </c:pt>
                <c:pt idx="3">
                  <c:v>72</c:v>
                </c:pt>
                <c:pt idx="4">
                  <c:v>82</c:v>
                </c:pt>
                <c:pt idx="5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Mid-Market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Sheet1!$A$2:$A$7</c:f>
              <c:strCache>
                <c:ptCount val="6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</c:v>
                </c:pt>
                <c:pt idx="1">
                  <c:v>25</c:v>
                </c:pt>
                <c:pt idx="2">
                  <c:v>28</c:v>
                </c:pt>
                <c:pt idx="3">
                  <c:v>32</c:v>
                </c:pt>
                <c:pt idx="4">
                  <c:v>38</c:v>
                </c:pt>
                <c:pt idx="5">
                  <c:v>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SMB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Sheet1!$A$2:$A$7</c:f>
              <c:strCache>
                <c:ptCount val="6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</c:v>
                </c:pt>
                <c:pt idx="1">
                  <c:v>16</c:v>
                </c:pt>
                <c:pt idx="2">
                  <c:v>18</c:v>
                </c:pt>
                <c:pt idx="3">
                  <c:v>19</c:v>
                </c:pt>
                <c:pt idx="4">
                  <c:v>20</c:v>
                </c:pt>
                <c:pt idx="5">
                  <c:v>21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Government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Sheet1!$A$2:$A$7</c:f>
              <c:strCache>
                <c:ptCount val="6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600">
                  <a:latin typeface="Calibri"/>
                </a:defRPr>
              </a:pPr>
              <a:endParaRPr lang="en-US" dirty="0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Fiscal 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Revenue ($M)</a:t>
                </a:r>
              </a:p>
            </c:rich>
          </c:tx>
          <c:overlay val="0"/>
        </c:title>
        <c:numFmt formatCode="$#,##0M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Leaders</c:v>
                </c:pt>
              </c:strCache>
            </c:strRef>
          </c:tx>
          <c:spPr>
            <a:solidFill>
              <a:srgbClr val="003DA5"/>
            </a:solidFill>
          </c:spPr>
          <c:xVal>
            <c:numRef>
              <c:f>Sheet1!$A$2:$A$4</c:f>
              <c:numCache>
                <c:formatCode>General</c:formatCode>
                <c:ptCount val="3"/>
                <c:pt idx="0">
                  <c:v>8.5</c:v>
                </c:pt>
                <c:pt idx="1">
                  <c:v>9.1</c:v>
                </c:pt>
                <c:pt idx="2">
                  <c:v>7.8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92</c:v>
                </c:pt>
                <c:pt idx="2">
                  <c:v>78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120</c:v>
                </c:pt>
                <c:pt idx="1">
                  <c:v>95</c:v>
                </c:pt>
                <c:pt idx="2">
                  <c:v>80</c:v>
                </c:pt>
              </c:numCache>
            </c:numRef>
          </c:bubbleSize>
        </c:ser>
        <c:ser>
          <c:idx val="1"/>
          <c:order val="1"/>
          <c:tx>
            <c:strRef>
              <c:f>Sheet1!$E$1</c:f>
              <c:strCache>
                <c:ptCount val="1"/>
                <c:pt idx="0">
                  <c:v>Challengers</c:v>
                </c:pt>
              </c:strCache>
            </c:strRef>
          </c:tx>
          <c:spPr>
            <a:solidFill>
              <a:srgbClr val="0070C0"/>
            </a:solidFill>
          </c:spPr>
          <c:xVal>
            <c:numRef>
              <c:f>Sheet1!$D$2:$D$5</c:f>
              <c:numCache>
                <c:formatCode>General</c:formatCode>
                <c:ptCount val="4"/>
                <c:pt idx="0">
                  <c:v>6.2</c:v>
                </c:pt>
                <c:pt idx="1">
                  <c:v>5.8</c:v>
                </c:pt>
                <c:pt idx="2">
                  <c:v>7</c:v>
                </c:pt>
                <c:pt idx="3">
                  <c:v>6.5</c:v>
                </c:pt>
              </c:numCache>
            </c:numRef>
          </c:xVal>
          <c:yVal>
            <c:numRef>
              <c:f>Sheet1!$E$2:$E$5</c:f>
              <c:numCache>
                <c:formatCode>General</c:formatCode>
                <c:ptCount val="4"/>
                <c:pt idx="0">
                  <c:v>62</c:v>
                </c:pt>
                <c:pt idx="1">
                  <c:v>58</c:v>
                </c:pt>
                <c:pt idx="2">
                  <c:v>70</c:v>
                </c:pt>
                <c:pt idx="3">
                  <c:v>55</c:v>
                </c:pt>
              </c:numCache>
            </c:numRef>
          </c:yVal>
          <c:bubbleSize>
            <c:numRef>
              <c:f>Sheet1!$F$2:$F$5</c:f>
              <c:numCache>
                <c:formatCode>General</c:formatCode>
                <c:ptCount val="4"/>
                <c:pt idx="0">
                  <c:v>60</c:v>
                </c:pt>
                <c:pt idx="1">
                  <c:v>45</c:v>
                </c:pt>
                <c:pt idx="2">
                  <c:v>55</c:v>
                </c:pt>
                <c:pt idx="3">
                  <c:v>50</c:v>
                </c:pt>
              </c:numCache>
            </c:numRef>
          </c:bubbleSize>
        </c:ser>
        <c:ser>
          <c:idx val="2"/>
          <c:order val="2"/>
          <c:tx>
            <c:strRef>
              <c:f>Sheet1!$H$1</c:f>
              <c:strCache>
                <c:ptCount val="1"/>
                <c:pt idx="0">
                  <c:v>Niche Players</c:v>
                </c:pt>
              </c:strCache>
            </c:strRef>
          </c:tx>
          <c:spPr>
            <a:solidFill>
              <a:srgbClr val="94A3B8"/>
            </a:solidFill>
          </c:spPr>
          <c:xVal>
            <c:numRef>
              <c:f>Sheet1!$G$2:$G$9</c:f>
              <c:numCache>
                <c:formatCode>General</c:formatCode>
                <c:ptCount val="8"/>
                <c:pt idx="0">
                  <c:v>3.5</c:v>
                </c:pt>
                <c:pt idx="1">
                  <c:v>4.2</c:v>
                </c:pt>
                <c:pt idx="2">
                  <c:v>2.8</c:v>
                </c:pt>
                <c:pt idx="3">
                  <c:v>3</c:v>
                </c:pt>
                <c:pt idx="4">
                  <c:v>4.8</c:v>
                </c:pt>
                <c:pt idx="5">
                  <c:v>3.8</c:v>
                </c:pt>
                <c:pt idx="6">
                  <c:v>4.5</c:v>
                </c:pt>
                <c:pt idx="7">
                  <c:v>2.5</c:v>
                </c:pt>
              </c:numCache>
            </c:numRef>
          </c:xVal>
          <c:yVal>
            <c:numRef>
              <c:f>Sheet1!$H$2:$H$9</c:f>
              <c:numCache>
                <c:formatCode>General</c:formatCode>
                <c:ptCount val="8"/>
                <c:pt idx="0">
                  <c:v>40</c:v>
                </c:pt>
                <c:pt idx="1">
                  <c:v>35</c:v>
                </c:pt>
                <c:pt idx="2">
                  <c:v>28</c:v>
                </c:pt>
                <c:pt idx="3">
                  <c:v>45</c:v>
                </c:pt>
                <c:pt idx="4">
                  <c:v>48</c:v>
                </c:pt>
                <c:pt idx="5">
                  <c:v>32</c:v>
                </c:pt>
                <c:pt idx="6">
                  <c:v>42</c:v>
                </c:pt>
                <c:pt idx="7">
                  <c:v>25</c:v>
                </c:pt>
              </c:numCache>
            </c:numRef>
          </c:yVal>
          <c:bubbleSize>
            <c:numRef>
              <c:f>Sheet1!$I$2:$I$9</c:f>
              <c:numCache>
                <c:formatCode>General</c:formatCode>
                <c:ptCount val="8"/>
                <c:pt idx="0">
                  <c:v>25</c:v>
                </c:pt>
                <c:pt idx="1">
                  <c:v>20</c:v>
                </c:pt>
                <c:pt idx="2">
                  <c:v>15</c:v>
                </c:pt>
                <c:pt idx="3">
                  <c:v>18</c:v>
                </c:pt>
                <c:pt idx="4">
                  <c:v>30</c:v>
                </c:pt>
                <c:pt idx="5">
                  <c:v>22</c:v>
                </c:pt>
                <c:pt idx="6">
                  <c:v>28</c:v>
                </c:pt>
                <c:pt idx="7">
                  <c:v>12</c:v>
                </c:pt>
              </c:numCache>
            </c:numRef>
          </c:bubbleSize>
        </c:ser>
        <c:bubbleScale val="100"/>
        <c:axId val="333333333"/>
        <c:axId val="444444444"/>
      </c:bubbleChart>
      <c:valAx>
        <c:axId val="33333333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Product Capability (1-10)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444444444"/>
        <c:crosses val="autoZero"/>
      </c:valAx>
      <c:valAx>
        <c:axId val="444444444"/>
        <c:scaling>
          <c:orientation val="minMax"/>
          <c:max val="10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Customer Satisfaction Score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333333333"/>
        <c:crosses val="autoZero"/>
      </c:valAx>
      <c:spPr>
        <a:noFill/>
        <a:ln>
          <a:noFill/>
        </a:ln>
      </c:spPr>
    </c:plotArea>
    <c:legend>
      <c:legendPos val="r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Sheet1!$A$2:$A$8</c:f>
              <c:strCache>
                <c:ptCount val="7"/>
                <c:pt idx="0">
                  <c:v>AI / ML Capabilities</c:v>
                </c:pt>
                <c:pt idx="1">
                  <c:v>Integration Depth</c:v>
                </c:pt>
                <c:pt idx="2">
                  <c:v>Security &amp; Compliance</c:v>
                </c:pt>
                <c:pt idx="3">
                  <c:v>Total Cost of Ownership</c:v>
                </c:pt>
                <c:pt idx="4">
                  <c:v>Customer Support</c:v>
                </c:pt>
                <c:pt idx="5">
                  <c:v>Scalability</c:v>
                </c:pt>
                <c:pt idx="6">
                  <c:v>Ease of Use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92</c:v>
                </c:pt>
                <c:pt idx="1">
                  <c:v>88</c:v>
                </c:pt>
                <c:pt idx="2">
                  <c:v>85</c:v>
                </c:pt>
                <c:pt idx="3">
                  <c:v>72</c:v>
                </c:pt>
                <c:pt idx="4">
                  <c:v>68</c:v>
                </c:pt>
                <c:pt idx="5">
                  <c:v>82</c:v>
                </c:pt>
                <c:pt idx="6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Mid-Market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Sheet1!$A$2:$A$8</c:f>
              <c:strCache>
                <c:ptCount val="7"/>
                <c:pt idx="0">
                  <c:v>AI / ML Capabilities</c:v>
                </c:pt>
                <c:pt idx="1">
                  <c:v>Integration Depth</c:v>
                </c:pt>
                <c:pt idx="2">
                  <c:v>Security &amp; Compliance</c:v>
                </c:pt>
                <c:pt idx="3">
                  <c:v>Total Cost of Ownership</c:v>
                </c:pt>
                <c:pt idx="4">
                  <c:v>Customer Support</c:v>
                </c:pt>
                <c:pt idx="5">
                  <c:v>Scalability</c:v>
                </c:pt>
                <c:pt idx="6">
                  <c:v>Ease of Use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65</c:v>
                </c:pt>
                <c:pt idx="1">
                  <c:v>72</c:v>
                </c:pt>
                <c:pt idx="2">
                  <c:v>78</c:v>
                </c:pt>
                <c:pt idx="3">
                  <c:v>85</c:v>
                </c:pt>
                <c:pt idx="4">
                  <c:v>80</c:v>
                </c:pt>
                <c:pt idx="5">
                  <c:v>70</c:v>
                </c:pt>
                <c:pt idx="6">
                  <c:v>88</c:v>
                </c:pt>
              </c:numCache>
            </c:numRef>
          </c:val>
        </c:ser>
        <c:dLbls>
          <c:txPr>
            <a:bodyPr/>
            <a:lstStyle/>
            <a:p>
              <a:pPr>
                <a:defRPr sz="600">
                  <a:latin typeface="Calibri"/>
                </a:defRPr>
              </a:pPr>
              <a:endParaRPr lang="en-US" dirty="0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% Citing as Top-3 Factor</a:t>
                </a:r>
              </a:p>
            </c:rich>
          </c:tx>
          <c:overlay val="0"/>
        </c:title>
        <c:numFmt formatCode="#,##0%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Sheet1!$A$2:$A$5</c:f>
              <c:strCache>
                <c:ptCount val="4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41</c:v>
                </c:pt>
                <c:pt idx="2">
                  <c:v>44</c:v>
                </c:pt>
                <c:pt idx="3">
                  <c:v>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Mid-Market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Sheet1!$A$2:$A$5</c:f>
              <c:strCache>
                <c:ptCount val="4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</c:v>
                </c:pt>
                <c:pt idx="1">
                  <c:v>33</c:v>
                </c:pt>
                <c:pt idx="2">
                  <c:v>34</c:v>
                </c:pt>
                <c:pt idx="3">
                  <c:v>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SMB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Sheet1!$A$2:$A$5</c:f>
              <c:strCache>
                <c:ptCount val="4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28</c:v>
                </c:pt>
                <c:pt idx="1">
                  <c:v>26</c:v>
                </c:pt>
                <c:pt idx="2">
                  <c:v>24</c:v>
                </c:pt>
                <c:pt idx="3">
                  <c:v>22</c:v>
                </c:pt>
              </c:numCache>
            </c:numRef>
          </c:val>
        </c:ser>
        <c:dLbls>
          <c:txPr>
            <a:bodyPr/>
            <a:lstStyle/>
            <a:p>
              <a:pPr>
                <a:defRPr sz="675">
                  <a:latin typeface="Calibri"/>
                </a:defRPr>
              </a:pPr>
              <a:endParaRPr lang="en-US" dirty="0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Quarter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Win Rate (%)</a:t>
                </a:r>
              </a:p>
            </c:rich>
          </c:tx>
          <c:overlay val="0"/>
        </c:title>
        <c:numFmt formatCode="#,##0%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dPt>
            <c:idx val="0"/>
            <c:spPr>
              <a:solidFill>
                <a:srgbClr val="003DA5"/>
              </a:solidFill>
            </c:spPr>
          </c:dPt>
          <c:dPt>
            <c:idx val="1"/>
            <c:spPr>
              <a:solidFill>
                <a:srgbClr val="0070C0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94A3B8"/>
              </a:solidFill>
            </c:spPr>
          </c:dPt>
          <c:cat>
            <c:strRef>
              <c:f>Sheet1!$A$2:$A$6</c:f>
              <c:strCache>
                <c:ptCount val="5"/>
                <c:pt idx="0">
                  <c:v>Subscription</c:v>
                </c:pt>
                <c:pt idx="1">
                  <c:v>Professional Services</c:v>
                </c:pt>
                <c:pt idx="2">
                  <c:v>Maintenance</c:v>
                </c:pt>
                <c:pt idx="3">
                  <c:v>License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</c:v>
                </c:pt>
                <c:pt idx="1">
                  <c:v>14</c:v>
                </c:pt>
                <c:pt idx="2">
                  <c:v>9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750">
                  <a:latin typeface="Calibri"/>
                </a:defRPr>
              </a:pPr>
              <a:endParaRPr lang="en-US" dirty="0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</c:pieChart>
      <c:spPr>
        <a:noFill/>
        <a:ln>
          <a:noFill/>
        </a:ln>
      </c:spPr>
    </c:plotArea>
    <c:legend>
      <c:legendPos val="r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 Score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</c:v>
                </c:pt>
                <c:pt idx="1">
                  <c:v>44</c:v>
                </c:pt>
                <c:pt idx="2">
                  <c:v>46</c:v>
                </c:pt>
                <c:pt idx="3">
                  <c:v>48</c:v>
                </c:pt>
                <c:pt idx="4">
                  <c:v>52</c:v>
                </c:pt>
                <c:pt idx="5">
                  <c:v>55</c:v>
                </c:pt>
                <c:pt idx="6">
                  <c:v>58</c:v>
                </c:pt>
                <c:pt idx="7">
                  <c:v>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Renewal Rate (%)</c:v>
                </c:pt>
              </c:strCache>
            </c:strRef>
          </c:tx>
          <c:spPr>
            <a:solidFill>
              <a:srgbClr val="00B050"/>
            </a:solidFill>
          </c:spP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88</c:v>
                </c:pt>
                <c:pt idx="1">
                  <c:v>89</c:v>
                </c:pt>
                <c:pt idx="2">
                  <c:v>89</c:v>
                </c:pt>
                <c:pt idx="3">
                  <c:v>90</c:v>
                </c:pt>
                <c:pt idx="4">
                  <c:v>91</c:v>
                </c:pt>
                <c:pt idx="5">
                  <c:v>92</c:v>
                </c:pt>
                <c:pt idx="6">
                  <c:v>93</c:v>
                </c:pt>
                <c:pt idx="7">
                  <c:v>94</c:v>
                </c:pt>
              </c:numCache>
            </c:numRef>
          </c:val>
        </c:ser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Month (2025)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Score / Rate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3.xml"/>
  <Relationship Id="rId2" Type="http://schemas.openxmlformats.org/officeDocument/2006/relationships/notesMaster" Target="../notesMasters/notesMaster1.xml"/>
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attendees. Reiterate three initiatives: pricing, M&amp;A, PLG. Confirm next check-in April 15. Share deck via secure portal.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3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4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5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6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7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8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9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0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1E1B4B"/>
            </a:gs>
          </a:gsLst>
          <a:lin ang="4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524000"/>
            <a:ext cx="8001000" cy="3524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760"/>
              </a:lnSpc>
            </a:pPr>
            <a:r>
              <a:rPr lang="en-US" sz="2400" b="1" dirty="0">
                <a:solidFill>
                  <a:srgbClr val="FFFFFF"/>
                </a:solidFill>
                <a:latin typeface="Arial"/>
              </a:rPr>
              <a:t>Strategic Growth Assessment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2095500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dirty="0">
                <a:solidFill>
                  <a:srgbClr val="94A3B8"/>
                </a:solidFill>
                <a:latin typeface="Arial"/>
              </a:rPr>
              <a:t>Confidential • March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Revenue growth has stalled; a three-pronged strategy can restore 15% CAGR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762000"/>
            <a:ext cx="8001000" cy="3619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Situation: </a:t>
            </a:r>
            <a:r>
              <a:rPr lang="en-US" sz="900" dirty="0">
                <a:solidFill>
                  <a:srgbClr val="000000"/>
                </a:solidFill>
                <a:latin typeface="Arial"/>
              </a:rPr>
              <a:t>Core market revenue growth has decelerated from 18% to 6% over the past three years, driven by increased competition and commoditization of base offerings.</a:t>
            </a:r>
            <a:endParaRPr lang="en-US" dirty="0"/>
          </a:p>
          <a:p>
            <a:pPr>
              <a:lnSpc>
                <a:spcPts val="1380"/>
              </a:lnSpc>
              <a:spcBef>
                <a:spcPts val="1200"/>
              </a:spcBef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Complication: </a:t>
            </a:r>
            <a:r>
              <a:rPr lang="en-US" sz="900" dirty="0">
                <a:solidFill>
                  <a:srgbClr val="000000"/>
                </a:solidFill>
                <a:latin typeface="Arial"/>
              </a:rPr>
              <a:t>Without intervention, projected FY27 revenue will fall 22% below board targets. Current M&amp;A pipeline lacks transformative assets, and organic initiatives have underperformed.</a:t>
            </a:r>
            <a:endParaRPr lang="en-US" dirty="0"/>
          </a:p>
          <a:p>
            <a:pPr>
              <a:lnSpc>
                <a:spcPts val="1380"/>
              </a:lnSpc>
              <a:spcBef>
                <a:spcPts val="1200"/>
              </a:spcBef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Resolution: </a:t>
            </a:r>
            <a:r>
              <a:rPr lang="en-US" sz="900" dirty="0">
                <a:solidFill>
                  <a:srgbClr val="000000"/>
                </a:solidFill>
                <a:latin typeface="Arial"/>
              </a:rPr>
              <a:t>A three-pronged strategy combining pricing optimization (+$10M), targeted bolt-on acquisitions (+$15M), and product-led expansion (+$25M) can restore 15% revenue CAGR by FY28.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381000" y="4953000"/>
            <a:ext cx="18573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Management interviews, internal financial data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Today's discussion covers three strategic pillars across market, competitive, and recommendations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762000"/>
            <a:ext cx="7620000" cy="3619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0F2540"/>
                </a:solidFill>
                <a:latin typeface="Arial"/>
              </a:rPr>
              <a:t>01  Market Analysis</a:t>
            </a:r>
            <a:r>
              <a:rPr lang="en-US" sz="900" dirty="0">
                <a:solidFill>
                  <a:srgbClr val="94A3B8"/>
                </a:solidFill>
                <a:latin typeface="Arial"/>
              </a:rPr>
              <a:t>    ................................................  p. 4</a:t>
            </a:r>
            <a:endParaRPr lang="en-US" dirty="0"/>
          </a:p>
          <a:p>
            <a:pPr>
              <a:lnSpc>
                <a:spcPts val="1380"/>
              </a:lnSpc>
              <a:spcBef>
                <a:spcPts val="400"/>
              </a:spcBef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     Market sizing, trends, revenue bridge, competitive positioning, and segment composition</a:t>
            </a:r>
            <a:endParaRPr lang="en-US" dirty="0"/>
          </a:p>
          <a:p>
            <a:pPr>
              <a:lnSpc>
                <a:spcPts val="1380"/>
              </a:lnSpc>
              <a:spcBef>
                <a:spcPts val="2000"/>
              </a:spcBef>
            </a:pPr>
            <a:r>
              <a:rPr lang="en-US" sz="1200" b="1" dirty="0">
                <a:solidFill>
                  <a:srgbClr val="0F2540"/>
                </a:solidFill>
                <a:latin typeface="Arial"/>
              </a:rPr>
              <a:t>02  Competitive Analysis</a:t>
            </a:r>
            <a:r>
              <a:rPr lang="en-US" sz="900" dirty="0">
                <a:solidFill>
                  <a:srgbClr val="94A3B8"/>
                </a:solidFill>
                <a:latin typeface="Arial"/>
              </a:rPr>
              <a:t>    ........................................  p. 11</a:t>
            </a:r>
            <a:endParaRPr lang="en-US" dirty="0"/>
          </a:p>
          <a:p>
            <a:pPr>
              <a:lnSpc>
                <a:spcPts val="1380"/>
              </a:lnSpc>
              <a:spcBef>
                <a:spcPts val="400"/>
              </a:spcBef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     Landscape mapping, process evaluation, key findings, and deep-dive analytics</a:t>
            </a:r>
            <a:endParaRPr lang="en-US" dirty="0"/>
          </a:p>
          <a:p>
            <a:pPr>
              <a:lnSpc>
                <a:spcPts val="1380"/>
              </a:lnSpc>
              <a:spcBef>
                <a:spcPts val="2000"/>
              </a:spcBef>
            </a:pPr>
            <a:r>
              <a:rPr lang="en-US" sz="1200" b="1" dirty="0">
                <a:solidFill>
                  <a:srgbClr val="0F2540"/>
                </a:solidFill>
                <a:latin typeface="Arial"/>
              </a:rPr>
              <a:t>03  Recommendations</a:t>
            </a:r>
            <a:r>
              <a:rPr lang="en-US" sz="900" dirty="0">
                <a:solidFill>
                  <a:srgbClr val="94A3B8"/>
                </a:solidFill>
                <a:latin typeface="Arial"/>
              </a:rPr>
              <a:t>    ............................................  p. 19</a:t>
            </a:r>
            <a:endParaRPr lang="en-US" dirty="0"/>
          </a:p>
          <a:p>
            <a:pPr>
              <a:lnSpc>
                <a:spcPts val="1380"/>
              </a:lnSpc>
              <a:spcBef>
                <a:spcPts val="400"/>
              </a:spcBef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     Strategic initiatives, implementation roadmap, next steps, and appendix</a:t>
            </a:r>
            <a:endParaRPr lang="en-US" dirty="0"/>
          </a:p>
          <a:p>
            <a:pPr>
              <a:lnSpc>
                <a:spcPts val="1380"/>
              </a:lnSpc>
              <a:spcBef>
                <a:spcPts val="2000"/>
              </a:spcBef>
            </a:pPr>
            <a:r>
              <a:rPr lang="en-US" sz="1200" b="1" dirty="0">
                <a:solidFill>
                  <a:srgbClr val="0F2540"/>
                </a:solidFill>
                <a:latin typeface="Arial"/>
              </a:rPr>
              <a:t>04  Appendix</a:t>
            </a:r>
            <a:r>
              <a:rPr lang="en-US" sz="900" dirty="0">
                <a:solidFill>
                  <a:srgbClr val="94A3B8"/>
                </a:solidFill>
                <a:latin typeface="Arial"/>
              </a:rPr>
              <a:t>    ....................................................  p. 24</a:t>
            </a:r>
            <a:endParaRPr lang="en-US" dirty="0"/>
          </a:p>
          <a:p>
            <a:pPr>
              <a:lnSpc>
                <a:spcPts val="1380"/>
              </a:lnSpc>
              <a:spcBef>
                <a:spcPts val="400"/>
              </a:spcBef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     Supporting data tables and methodology notes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1714500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01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2000250"/>
            <a:ext cx="66675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</a:rPr>
              <a:t>Market Analysis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762000" y="2571750"/>
            <a:ext cx="571500" cy="28575"/>
          </a:xfrm>
          <a:prstGeom prst="rect">
            <a:avLst/>
          </a:prstGeom>
          <a:solidFill>
            <a:srgbClr val="FFFF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Total addressable market reaches $14.2B with Enterprise capturing 48% of value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20383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Gartner Market Guide 2025, IDC Worldwide Tracker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Enterprise segment sustains 12% CAGR while SMB growth decelerates to 4%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6002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Internal CRM data, FY24-FY25 actuals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Revenue bridge shows $38M growth opportunity offset by $12M churn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7145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FY25 actuals, FY26 management forecast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Portfolio analysis reveals two stars, three cash cows, and five question marks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9621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BCG Growth-Share framework, internal estimates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Company A leads across most evaluation criteria; Company C strongest on cost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8343900" cy="1"/>
        </p:xfrm>
        <a:graphic>
          <a:graphicData uri="http://schemas.openxmlformats.org/drawingml/2006/table">
            <a:tbl>
              <a:tblPr firstRow="0" bandRow="1"/>
              <a:tblGrid>
                <a:gridCol w="1390650"/>
                <a:gridCol w="1390650"/>
                <a:gridCol w="1390650"/>
                <a:gridCol w="1390650"/>
                <a:gridCol w="1390650"/>
                <a:gridCol w="13906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Company 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Company B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Company 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Company D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Company 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Market Position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●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◕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◑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◔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◑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Technology Stack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◕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●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◑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◑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◕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Management Team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●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◑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◕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◔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◑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Financial Health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◕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◕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●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◑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◕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Cultural Fit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●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◑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◔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◕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◑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Cost Structure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◑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◔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●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◕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●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Integration Risk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◕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◑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◔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●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◑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3716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Due diligence findings, Q1 2026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Enterprise segment drives majority of growth across all time periods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8383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CRM data, FY21-FY25 actuals, FY26 forecast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1714500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02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2000250"/>
            <a:ext cx="66675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</a:rPr>
              <a:t>Competitive Analysis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762000" y="2571750"/>
            <a:ext cx="571500" cy="28575"/>
          </a:xfrm>
          <a:prstGeom prst="rect">
            <a:avLst/>
          </a:prstGeom>
          <a:solidFill>
            <a:srgbClr val="FFFF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Three competitors occupy premium positioning while market remains fragmented below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8192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Forrester Wave Q4 2025, G2 Crowd Reviews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Six-phase delivery model ensures structured execution from discovery to scale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1524000"/>
            <a:ext cx="1238250" cy="762000"/>
          </a:xfrm>
          <a:prstGeom prst="chevron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71525" y="1781175"/>
            <a:ext cx="4572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Discovery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809625" y="1933575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D1D5DB"/>
                </a:solidFill>
                <a:latin typeface="Arial"/>
              </a:rPr>
              <a:t>Weeks 1-2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1733550" y="1524000"/>
            <a:ext cx="1238250" cy="762000"/>
          </a:xfrm>
          <a:prstGeom prst="chevron">
            <a:avLst/>
          </a:prstGeom>
          <a:solidFill>
            <a:srgbClr val="0050B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2152650" y="1781175"/>
            <a:ext cx="4000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Analysis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2162175" y="1933575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D1D5DB"/>
                </a:solidFill>
                <a:latin typeface="Arial"/>
              </a:rPr>
              <a:t>Weeks 3-4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3086100" y="1524000"/>
            <a:ext cx="1238250" cy="762000"/>
          </a:xfrm>
          <a:prstGeom prst="chevron">
            <a:avLst/>
          </a:prstGeom>
          <a:solidFill>
            <a:srgbClr val="0060C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3543300" y="1781175"/>
            <a:ext cx="3238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Design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3514725" y="1933575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D1D5DB"/>
                </a:solidFill>
                <a:latin typeface="Arial"/>
              </a:rPr>
              <a:t>Weeks 5-8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4438650" y="1524000"/>
            <a:ext cx="1238250" cy="762000"/>
          </a:xfrm>
          <a:prstGeom prst="chevron">
            <a:avLst/>
          </a:prstGeom>
          <a:solidFill>
            <a:srgbClr val="0070D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933950" y="1781175"/>
            <a:ext cx="2476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Build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4848225" y="1933575"/>
            <a:ext cx="4191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D1D5DB"/>
                </a:solidFill>
                <a:latin typeface="Arial"/>
              </a:rPr>
              <a:t>Weeks 9-14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5791200" y="1524000"/>
            <a:ext cx="1238250" cy="762000"/>
          </a:xfrm>
          <a:prstGeom prst="chevron">
            <a:avLst/>
          </a:prstGeom>
          <a:solidFill>
            <a:srgbClr val="0080E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6315075" y="1781175"/>
            <a:ext cx="1905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Test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6181725" y="1933575"/>
            <a:ext cx="4572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D1D5DB"/>
                </a:solidFill>
                <a:latin typeface="Arial"/>
              </a:rPr>
              <a:t>Weeks 15-16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7143750" y="1524000"/>
            <a:ext cx="1238250" cy="762000"/>
          </a:xfrm>
          <a:prstGeom prst="chevron">
            <a:avLst/>
          </a:prstGeom>
          <a:solidFill>
            <a:srgbClr val="0090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7629525" y="1781175"/>
            <a:ext cx="2667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Scale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7534275" y="1933575"/>
            <a:ext cx="4572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D1D5DB"/>
                </a:solidFill>
                <a:latin typeface="Arial"/>
              </a:rPr>
              <a:t>Weeks 17-20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381000" y="2476500"/>
            <a:ext cx="13335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1. Stakeholder interviews &amp; data collection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1733550" y="2476500"/>
            <a:ext cx="13335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2. Market sizing &amp; competitive benchmarking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3086100" y="2476500"/>
            <a:ext cx="13335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3. Solution architecture &amp; business case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4438650" y="2476500"/>
            <a:ext cx="13335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4. MVP development &amp; integration planning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791200" y="2476500"/>
            <a:ext cx="13335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5. UAT, performance testing &amp; validation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7143750" y="2476500"/>
            <a:ext cx="13335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6. Rollout, training &amp; continuous improvement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381000" y="4953000"/>
            <a:ext cx="14001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Proprietary delivery methodology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Four critical findings emerge from our competitive deep-dive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666750"/>
            <a:ext cx="8001000" cy="3810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1. Market share concentration is accelerating</a:t>
            </a:r>
            <a:endParaRPr lang="en-US" dirty="0"/>
          </a:p>
          <a:p>
            <a:pPr>
              <a:lnSpc>
                <a:spcPts val="1380"/>
              </a:lnSpc>
              <a:spcBef>
                <a:spcPts val="400"/>
              </a:spcBef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   • Top 3 players now control 62% of enterprise revenue, up from 48% in FY23</a:t>
            </a:r>
            <a:endParaRPr lang="en-US" dirty="0"/>
          </a:p>
          <a:p>
            <a:pPr>
              <a:lnSpc>
                <a:spcPts val="1380"/>
              </a:lnSpc>
              <a:spcBef>
                <a:spcPts val="200"/>
              </a:spcBef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   • Mid-tier vendors face margin compression as pricing pressure intensifies</a:t>
            </a:r>
            <a:endParaRPr lang="en-US" dirty="0"/>
          </a:p>
          <a:p>
            <a:pPr>
              <a:lnSpc>
                <a:spcPts val="1380"/>
              </a:lnSpc>
              <a:spcBef>
                <a:spcPts val="1600"/>
              </a:spcBef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2. Product-led growth models outperform traditional sales by 2.3×</a:t>
            </a:r>
            <a:endParaRPr lang="en-US" dirty="0"/>
          </a:p>
          <a:p>
            <a:pPr>
              <a:lnSpc>
                <a:spcPts val="1380"/>
              </a:lnSpc>
              <a:spcBef>
                <a:spcPts val="400"/>
              </a:spcBef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   • PLG companies achieve 35% lower CAC with 18-month faster payback</a:t>
            </a:r>
            <a:endParaRPr lang="en-US" dirty="0"/>
          </a:p>
          <a:p>
            <a:pPr>
              <a:lnSpc>
                <a:spcPts val="1380"/>
              </a:lnSpc>
              <a:spcBef>
                <a:spcPts val="200"/>
              </a:spcBef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   • Self-serve onboarding drives 4× trial-to-paid conversion in SMB segment</a:t>
            </a:r>
            <a:endParaRPr lang="en-US" dirty="0"/>
          </a:p>
          <a:p>
            <a:pPr>
              <a:lnSpc>
                <a:spcPts val="1380"/>
              </a:lnSpc>
              <a:spcBef>
                <a:spcPts val="1600"/>
              </a:spcBef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3. AI integration has become a table-stakes differentiator</a:t>
            </a:r>
            <a:endParaRPr lang="en-US" dirty="0"/>
          </a:p>
          <a:p>
            <a:pPr>
              <a:lnSpc>
                <a:spcPts val="1380"/>
              </a:lnSpc>
              <a:spcBef>
                <a:spcPts val="400"/>
              </a:spcBef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   • 78% of enterprise buyers rank AI capabilities in top-3 evaluation criteria</a:t>
            </a:r>
            <a:endParaRPr lang="en-US" dirty="0"/>
          </a:p>
          <a:p>
            <a:pPr>
              <a:lnSpc>
                <a:spcPts val="1380"/>
              </a:lnSpc>
              <a:spcBef>
                <a:spcPts val="200"/>
              </a:spcBef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   • Companies without AI roadmap see 15% higher churn in renewals</a:t>
            </a:r>
            <a:endParaRPr lang="en-US" dirty="0"/>
          </a:p>
          <a:p>
            <a:pPr>
              <a:lnSpc>
                <a:spcPts val="1380"/>
              </a:lnSpc>
              <a:spcBef>
                <a:spcPts val="1600"/>
              </a:spcBef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4. Geographic expansion requires localized go-to-market strategies</a:t>
            </a:r>
            <a:endParaRPr lang="en-US" dirty="0"/>
          </a:p>
          <a:p>
            <a:pPr>
              <a:lnSpc>
                <a:spcPts val="1380"/>
              </a:lnSpc>
              <a:spcBef>
                <a:spcPts val="400"/>
              </a:spcBef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   • APAC markets demand 40% more customization than North American deployments</a:t>
            </a:r>
            <a:endParaRPr lang="en-US" dirty="0"/>
          </a:p>
          <a:p>
            <a:pPr>
              <a:lnSpc>
                <a:spcPts val="1380"/>
              </a:lnSpc>
              <a:spcBef>
                <a:spcPts val="200"/>
              </a:spcBef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   • Local partnerships reduce time-to-revenue by an average of 6 months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381000" y="4953000"/>
            <a:ext cx="26193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Competitive intelligence interviews (n=42), win/loss analysis FY24-25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Enterprise buyers rank AI capabilities and integration depth as top purchase drivers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4859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Customer survey (n=384), Q4 2025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Win rates have improved 8pp year-over-year in Enterprise but declined in SMB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1525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CRM win/loss data, FY25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Subscription revenue now represents 68% of total, up from 52% three years ago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1333500" y="762000"/>
          <a:ext cx="6477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0763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FY25 audited financials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NPS scores correlate strongly with renewal rates, validating customer success investment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7907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Medallia NPS data, internal renewal tracking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1714500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03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2000250"/>
            <a:ext cx="66675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</a:rPr>
              <a:t>Recommendations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762000" y="2571750"/>
            <a:ext cx="571500" cy="28575"/>
          </a:xfrm>
          <a:prstGeom prst="rect">
            <a:avLst/>
          </a:prstGeom>
          <a:solidFill>
            <a:srgbClr val="FFFF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Three strategic initiatives can collectively deliver $50M incremental revenue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2571750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914400"/>
            <a:ext cx="22669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Pricing Optimization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143000"/>
            <a:ext cx="2266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0B050"/>
                </a:solidFill>
                <a:latin typeface="Arial"/>
              </a:rPr>
              <a:t>+$10M Revenue Impact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333500"/>
            <a:ext cx="226695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Implement value-based pricing tiers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Reduce discounting by 30%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Launch premium support packages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Introduce annual commitment incentives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143250" y="762000"/>
            <a:ext cx="2571750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295650" y="914400"/>
            <a:ext cx="22669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Bolt-on Acquisitions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295650" y="1143000"/>
            <a:ext cx="2266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0B050"/>
                </a:solidFill>
                <a:latin typeface="Arial"/>
              </a:rPr>
              <a:t>+$15M Revenue Impact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3295650" y="1333500"/>
            <a:ext cx="226695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Target 2-3 complementary SaaS vendors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Focus on data analytics capabilities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Budget: $50-80M total consideration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Close first acquisition by Q3 FY26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5905500" y="762000"/>
            <a:ext cx="2571750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6057900" y="914400"/>
            <a:ext cx="22669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Product-Led Expansion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6057900" y="1143000"/>
            <a:ext cx="2266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0B050"/>
                </a:solidFill>
                <a:latin typeface="Arial"/>
              </a:rPr>
              <a:t>+$25M Revenue Impact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057900" y="1333500"/>
            <a:ext cx="226695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Launch self-serve SMB product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Expand into 3 adjacent verticals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Build developer ecosystem &amp; APIs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Hire VP of PLG by end of Q1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Implementation spans four quarters with quick wins in Q1 and strategic bets in Q3-Q4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381000" y="103822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Pricing audit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1809750" y="990600"/>
            <a:ext cx="1162050" cy="20955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381000" y="136207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Tier restructuring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2390775" y="1314450"/>
            <a:ext cx="1733550" cy="20955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81000" y="168592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M&amp;A target screening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1809750" y="1638300"/>
            <a:ext cx="1743075" cy="20955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81000" y="200977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Due diligence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3552825" y="1962150"/>
            <a:ext cx="2314575" cy="20955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381000" y="233362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Integration planning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5286375" y="2286000"/>
            <a:ext cx="1743075" cy="20955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381000" y="265747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PLG MVP build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2971800" y="2609850"/>
            <a:ext cx="2895600" cy="20955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381000" y="298132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Beta launch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5867400" y="2933700"/>
            <a:ext cx="1162050" cy="20955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81000" y="330517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GA &amp; scale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7029450" y="3257550"/>
            <a:ext cx="1733550" cy="20955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2857500" y="762000"/>
            <a:ext cx="35242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b="1" dirty="0">
                <a:solidFill>
                  <a:srgbClr val="94A3B8"/>
                </a:solidFill>
                <a:latin typeface="Arial"/>
              </a:rPr>
              <a:t>Q1 FY26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4572000" y="762000"/>
            <a:ext cx="35242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b="1" dirty="0">
                <a:solidFill>
                  <a:srgbClr val="94A3B8"/>
                </a:solidFill>
                <a:latin typeface="Arial"/>
              </a:rPr>
              <a:t>Q2 FY26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6286500" y="762000"/>
            <a:ext cx="35242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b="1" dirty="0">
                <a:solidFill>
                  <a:srgbClr val="94A3B8"/>
                </a:solidFill>
                <a:latin typeface="Arial"/>
              </a:rPr>
              <a:t>Q3 FY26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8001000" y="762000"/>
            <a:ext cx="35242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b="1" dirty="0">
                <a:solidFill>
                  <a:srgbClr val="94A3B8"/>
                </a:solidFill>
                <a:latin typeface="Arial"/>
              </a:rPr>
              <a:t>Q4 FY26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381000" y="4953000"/>
            <a:ext cx="22764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PMO workstream estimates, validated with functional leads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Five immediate actions required to maintain momentum over the next 30 days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666750"/>
            <a:ext cx="8001000" cy="3810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1. </a:t>
            </a:r>
            <a:r>
              <a:rPr lang="en-US" sz="975" b="1" dirty="0">
                <a:solidFill>
                  <a:srgbClr val="0F2540"/>
                </a:solidFill>
                <a:latin typeface="Arial"/>
              </a:rPr>
              <a:t>Finalize pricing tier structure with Finance &amp; Product</a:t>
            </a:r>
            <a:endParaRPr lang="en-US" dirty="0"/>
          </a:p>
          <a:p>
            <a:pPr>
              <a:lnSpc>
                <a:spcPts val="1380"/>
              </a:lnSpc>
              <a:spcBef>
                <a:spcPts val="200"/>
              </a:spcBef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   Owner: CFO / VP Product  •  Due: March 22, 2026</a:t>
            </a:r>
            <a:endParaRPr lang="en-US" dirty="0"/>
          </a:p>
          <a:p>
            <a:pPr>
              <a:lnSpc>
                <a:spcPts val="1380"/>
              </a:lnSpc>
              <a:spcBef>
                <a:spcPts val="160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2. </a:t>
            </a:r>
            <a:r>
              <a:rPr lang="en-US" sz="975" b="1" dirty="0">
                <a:solidFill>
                  <a:srgbClr val="0F2540"/>
                </a:solidFill>
                <a:latin typeface="Arial"/>
              </a:rPr>
              <a:t>Engage investment bank for M&amp;A target outreach</a:t>
            </a:r>
            <a:endParaRPr lang="en-US" dirty="0"/>
          </a:p>
          <a:p>
            <a:pPr>
              <a:lnSpc>
                <a:spcPts val="1380"/>
              </a:lnSpc>
              <a:spcBef>
                <a:spcPts val="200"/>
              </a:spcBef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   Owner: VP Corp Dev  •  Due: March 29, 2026</a:t>
            </a:r>
            <a:endParaRPr lang="en-US" dirty="0"/>
          </a:p>
          <a:p>
            <a:pPr>
              <a:lnSpc>
                <a:spcPts val="1380"/>
              </a:lnSpc>
              <a:spcBef>
                <a:spcPts val="160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3. </a:t>
            </a:r>
            <a:r>
              <a:rPr lang="en-US" sz="975" b="1" dirty="0">
                <a:solidFill>
                  <a:srgbClr val="0F2540"/>
                </a:solidFill>
                <a:latin typeface="Arial"/>
              </a:rPr>
              <a:t>Post VP of Product-Led Growth role and begin recruiter search</a:t>
            </a:r>
            <a:endParaRPr lang="en-US" dirty="0"/>
          </a:p>
          <a:p>
            <a:pPr>
              <a:lnSpc>
                <a:spcPts val="1380"/>
              </a:lnSpc>
              <a:spcBef>
                <a:spcPts val="200"/>
              </a:spcBef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   Owner: CHRO  •  Due: March 15, 2026</a:t>
            </a:r>
            <a:endParaRPr lang="en-US" dirty="0"/>
          </a:p>
          <a:p>
            <a:pPr>
              <a:lnSpc>
                <a:spcPts val="1380"/>
              </a:lnSpc>
              <a:spcBef>
                <a:spcPts val="160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4. </a:t>
            </a:r>
            <a:r>
              <a:rPr lang="en-US" sz="975" b="1" dirty="0">
                <a:solidFill>
                  <a:srgbClr val="0F2540"/>
                </a:solidFill>
                <a:latin typeface="Arial"/>
              </a:rPr>
              <a:t>Launch customer advisory board for AI feature prioritization</a:t>
            </a:r>
            <a:endParaRPr lang="en-US" dirty="0"/>
          </a:p>
          <a:p>
            <a:pPr>
              <a:lnSpc>
                <a:spcPts val="1380"/>
              </a:lnSpc>
              <a:spcBef>
                <a:spcPts val="200"/>
              </a:spcBef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   Owner: CTO / VP Customer Success  •  Due: April 5, 2026</a:t>
            </a:r>
            <a:endParaRPr lang="en-US" dirty="0"/>
          </a:p>
          <a:p>
            <a:pPr>
              <a:lnSpc>
                <a:spcPts val="1380"/>
              </a:lnSpc>
              <a:spcBef>
                <a:spcPts val="160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5. </a:t>
            </a:r>
            <a:r>
              <a:rPr lang="en-US" sz="975" b="1" dirty="0">
                <a:solidFill>
                  <a:srgbClr val="0F2540"/>
                </a:solidFill>
                <a:latin typeface="Arial"/>
              </a:rPr>
              <a:t>Schedule board update for Q2 strategy approval</a:t>
            </a:r>
            <a:endParaRPr lang="en-US" dirty="0"/>
          </a:p>
          <a:p>
            <a:pPr>
              <a:lnSpc>
                <a:spcPts val="1380"/>
              </a:lnSpc>
              <a:spcBef>
                <a:spcPts val="200"/>
              </a:spcBef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   Owner: CEO / Chief of Staff  •  Due: April 12, 2026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1E1B4B"/>
            </a:gs>
          </a:gsLst>
          <a:lin ang="4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333500"/>
            <a:ext cx="80010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</a:rPr>
              <a:t>Thank You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1905000"/>
            <a:ext cx="6667500" cy="180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dirty="0">
                <a:solidFill>
                  <a:srgbClr val="94A3B8"/>
                </a:solidFill>
                <a:latin typeface="Arial"/>
              </a:rPr>
              <a:t>Questions &amp; Discussion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71500" y="3238500"/>
            <a:ext cx="8001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94A3B8"/>
                </a:solidFill>
                <a:latin typeface="Arial"/>
              </a:rPr>
              <a:t>Jane Smith, Partner  •  jane.smith@consultingfirm.com  •  +1 (212) 555-0142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71500" y="3524250"/>
            <a:ext cx="8001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© 2026 Consulting Firm LLP. All rights reserved. Confidential.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Appendix: Detailed financial assumptions and methodology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8382000" cy="1"/>
        </p:xfrm>
        <a:graphic>
          <a:graphicData uri="http://schemas.openxmlformats.org/drawingml/2006/table">
            <a:tbl>
              <a:tblPr firstRow="0" bandRow="1"/>
              <a:tblGrid>
                <a:gridCol w="1676400"/>
                <a:gridCol w="1676400"/>
                <a:gridCol w="1676400"/>
                <a:gridCol w="1676400"/>
                <a:gridCol w="16764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Assumption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FY25 Actual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FY26 Base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FY26 Upside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FY27 Target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 Growth Rate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Gross Margin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72.4%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73.0%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74.5%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75.0%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S&amp;M as %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38.1%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36.0%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34.0%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32.0%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R&amp;D as %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23.0%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24.0%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G&amp;A as %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8.4%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 Margin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Net Revenue Retention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Customer Count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1,284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1,450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1,620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1,900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Avg. Contract Value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$82K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$88K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$95K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$105K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Employee Headcount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842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910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980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1,050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24955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FY25 audited financials, FY26-27 management plan assumptions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unchMatrix">
  <a:themeElements>
    <a:clrScheme name="LaunchMatrix">
      <a:dk1>
        <a:srgbClr val="1B1B3A"/>
      </a:dk1>
      <a:lt1>
        <a:srgbClr val="FFFFFF"/>
      </a:lt1>
      <a:dk2>
        <a:srgbClr val="2D2D5E"/>
      </a:dk2>
      <a:lt2>
        <a:srgbClr val="F5F5F5"/>
      </a:lt2>
      <a:accent1>
        <a:srgbClr val="003DA5"/>
      </a:accent1>
      <a:accent2>
        <a:srgbClr val="0070C0"/>
      </a:accent2>
      <a:accent3>
        <a:srgbClr val="00B050"/>
      </a:accent3>
      <a:accent4>
        <a:srgbClr val="FFC000"/>
      </a:accent4>
      <a:accent5>
        <a:srgbClr val="FF660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24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Growth Assessment — Consulting Deck</dc:title>
  <dc:creator>PaperJSX</dc:creator>
  <cp:lastModifiedBy>PaperJSX</cp:lastModifiedBy>
  <cp:revision>1</cp:revision>
  <dcterms:created xsi:type="dcterms:W3CDTF">2026-03-08T10:06:14Z</dcterms:created>
  <dcterms:modified xsi:type="dcterms:W3CDTF">2026-03-08T10:06:14Z</dcterms:modified>
</cp:coreProperties>
</file>