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presProps" Target="presProps.xml"/>
  <Relationship Id="rId22" Type="http://schemas.openxmlformats.org/officeDocument/2006/relationships/viewProps" Target="viewProps.xml"/>
  <Relationship Id="rId23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_rels/chart4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4.xlsx"/>
</Relationships>
</file>

<file path=ppt/charts/_rels/chart5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5.xlsx"/>
</Relationships>
</file>

<file path=ppt/charts/_rels/chart6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6.xlsx"/>
</Relationships>
</file>

<file path=ppt/charts/_rels/chart7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7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Starting ARR</c:v>
                </c:pt>
                <c:pt idx="1">
                  <c:v>New Business</c:v>
                </c:pt>
                <c:pt idx="2">
                  <c:v>Expansion</c:v>
                </c:pt>
                <c:pt idx="3">
                  <c:v>Contraction</c:v>
                </c:pt>
                <c:pt idx="4">
                  <c:v>Churn</c:v>
                </c:pt>
                <c:pt idx="5">
                  <c:v>Ending ARR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35</c:v>
                </c:pt>
                <c:pt idx="2">
                  <c:v>40.5</c:v>
                </c:pt>
                <c:pt idx="3">
                  <c:v>43.2</c:v>
                </c:pt>
                <c:pt idx="4">
                  <c:v>42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0B050"/>
            </a:solidFill>
          </c:spPr>
          <c:dPt>
            <c:idx val="0"/>
            <c:spPr>
              <a:solidFill>
                <a:srgbClr val="003DA5"/>
              </a:solidFill>
            </c:spPr>
          </c:dPt>
          <c:dPt>
            <c:idx val="5"/>
            <c:spPr>
              <a:solidFill>
                <a:srgbClr val="003DA5"/>
              </a:solidFill>
            </c:spPr>
          </c:dPt>
          <c:cat>
            <c:strRef>
              <c:f>Sheet1!$A$2:$A$7</c:f>
              <c:strCache>
                <c:ptCount val="6"/>
                <c:pt idx="0">
                  <c:v>Starting ARR</c:v>
                </c:pt>
                <c:pt idx="1">
                  <c:v>New Business</c:v>
                </c:pt>
                <c:pt idx="2">
                  <c:v>Expansion</c:v>
                </c:pt>
                <c:pt idx="3">
                  <c:v>Contraction</c:v>
                </c:pt>
                <c:pt idx="4">
                  <c:v>Churn</c:v>
                </c:pt>
                <c:pt idx="5">
                  <c:v>Ending ARR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5.5</c:v>
                </c:pt>
                <c:pt idx="2">
                  <c:v>3.2</c:v>
                </c:pt>
                <c:pt idx="3">
                  <c:v>0</c:v>
                </c:pt>
                <c:pt idx="4">
                  <c:v>0</c:v>
                </c:pt>
                <c:pt idx="5">
                  <c:v>42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Sheet1!$A$2:$A$7</c:f>
              <c:strCache>
                <c:ptCount val="6"/>
                <c:pt idx="0">
                  <c:v>Starting ARR</c:v>
                </c:pt>
                <c:pt idx="1">
                  <c:v>New Business</c:v>
                </c:pt>
                <c:pt idx="2">
                  <c:v>Expansion</c:v>
                </c:pt>
                <c:pt idx="3">
                  <c:v>Contraction</c:v>
                </c:pt>
                <c:pt idx="4">
                  <c:v>Churn</c:v>
                </c:pt>
                <c:pt idx="5">
                  <c:v>Ending ARR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0.5</c:v>
                </c:pt>
                <c:pt idx="4">
                  <c:v>1.2</c:v>
                </c:pt>
                <c:pt idx="5">
                  <c:v>0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ARR ($M)</a:t>
                </a:r>
              </a:p>
            </c:rich>
          </c:tx>
          <c:overlay val="0"/>
        </c:title>
        <c:numFmt formatCode="$#,##0.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003DA5"/>
            </a:solidFill>
          </c:spPr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</c:v>
                </c:pt>
                <c:pt idx="1">
                  <c:v>23.5</c:v>
                </c:pt>
                <c:pt idx="2">
                  <c:v>26</c:v>
                </c:pt>
                <c:pt idx="3">
                  <c:v>28.4</c:v>
                </c:pt>
                <c:pt idx="4">
                  <c:v>30.2</c:v>
                </c:pt>
                <c:pt idx="5">
                  <c:v>32.8</c:v>
                </c:pt>
                <c:pt idx="6">
                  <c:v>35</c:v>
                </c:pt>
                <c:pt idx="7">
                  <c:v>42</c:v>
                </c:pt>
              </c:numCache>
            </c:numRef>
          </c:val>
        </c:ser>
        <c:axId val="111111111"/>
        <c:axId val="22222222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YoY Growth %</c:v>
                </c:pt>
              </c:strCache>
            </c:strRef>
          </c:tx>
          <c:spPr>
            <a:solidFill>
              <a:srgbClr val="FF6600"/>
            </a:solidFill>
          </c:spPr>
          <c:marker>
            <c:symbol val="circle"/>
            <c:size val="5"/>
          </c:marker>
          <c:cat>
            <c:strRef>
              <c:f>Sheet1!$A$2:$A$9</c:f>
              <c:strCache>
                <c:ptCount val="8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55</c:v>
                </c:pt>
                <c:pt idx="1">
                  <c:v>50</c:v>
                </c:pt>
                <c:pt idx="2">
                  <c:v>45</c:v>
                </c:pt>
                <c:pt idx="3">
                  <c:v>42</c:v>
                </c:pt>
                <c:pt idx="4">
                  <c:v>44</c:v>
                </c:pt>
                <c:pt idx="5">
                  <c:v>40</c:v>
                </c:pt>
                <c:pt idx="6">
                  <c:v>35</c:v>
                </c:pt>
                <c:pt idx="7">
                  <c:v>48</c:v>
                </c:pt>
              </c:numCache>
            </c:numRef>
          </c:val>
        </c:ser>
        <c:marker val="0"/>
        <c:axId val="111111111"/>
        <c:axId val="555555555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ARR ($M)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catAx>
        <c:axId val="66666666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555555555"/>
        <c:crosses val="autoZero"/>
        <c:auto val="1"/>
        <c:lblAlgn val="ctr"/>
        <c:lblOffset val="100"/>
      </c:catAx>
      <c:valAx>
        <c:axId val="555555555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YoY Growth (%)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nextTo"/>
        <c:spPr>
          <a:noFill/>
          <a:ln>
            <a:noFill/>
          </a:ln>
        </c:spPr>
        <c:crossAx val="666666666"/>
        <c:crosses val="max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LeftSpacer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Leads</c:v>
                </c:pt>
                <c:pt idx="1">
                  <c:v>MQLs</c:v>
                </c:pt>
                <c:pt idx="2">
                  <c:v>SQLs</c:v>
                </c:pt>
                <c:pt idx="3">
                  <c:v>Opportunities</c:v>
                </c:pt>
                <c:pt idx="4">
                  <c:v>Closed Won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1500</c:v>
                </c:pt>
                <c:pt idx="2">
                  <c:v>2100</c:v>
                </c:pt>
                <c:pt idx="3">
                  <c:v>2350</c:v>
                </c:pt>
                <c:pt idx="4">
                  <c:v>2462.5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4472C4"/>
            </a:solidFill>
          </c:spPr>
          <c:dPt>
            <c:idx val="0"/>
            <c:spPr>
              <a:solidFill>
                <a:srgbClr val="003DA5"/>
              </a:solidFill>
            </c:spPr>
          </c:dPt>
          <c:dPt>
            <c:idx val="1"/>
            <c:spPr>
              <a:solidFill>
                <a:srgbClr val="0070C0"/>
              </a:solidFill>
            </c:spPr>
          </c:dPt>
          <c:dPt>
            <c:idx val="2"/>
            <c:spPr>
              <a:solidFill>
                <a:srgbClr val="00B050"/>
              </a:solidFill>
            </c:spPr>
          </c:dPt>
          <c:dPt>
            <c:idx val="3"/>
            <c:spPr>
              <a:solidFill>
                <a:srgbClr val="FFC000"/>
              </a:solidFill>
            </c:spPr>
          </c:dPt>
          <c:dPt>
            <c:idx val="4"/>
            <c:spPr>
              <a:solidFill>
                <a:srgbClr val="FF6600"/>
              </a:solidFill>
            </c:spPr>
          </c:dPt>
          <c:cat>
            <c:strRef>
              <c:f>Sheet1!$A$2:$A$6</c:f>
              <c:strCache>
                <c:ptCount val="5"/>
                <c:pt idx="0">
                  <c:v>Leads</c:v>
                </c:pt>
                <c:pt idx="1">
                  <c:v>MQLs</c:v>
                </c:pt>
                <c:pt idx="2">
                  <c:v>SQLs</c:v>
                </c:pt>
                <c:pt idx="3">
                  <c:v>Opportunities</c:v>
                </c:pt>
                <c:pt idx="4">
                  <c:v>Closed Won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5000</c:v>
                </c:pt>
                <c:pt idx="1">
                  <c:v>2000</c:v>
                </c:pt>
                <c:pt idx="2">
                  <c:v>800</c:v>
                </c:pt>
                <c:pt idx="3">
                  <c:v>300</c:v>
                </c:pt>
                <c:pt idx="4">
                  <c:v>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RightSpacer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Leads</c:v>
                </c:pt>
                <c:pt idx="1">
                  <c:v>MQLs</c:v>
                </c:pt>
                <c:pt idx="2">
                  <c:v>SQLs</c:v>
                </c:pt>
                <c:pt idx="3">
                  <c:v>Opportunities</c:v>
                </c:pt>
                <c:pt idx="4">
                  <c:v>Closed Won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1500</c:v>
                </c:pt>
                <c:pt idx="2">
                  <c:v>2100</c:v>
                </c:pt>
                <c:pt idx="3">
                  <c:v>2350</c:v>
                </c:pt>
                <c:pt idx="4">
                  <c:v>2462.5</c:v>
                </c:pt>
              </c:numCache>
            </c:numRef>
          </c:val>
        </c:ser>
        <c:gapWidth val="50"/>
        <c:overlap val="100"/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NPS</c:v>
                </c:pt>
              </c:strCache>
            </c:strRef>
          </c:tx>
          <c:spPr>
            <a:solidFill>
              <a:srgbClr val="003DA5"/>
            </a:solidFill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39</c:v>
                </c:pt>
                <c:pt idx="2">
                  <c:v>41</c:v>
                </c:pt>
                <c:pt idx="3">
                  <c:v>42</c:v>
                </c:pt>
                <c:pt idx="4">
                  <c:v>44</c:v>
                </c:pt>
                <c:pt idx="5">
                  <c:v>45</c:v>
                </c:pt>
                <c:pt idx="6">
                  <c:v>46</c:v>
                </c:pt>
                <c:pt idx="7">
                  <c:v>48</c:v>
                </c:pt>
                <c:pt idx="8">
                  <c:v>49</c:v>
                </c:pt>
                <c:pt idx="9">
                  <c:v>50</c:v>
                </c:pt>
                <c:pt idx="10">
                  <c:v>51</c:v>
                </c:pt>
                <c:pt idx="11">
                  <c:v>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Industry Benchmark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42</c:v>
                </c:pt>
                <c:pt idx="1">
                  <c:v>42</c:v>
                </c:pt>
                <c:pt idx="2">
                  <c:v>42</c:v>
                </c:pt>
                <c:pt idx="3">
                  <c:v>42</c:v>
                </c:pt>
                <c:pt idx="4">
                  <c:v>43</c:v>
                </c:pt>
                <c:pt idx="5">
                  <c:v>43</c:v>
                </c:pt>
                <c:pt idx="6">
                  <c:v>43</c:v>
                </c:pt>
                <c:pt idx="7">
                  <c:v>43</c:v>
                </c:pt>
                <c:pt idx="8">
                  <c:v>43</c:v>
                </c:pt>
                <c:pt idx="9">
                  <c:v>44</c:v>
                </c:pt>
                <c:pt idx="10">
                  <c:v>44</c:v>
                </c:pt>
                <c:pt idx="11">
                  <c:v>44</c:v>
                </c:pt>
              </c:numCache>
            </c:numRef>
          </c:val>
        </c:ser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  <c:min val="30"/>
          <c:max val="6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NPS Score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dPt>
            <c:idx val="0"/>
            <c:spPr>
              <a:solidFill>
                <a:srgbClr val="003DA5"/>
              </a:solidFill>
            </c:spPr>
          </c:dPt>
          <c:dPt>
            <c:idx val="1"/>
            <c:spPr>
              <a:solidFill>
                <a:srgbClr val="E5E7EB"/>
              </a:solidFill>
            </c:spPr>
          </c:dPt>
          <c:cat>
            <c:strRef>
              <c:f>Sheet1!$A$2:$A$3</c:f>
              <c:strCache>
                <c:ptCount val="2"/>
                <c:pt idx="0">
                  <c:v>Headcount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152</c:v>
                </c:pt>
                <c:pt idx="1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holeSize val="70"/>
        <c:firstSliceAng val="270"/>
      </c:doughnutChart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Q3 Cash</c:v>
                </c:pt>
                <c:pt idx="1">
                  <c:v>Revenue</c:v>
                </c:pt>
                <c:pt idx="2">
                  <c:v>Payroll</c:v>
                </c:pt>
                <c:pt idx="3">
                  <c:v>Infra</c:v>
                </c:pt>
                <c:pt idx="4">
                  <c:v>S&amp;M</c:v>
                </c:pt>
                <c:pt idx="5">
                  <c:v>Other</c:v>
                </c:pt>
                <c:pt idx="6">
                  <c:v>Q4 Cash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42</c:v>
                </c:pt>
                <c:pt idx="2">
                  <c:v>50.2</c:v>
                </c:pt>
                <c:pt idx="3">
                  <c:v>49</c:v>
                </c:pt>
                <c:pt idx="4">
                  <c:v>47.2</c:v>
                </c:pt>
                <c:pt idx="5">
                  <c:v>47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0B050"/>
            </a:solidFill>
          </c:spPr>
          <c:dPt>
            <c:idx val="0"/>
            <c:spPr>
              <a:solidFill>
                <a:srgbClr val="003DA5"/>
              </a:solidFill>
            </c:spPr>
          </c:dPt>
          <c:dPt>
            <c:idx val="6"/>
            <c:spPr>
              <a:solidFill>
                <a:srgbClr val="003DA5"/>
              </a:solidFill>
            </c:spPr>
          </c:dPt>
          <c:cat>
            <c:strRef>
              <c:f>Sheet1!$A$2:$A$8</c:f>
              <c:strCache>
                <c:ptCount val="7"/>
                <c:pt idx="0">
                  <c:v>Q3 Cash</c:v>
                </c:pt>
                <c:pt idx="1">
                  <c:v>Revenue</c:v>
                </c:pt>
                <c:pt idx="2">
                  <c:v>Payroll</c:v>
                </c:pt>
                <c:pt idx="3">
                  <c:v>Infra</c:v>
                </c:pt>
                <c:pt idx="4">
                  <c:v>S&amp;M</c:v>
                </c:pt>
                <c:pt idx="5">
                  <c:v>Other</c:v>
                </c:pt>
                <c:pt idx="6">
                  <c:v>Q4 Cash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42</c:v>
                </c:pt>
                <c:pt idx="1">
                  <c:v>14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Sheet1!$A$2:$A$8</c:f>
              <c:strCache>
                <c:ptCount val="7"/>
                <c:pt idx="0">
                  <c:v>Q3 Cash</c:v>
                </c:pt>
                <c:pt idx="1">
                  <c:v>Revenue</c:v>
                </c:pt>
                <c:pt idx="2">
                  <c:v>Payroll</c:v>
                </c:pt>
                <c:pt idx="3">
                  <c:v>Infra</c:v>
                </c:pt>
                <c:pt idx="4">
                  <c:v>S&amp;M</c:v>
                </c:pt>
                <c:pt idx="5">
                  <c:v>Other</c:v>
                </c:pt>
                <c:pt idx="6">
                  <c:v>Q4 Cash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5.8</c:v>
                </c:pt>
                <c:pt idx="3">
                  <c:v>1.2</c:v>
                </c:pt>
                <c:pt idx="4">
                  <c:v>1.8</c:v>
                </c:pt>
                <c:pt idx="5">
                  <c:v>0.2</c:v>
                </c:pt>
                <c:pt idx="6">
                  <c:v>0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numFmt formatCode="$#,##0M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</c:v>
                </c:pt>
              </c:strCache>
            </c:strRef>
          </c:tx>
          <c:spPr>
            <a:solidFill>
              <a:srgbClr val="003DA5"/>
            </a:solidFill>
          </c:spPr>
          <c:xVal>
            <c:numRef>
              <c:f>Sheet1!$A$2:$A$2</c:f>
              <c:numCache>
                <c:formatCode>General</c:formatCode>
                <c:ptCount val="1"/>
                <c:pt idx="0">
                  <c:v>7.5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42</c:v>
                </c:pt>
              </c:numCache>
            </c:numRef>
          </c:yVal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Competitor A</c:v>
                </c:pt>
              </c:strCache>
            </c:strRef>
          </c:tx>
          <c:spPr>
            <a:solidFill>
              <a:srgbClr val="C00000"/>
            </a:solidFill>
          </c:spPr>
          <c:xVal>
            <c:numRef>
              <c:f>Sheet1!$C$2:$C$2</c:f>
              <c:numCache>
                <c:formatCode>General</c:formatCode>
                <c:ptCount val="1"/>
                <c:pt idx="0">
                  <c:v>6</c:v>
                </c:pt>
              </c:numCache>
            </c:numRef>
          </c:xVal>
          <c:yVal>
            <c:numRef>
              <c:f>Sheet1!$D$2:$D$2</c:f>
              <c:numCache>
                <c:formatCode>General</c:formatCode>
                <c:ptCount val="1"/>
                <c:pt idx="0">
                  <c:v>85</c:v>
                </c:pt>
              </c:numCache>
            </c:numRef>
          </c:yVal>
        </c:ser>
        <c:ser>
          <c:idx val="2"/>
          <c:order val="2"/>
          <c:tx>
            <c:strRef>
              <c:f>Sheet1!$F$1</c:f>
              <c:strCache>
                <c:ptCount val="1"/>
                <c:pt idx="0">
                  <c:v>Competitor B</c:v>
                </c:pt>
              </c:strCache>
            </c:strRef>
          </c:tx>
          <c:spPr>
            <a:solidFill>
              <a:srgbClr val="FFC000"/>
            </a:solidFill>
          </c:spPr>
          <c:xVal>
            <c:numRef>
              <c:f>Sheet1!$E$2:$E$2</c:f>
              <c:numCache>
                <c:formatCode>General</c:formatCode>
                <c:ptCount val="1"/>
                <c:pt idx="0">
                  <c:v>8.5</c:v>
                </c:pt>
              </c:numCache>
            </c:numRef>
          </c:xVal>
          <c:yVal>
            <c:numRef>
              <c:f>Sheet1!$F$2:$F$2</c:f>
              <c:numCache>
                <c:formatCode>General</c:formatCode>
                <c:ptCount val="1"/>
                <c:pt idx="0">
                  <c:v>35</c:v>
                </c:pt>
              </c:numCache>
            </c:numRef>
          </c:yVal>
        </c:ser>
        <c:ser>
          <c:idx val="3"/>
          <c:order val="3"/>
          <c:tx>
            <c:strRef>
              <c:f>Sheet1!$H$1</c:f>
              <c:strCache>
                <c:ptCount val="1"/>
                <c:pt idx="0">
                  <c:v>Competitor C</c:v>
                </c:pt>
              </c:strCache>
            </c:strRef>
          </c:tx>
          <c:spPr>
            <a:solidFill>
              <a:srgbClr val="0070C0"/>
            </a:solidFill>
          </c:spPr>
          <c:xVal>
            <c:numRef>
              <c:f>Sheet1!$G$2:$G$2</c:f>
              <c:numCache>
                <c:formatCode>General</c:formatCode>
                <c:ptCount val="1"/>
                <c:pt idx="0">
                  <c:v>5.5</c:v>
                </c:pt>
              </c:numCache>
            </c:numRef>
          </c:xVal>
          <c:yVal>
            <c:numRef>
              <c:f>Sheet1!$H$2:$H$2</c:f>
              <c:numCache>
                <c:formatCode>General</c:formatCode>
                <c:ptCount val="1"/>
                <c:pt idx="0">
                  <c:v>60</c:v>
                </c:pt>
              </c:numCache>
            </c:numRef>
          </c:yVal>
        </c:ser>
        <c:ser>
          <c:idx val="4"/>
          <c:order val="4"/>
          <c:tx>
            <c:strRef>
              <c:f>Sheet1!$J$1</c:f>
              <c:strCache>
                <c:ptCount val="1"/>
                <c:pt idx="0">
                  <c:v>Competitor D</c:v>
                </c:pt>
              </c:strCache>
            </c:strRef>
          </c:tx>
          <c:spPr>
            <a:solidFill>
              <a:srgbClr val="94A3B8"/>
            </a:solidFill>
          </c:spPr>
          <c:xVal>
            <c:numRef>
              <c:f>Sheet1!$I$2:$I$2</c:f>
              <c:numCache>
                <c:formatCode>General</c:formatCode>
                <c:ptCount val="1"/>
                <c:pt idx="0">
                  <c:v>9</c:v>
                </c:pt>
              </c:numCache>
            </c:numRef>
          </c:xVal>
          <c:yVal>
            <c:numRef>
              <c:f>Sheet1!$J$2:$J$2</c:f>
              <c:numCache>
                <c:formatCode>General</c:formatCode>
                <c:ptCount val="1"/>
                <c:pt idx="0">
                  <c:v>20</c:v>
                </c:pt>
              </c:numCache>
            </c:numRef>
          </c:yVal>
        </c:ser>
        <c:ser>
          <c:idx val="5"/>
          <c:order val="5"/>
          <c:tx>
            <c:strRef>
              <c:f>Sheet1!$L$1</c:f>
              <c:strCache>
                <c:ptCount val="1"/>
                <c:pt idx="0">
                  <c:v>Competitor E</c:v>
                </c:pt>
              </c:strCache>
            </c:strRef>
          </c:tx>
          <c:spPr>
            <a:solidFill>
              <a:srgbClr val="FF6600"/>
            </a:solidFill>
          </c:spPr>
          <c:xVal>
            <c:numRef>
              <c:f>Sheet1!$K$2:$K$2</c:f>
              <c:numCache>
                <c:formatCode>General</c:formatCode>
                <c:ptCount val="1"/>
                <c:pt idx="0">
                  <c:v>4</c:v>
                </c:pt>
              </c:numCache>
            </c:numRef>
          </c:xVal>
          <c:yVal>
            <c:numRef>
              <c:f>Sheet1!$L$2:$L$2</c:f>
              <c:numCache>
                <c:formatCode>General</c:formatCode>
                <c:ptCount val="1"/>
                <c:pt idx="0">
                  <c:v>110</c:v>
                </c:pt>
              </c:numCache>
            </c:numRef>
          </c:yVal>
        </c:ser>
        <c:axId val="333333333"/>
        <c:axId val="444444444"/>
      </c:scatterChart>
      <c:valAx>
        <c:axId val="333333333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ARR ($M)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444444444"/>
        <c:crosses val="autoZero"/>
      </c:valAx>
      <c:valAx>
        <c:axId val="444444444"/>
        <c:scaling>
          <c:orientation val="minMax"/>
          <c:min val="0"/>
          <c:max val="1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Feature Score (10-pt scale)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333333333"/>
        <c:crosses val="autoZero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3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4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5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6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7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F172A"/>
            </a:gs>
            <a:gs pos="100000">
              <a:srgbClr val="1E1B4B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571500" y="1524000"/>
            <a:ext cx="8001000" cy="3524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2760"/>
              </a:lnSpc>
            </a:pPr>
            <a:r>
              <a:rPr lang="en-US" sz="2400" b="1" dirty="0">
                <a:solidFill>
                  <a:srgbClr val="FFFFFF"/>
                </a:solidFill>
                <a:latin typeface="Arial"/>
              </a:rPr>
              <a:t>Q4 2025 Board Meeting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571500" y="2095500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94A3B8"/>
                </a:solidFill>
                <a:latin typeface="Arial"/>
              </a:rPr>
              <a:t>Confidential • Series B • $42M ARR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Structured agenda enables focused discussion across all key topics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7429500" cy="1"/>
        </p:xfrm>
        <a:graphic>
          <a:graphicData uri="http://schemas.openxmlformats.org/drawingml/2006/table">
            <a:tbl>
              <a:tblPr firstRow="0" bandRow="1"/>
              <a:tblGrid>
                <a:gridCol w="762000"/>
                <a:gridCol w="3238500"/>
                <a:gridCol w="2476500"/>
                <a:gridCol w="952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10:00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CEO Update &amp; Good/Bad/Ugly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Sarah Chen, CEO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 min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10:15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Operating &amp; Financial Metrics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David Park, CFO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 min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10:35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ARR &amp; Cohort Deep Dive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David Park, CFO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 min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10:50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Sales Performance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Lisa Martinez, CRO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 min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11:00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Customer Health &amp; NPS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James Wright, CCO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 min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11:10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Product &amp; Engineering Update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Priya Sharma, CPO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 min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11:25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Cash &amp; Runway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David Park, CFO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 min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11:35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Working Session: Pricing Strategy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All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 min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11:55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Board Asks &amp; Next Steps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Sarah Chen, CEO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 min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5621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Board meeting agenda — December 15, 2025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Strong quarter overall; sales capacity and enterprise churn require attention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2667000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33400" y="914400"/>
            <a:ext cx="2362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0B050"/>
                </a:solidFill>
                <a:latin typeface="Arial"/>
              </a:rPr>
              <a:t>The Good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33400" y="1143000"/>
            <a:ext cx="236220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ARR grew 48% YoY to $42M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Net retention hit 122%, best ever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Gross margin improved to 79.2%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Cash runway extended to 28 months</a:t>
            </a:r>
            <a:endParaRPr lang="en-US" dirty="0"/>
          </a:p>
        </p:txBody>
      </p:sp>
      <p:sp>
        <p:nvSpPr>
          <p:cNvPr id="7" name="View 7"/>
          <p:cNvSpPr/>
          <p:nvPr/>
        </p:nvSpPr>
        <p:spPr>
          <a:xfrm>
            <a:off x="3200400" y="762000"/>
            <a:ext cx="2667000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352800" y="914400"/>
            <a:ext cx="2362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C000"/>
                </a:solidFill>
                <a:latin typeface="Arial"/>
              </a:rPr>
              <a:t>The Bad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352800" y="1143000"/>
            <a:ext cx="2362200" cy="4476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AE hiring behind plan (8 of 12)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SMB churn ticked up to 3.2%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Pipeline coverage dropped to 2.8x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APAC expansion delayed by 1 quarter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6019800" y="762000"/>
            <a:ext cx="2667000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172200" y="914400"/>
            <a:ext cx="23622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C00000"/>
                </a:solidFill>
                <a:latin typeface="Arial"/>
              </a:rPr>
              <a:t>The Ugly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6172200" y="1143000"/>
            <a:ext cx="2362200" cy="3333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Lost 2 enterprise logos ($1.2M ARR)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Key competitor raised $80M, aggressive pricing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SOC2 Type II remediation overdue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Operating metrics show sustained improvement across 9 quarters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38125" y="714375"/>
          <a:ext cx="6810375" cy="1"/>
        </p:xfrm>
        <a:graphic>
          <a:graphicData uri="http://schemas.openxmlformats.org/drawingml/2006/table">
            <a:tbl>
              <a:tblPr firstRow="0" bandRow="1"/>
              <a:tblGrid>
                <a:gridCol w="1047750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</a:tblGrid>
              <a:tr h="266700">
                <a:tc gridSpan="2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4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4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Q4'23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Q1'24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Q2'24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Q3'24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Q4'24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Q1'25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Q2'25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Q3'25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Q4'25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Plan%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ARR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19.0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21.0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23.5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26.0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28.4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30.2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32.8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42.0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+48%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Net New ARR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+119%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Customers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320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340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365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390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420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445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475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510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560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+33%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NRR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+6pp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Gross Margin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76.5%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77.5%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78.5%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79.2%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+1.7pp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CAC Payback (mo)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-3mo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LTV/CAC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3.7x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+0.7x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Logo Churn (mo)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-0.3pp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Burn Multiple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-0.4x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Headcount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+29%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7049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Internal finance, as of December 31, 2025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Path to profitability accelerating — EBITDA margin turned positive in Q4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38125" y="714375"/>
          <a:ext cx="6810375" cy="1"/>
        </p:xfrm>
        <a:graphic>
          <a:graphicData uri="http://schemas.openxmlformats.org/drawingml/2006/table">
            <a:tbl>
              <a:tblPr firstRow="0" bandRow="1"/>
              <a:tblGrid>
                <a:gridCol w="1047750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  <a:gridCol w="523875"/>
              </a:tblGrid>
              <a:tr h="266700">
                <a:tc gridSpan="2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4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4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P&amp;L Line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Q4'23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Q1'24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Q2'24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Q3'24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Q4'24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Q1'25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Q2'25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Q3'25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Q4'25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Plan%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10.9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11.7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+47%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COGS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2.9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+38%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Gross Profit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7.9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+50%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GM%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+1pp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S&amp;M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R&amp;D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2.9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G&amp;A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0.9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0.9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+20%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-0.9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-0.7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-0.5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-0.1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0.6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+$2.4M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-14%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-10%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-1%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+17pp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1906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Internal finance, unaudited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ARR grew $7M in Q4, driven by new business ($5.5M) and expansion ($3.2M)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3620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Subscription analytics, Q4 2025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ARR growth rate re-accelerating after mid-year investment in sales capacity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8096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Internal finance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Cohort retention has improved steadily — 2025 cohorts retaining 90%+ at M5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8382000" cy="1"/>
        </p:xfrm>
        <a:graphic>
          <a:graphicData uri="http://schemas.openxmlformats.org/drawingml/2006/table">
            <a:tbl>
              <a:tblPr firstRow="0" bandRow="0"/>
              <a:tblGrid>
                <a:gridCol w="846992"/>
                <a:gridCol w="627917"/>
                <a:gridCol w="627917"/>
                <a:gridCol w="627917"/>
                <a:gridCol w="627917"/>
                <a:gridCol w="627917"/>
                <a:gridCol w="627917"/>
                <a:gridCol w="627917"/>
                <a:gridCol w="627917"/>
                <a:gridCol w="627918"/>
                <a:gridCol w="627918"/>
                <a:gridCol w="627918"/>
                <a:gridCol w="627918"/>
              </a:tblGrid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Cohort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M2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M4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M5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M6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M7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M8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M9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M10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M11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M12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r>
                        <a:rPr lang="en-US" sz="600" b="1" dirty="0"/>
                        <a:t>2022 H1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100%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92%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87%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83%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78%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76%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74%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C00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73%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C00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72%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C00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71%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C00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C000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r>
                        <a:rPr lang="en-US" sz="600" b="1" dirty="0"/>
                        <a:t>2022 H2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100%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94%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89%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85%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82%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78%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76%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75%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74%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C00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73%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C00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72%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C000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r>
                        <a:rPr lang="en-US" sz="600" b="1" dirty="0"/>
                        <a:t>2023 H1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100%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95%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91%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87%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84%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82%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79%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78%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77%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76%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75%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r>
                        <a:rPr lang="en-US" sz="600" b="1" dirty="0"/>
                        <a:t>2023 H2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100%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96%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92%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89%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86%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84%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82%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81%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79%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78%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77%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r>
                        <a:rPr lang="en-US" sz="600" b="1" dirty="0"/>
                        <a:t>2024 H1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100%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97%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93%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88%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86%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84%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83%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82%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81%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79%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r>
                        <a:rPr lang="en-US" sz="600" b="1" dirty="0"/>
                        <a:t>2024 H2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100%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97%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94%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91%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89%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87%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86%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85%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84%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83%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82%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81%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r>
                        <a:rPr lang="en-US" sz="600" b="1" dirty="0"/>
                        <a:t>2025 H1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100%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98%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95%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92%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88%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87%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86%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85%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84%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83%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82%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A8D08D"/>
                    </a:solidFill>
                  </a:tcPr>
                </a:tc>
              </a:tr>
              <a:tr h="209550">
                <a:tc>
                  <a:txBody>
                    <a:bodyPr rtlCol="0" lIns="0" tIns="0" rIns="0" bIns="0"/>
                    <a:lstStyle/>
                    <a:p>
                      <a:r>
                        <a:rPr lang="en-US" sz="600" b="1" dirty="0"/>
                        <a:t>2025 H2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100%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98%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96%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00B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93%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91%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90%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70C05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—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—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—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—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—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600" dirty="0">
                          <a:solidFill>
                            <a:srgbClr val="0F2540"/>
                          </a:solidFill>
                        </a:rPr>
                        <a:t>—</a:t>
                      </a:r>
                      <a:endParaRPr lang="en-US" dirty="0"/>
                    </a:p>
                  </a:txBody>
                  <a:tcPr marL="28575" marR="28575" marT="28575" marB="28575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7621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Subscription analytics, logo-based retention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1.5% lead-to-close conversion rate; focus on MQL-to-SQL conversion for Q1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1333500" y="762000"/>
          <a:ext cx="6477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1811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Salesforce CRM, Q4 2025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NPS has risen from 38 to 52 over 12 months, crossing the 'excellent' threshold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7145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Delighted NPS surveys, trailing 12 months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Shipped 14 major features in Q4, including AI copilot and API v3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6096000" cy="1"/>
        </p:xfrm>
        <a:graphic>
          <a:graphicData uri="http://schemas.openxmlformats.org/drawingml/2006/table">
            <a:tbl>
              <a:tblPr firstRow="0" bandRow="1"/>
              <a:tblGrid>
                <a:gridCol w="1714500"/>
                <a:gridCol w="1143000"/>
                <a:gridCol w="952500"/>
                <a:gridCol w="1524000"/>
                <a:gridCol w="762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Release Date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Adoption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AI Copilot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Core Platform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Oct 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42% of users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API v3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Developer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Oct 22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28% of integrations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Custom Dashboards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Analytics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Nov 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65% of admins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SSO (Okta/Azure)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Security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Nov 12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35% of enterprise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Bulk Import Tool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Data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Nov 20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18% of users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Mobile App v2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Platform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Dec 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22% of users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Workflow Automations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Core Platform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Dec 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31% of teams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Advanced Permissions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Security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Dec 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40% of enterprise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7621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Product analytics, as of December 31, 2025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Engineering velocity up 22%; hiring 95% to plan across all departments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6096000" cy="1"/>
        </p:xfrm>
        <a:graphic>
          <a:graphicData uri="http://schemas.openxmlformats.org/drawingml/2006/table">
            <a:tbl>
              <a:tblPr firstRow="0" bandRow="1"/>
              <a:tblGrid>
                <a:gridCol w="1333500"/>
                <a:gridCol w="952500"/>
                <a:gridCol w="952500"/>
                <a:gridCol w="952500"/>
                <a:gridCol w="952500"/>
                <a:gridCol w="952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Q3 HC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Q4 HC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Open Roles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Plan HC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% to Plan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Engineering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Product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Sales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Marketing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CS / Support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G&amp;A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5524500" y="2952750"/>
          <a:ext cx="2667000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6"/>
          <p:cNvSpPr txBox="1"/>
          <p:nvPr/>
        </p:nvSpPr>
        <p:spPr>
          <a:xfrm>
            <a:off x="381000" y="4953000"/>
            <a:ext cx="15621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HR system, as of December 31, 2025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Cash position strengthened to $48M with 28-month runway at current burn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81000" y="7620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990600" y="942975"/>
            <a:ext cx="68580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0B050"/>
                </a:solidFill>
                <a:latin typeface="Arial"/>
              </a:rPr>
              <a:t>$48M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1028700" y="1285875"/>
            <a:ext cx="6096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Cash Balance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095375" y="1419225"/>
            <a:ext cx="4762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+$6M QoQ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2438400" y="7620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019425" y="942975"/>
            <a:ext cx="7429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$1.7M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105150" y="1285875"/>
            <a:ext cx="5715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Monthly Burn</a:t>
            </a:r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3162300" y="1419225"/>
            <a:ext cx="457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-12% QoQ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4495800" y="762000"/>
            <a:ext cx="1905000" cy="95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5057775" y="942975"/>
            <a:ext cx="781050" cy="3143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2415"/>
              </a:lnSpc>
            </a:pPr>
            <a:r>
              <a:rPr lang="en-US" sz="2100" b="1" dirty="0">
                <a:solidFill>
                  <a:srgbClr val="0F2540"/>
                </a:solidFill>
                <a:latin typeface="Arial"/>
              </a:rPr>
              <a:t>28 mo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5267325" y="1285875"/>
            <a:ext cx="36195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dirty="0">
                <a:solidFill>
                  <a:srgbClr val="475569"/>
                </a:solidFill>
                <a:latin typeface="Arial"/>
              </a:rPr>
              <a:t>Runway</a:t>
            </a:r>
            <a:endParaRPr lang="en-US" dirty="0"/>
          </a:p>
        </p:txBody>
      </p:sp>
      <p:sp>
        <p:nvSpPr>
          <p:cNvPr id="15" name="Text 15"/>
          <p:cNvSpPr txBox="1"/>
          <p:nvPr/>
        </p:nvSpPr>
        <p:spPr>
          <a:xfrm>
            <a:off x="5191125" y="1419225"/>
            <a:ext cx="51435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00B050"/>
                </a:solidFill>
                <a:latin typeface="Arial"/>
              </a:rPr>
              <a:t>+4 mo QoQ</a:t>
            </a:r>
            <a:endParaRPr lang="en-US" dirty="0"/>
          </a:p>
        </p:txBody>
      </p:sp>
      <p:graphicFrame>
        <p:nvGraphicFramePr>
          <p:cNvPr id="16" name="Chart 16"/>
          <p:cNvGraphicFramePr>
            <a:graphicFrameLocks noGrp="1"/>
          </p:cNvGraphicFramePr>
          <p:nvPr/>
        </p:nvGraphicFramePr>
        <p:xfrm>
          <a:off x="381000" y="2095500"/>
          <a:ext cx="83820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 17"/>
          <p:cNvSpPr txBox="1"/>
          <p:nvPr/>
        </p:nvSpPr>
        <p:spPr>
          <a:xfrm>
            <a:off x="381000" y="4953000"/>
            <a:ext cx="14763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Treasury, as of December 31, 2025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Competitive pricing analysis reveals opportunity to increase enterprise ASP 15-20%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7526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Market intelligence, competitive tear-downs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Proposed tier restructuring could drive $4-6M incremental ARR in FY26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6381750" cy="1"/>
        </p:xfrm>
        <a:graphic>
          <a:graphicData uri="http://schemas.openxmlformats.org/drawingml/2006/table">
            <a:tbl>
              <a:tblPr firstRow="0" bandRow="1"/>
              <a:tblGrid>
                <a:gridCol w="1238250"/>
                <a:gridCol w="1238250"/>
                <a:gridCol w="1238250"/>
                <a:gridCol w="571500"/>
                <a:gridCol w="952500"/>
                <a:gridCol w="1143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Tier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Current Price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Proposed Price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Δ%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Customers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ARR Impact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Starter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$29/user/mo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$29/user/mo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Professional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$79/user/mo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$89/user/mo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195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+$1.8M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Business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$149/user/mo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$179/user/mo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+20%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+$2.4M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Enterprise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$299/user/mo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$349/user/mo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+17%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+$1.1M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Impact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560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+$5.3M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3429000"/>
            <a:ext cx="83820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i="1" dirty="0">
                <a:solidFill>
                  <a:srgbClr val="475569"/>
                </a:solidFill>
                <a:latin typeface="Arial"/>
              </a:rPr>
              <a:t>Assumption: 10% elasticity-driven churn at Professional tier, 5% at Business/Enterprise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381000" y="4953000"/>
            <a:ext cx="17716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Pricing committee analysis, November 2025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Three asks for board consideration and approval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7048500" cy="1"/>
        </p:xfrm>
        <a:graphic>
          <a:graphicData uri="http://schemas.openxmlformats.org/drawingml/2006/table">
            <a:tbl>
              <a:tblPr firstRow="0" bandRow="1"/>
              <a:tblGrid>
                <a:gridCol w="1238250"/>
                <a:gridCol w="2095500"/>
                <a:gridCol w="1047750"/>
                <a:gridCol w="952500"/>
                <a:gridCol w="1714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Request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Timeline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Decision Needed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Series C Prep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Engage bankers for $60-80M raise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CEO / CFO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Q1 2026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Approve banker selection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Pricing Increase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Implement new tier pricing per analysis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CRO / CPO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Feb 2026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Approve go-live date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APAC Expansion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Open Singapore office, 5 initial hires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COO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Q2 2026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Approve $1.2M budget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Board Observer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Add strategic advisor for AI/ML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CEO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Q1 2026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Nominate candidates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Appendix: Detailed quarterly P&amp;L ($000s)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14375"/>
          <a:ext cx="6953250" cy="1"/>
        </p:xfrm>
        <a:graphic>
          <a:graphicData uri="http://schemas.openxmlformats.org/drawingml/2006/table">
            <a:tbl>
              <a:tblPr firstRow="0" bandRow="1"/>
              <a:tblGrid>
                <a:gridCol w="1714500"/>
                <a:gridCol w="1047750"/>
                <a:gridCol w="1047750"/>
                <a:gridCol w="1047750"/>
                <a:gridCol w="1047750"/>
                <a:gridCol w="1047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Q1'25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Q2'25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Q3'25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Q4'25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FY2025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Subscription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9,950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42,750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Services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3,950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10,900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11,700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46,700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COGS — Hosting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1,400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1,600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COGS — Support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4,400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Gross Profit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7,900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8,600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36,800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S&amp;M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3,600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R&amp;D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2,900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11,900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G&amp;A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953000"/>
            <a:ext cx="11906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Internal finance, unaudited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Appendix: Key metric definitions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7429500" cy="1"/>
        </p:xfrm>
        <a:graphic>
          <a:graphicData uri="http://schemas.openxmlformats.org/drawingml/2006/table">
            <a:tbl>
              <a:tblPr firstRow="0" bandRow="1"/>
              <a:tblGrid>
                <a:gridCol w="2095500"/>
                <a:gridCol w="5334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Definition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ARR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Annualized run-rate of active subscriptions at period end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Net Revenue Retention (NRR)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ARR from existing customers at period end ÷ ARR from same customers at prior period start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Logo Churn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Number of customers lost in period ÷ customers at period start (monthly)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CAC Payback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Fully-loaded S&amp;M cost per new customer ÷ monthly gross margin per new customer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LTV/CAC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Customer lifetime value (GM × avg lifespan) ÷ fully-loaded customer acquisition cost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Burn Multiple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Net burn ÷ net new ARR; &lt;1x = efficient, 1-2x = acceptable, &gt;2x = inefficient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Gross Margin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(Revenue − COGS) ÷ Revenue; includes hosting, support, and professional services costs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Pipeline Coverage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Weighted pipeline value ÷ quota for period; target &gt;3x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LaunchMatrix">
  <a:themeElements>
    <a:clrScheme name="LaunchMatrix">
      <a:dk1>
        <a:srgbClr val="1B1B3A"/>
      </a:dk1>
      <a:lt1>
        <a:srgbClr val="FFFFFF"/>
      </a:lt1>
      <a:dk2>
        <a:srgbClr val="2D2D5E"/>
      </a:dk2>
      <a:lt2>
        <a:srgbClr val="F5F5F5"/>
      </a:lt2>
      <a:accent1>
        <a:srgbClr val="003DA5"/>
      </a:accent1>
      <a:accent2>
        <a:srgbClr val="0070C0"/>
      </a:accent2>
      <a:accent3>
        <a:srgbClr val="00B050"/>
      </a:accent3>
      <a:accent4>
        <a:srgbClr val="FFC000"/>
      </a:accent4>
      <a:accent5>
        <a:srgbClr val="FF66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18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2025 Board Meeting — SaaS Metrics</dc:title>
  <dc:creator>PaperJSX</dc:creator>
  <cp:lastModifiedBy>PaperJSX</cp:lastModifiedBy>
  <cp:revision>1</cp:revision>
  <dcterms:created xsi:type="dcterms:W3CDTF">2026-03-08T10:06:14Z</dcterms:created>
  <dcterms:modified xsi:type="dcterms:W3CDTF">2026-03-08T10:06:14Z</dcterms:modified>
</cp:coreProperties>
</file>