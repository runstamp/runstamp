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presProps" Target="presProps.xml"/>
  <Relationship Id="rId22" Type="http://schemas.openxmlformats.org/officeDocument/2006/relationships/viewProps" Target="viewProps.xml"/>
  <Relationship Id="rId23" Type="http://schemas.openxmlformats.org/officeDocument/2006/relationships/tableStyles" Target="tableStyles.xml"/>
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  <Relationship Id="rId2" Type="http://schemas.openxmlformats.org/officeDocument/2006/relationships/notesMaster" Target="../notesMasters/notesMaster1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  <Relationship Id="rId2" Type="http://schemas.openxmlformats.org/officeDocument/2006/relationships/notesMaster" Target="../notesMasters/notesMaster1.xml"/>
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B. Canary Deployment gradually shifts traffic (e.g., 5% → 25% → 100%) while monitoring error rates, latency, and business metrics. Blue-Green is an all-or-nothing switch. Rolling Update replaces instances sequentially but doesn't support traffic percentage control. Recreate takes everything down first.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answers:
1. FALSE — ClusterIP is internal only. Use NodePort, LoadBalancer, or Ingress for external access.
2. TRUE — HPA supports custom metrics via the custom.metrics.k8s.io API, commonly backed by Prometheus Adapter.
3. TRUE — ConfigMaps support binaryData field, with a 1MiB total size limit per ConfigMap.
4. FALSE — PDBs set minimum available / maximum unavailable bounds but do not guarantee zero downtime; they limit voluntary disruptions.
5. TRUE — Readiness probes control Service endpoint membership; failing probes remove the pod from the Service's endpoints.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333500"/>
            <a:ext cx="76200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Enterprise Platform Engineering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1905000"/>
            <a:ext cx="666750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dirty="0">
                <a:solidFill>
                  <a:srgbClr val="94A3B8"/>
                </a:solidFill>
                <a:latin typeface="Arial"/>
              </a:rPr>
              <a:t>Comprehensive Technical Training Program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2857500"/>
            <a:ext cx="5715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Instructor: Dr. Alex Rivera, Principal Architect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95625"/>
            <a:ext cx="5715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Arial"/>
              </a:rPr>
              <a:t>March 2026  |  Course Code: EPE-401  |  Duration: 3 Days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762000" y="2667000"/>
            <a:ext cx="952500" cy="1905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Learning Objectives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762000"/>
            <a:ext cx="8001000" cy="3619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900" dirty="0">
                <a:solidFill>
                  <a:srgbClr val="475569"/>
                </a:solidFill>
                <a:latin typeface="Arial"/>
              </a:rPr>
              <a:t>By the end of this course, participants will be able to:</a:t>
            </a:r>
            <a:endParaRPr lang="en-US" dirty="0"/>
          </a:p>
          <a:p>
            <a:pPr>
              <a:lnSpc>
                <a:spcPts val="1380"/>
              </a:lnSpc>
              <a:spcBef>
                <a:spcPts val="160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1. </a:t>
            </a:r>
            <a:r>
              <a:rPr lang="en-US" sz="900" dirty="0">
                <a:solidFill>
                  <a:srgbClr val="000000"/>
                </a:solidFill>
                <a:latin typeface="Arial"/>
              </a:rPr>
              <a:t>Design and implement microservices architectures using domain-driven design principles, achieving service isolation with &lt;5ms inter-service latency.</a:t>
            </a:r>
            <a:endParaRPr lang="en-US" dirty="0"/>
          </a:p>
          <a:p>
            <a:pPr>
              <a:lnSpc>
                <a:spcPts val="1380"/>
              </a:lnSpc>
              <a:spcBef>
                <a:spcPts val="120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2. </a:t>
            </a:r>
            <a:r>
              <a:rPr lang="en-US" sz="900" dirty="0">
                <a:solidFill>
                  <a:srgbClr val="000000"/>
                </a:solidFill>
                <a:latin typeface="Arial"/>
              </a:rPr>
              <a:t>Configure and manage Kubernetes clusters with auto-scaling policies, maintaining 99.95% availability under 10,000 RPS load.</a:t>
            </a:r>
            <a:endParaRPr lang="en-US" dirty="0"/>
          </a:p>
          <a:p>
            <a:pPr>
              <a:lnSpc>
                <a:spcPts val="1380"/>
              </a:lnSpc>
              <a:spcBef>
                <a:spcPts val="120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3. </a:t>
            </a:r>
            <a:r>
              <a:rPr lang="en-US" sz="900" dirty="0">
                <a:solidFill>
                  <a:srgbClr val="000000"/>
                </a:solidFill>
                <a:latin typeface="Arial"/>
              </a:rPr>
              <a:t>Implement end-to-end observability using OpenTelemetry, including distributed tracing, custom metrics, and automated alerting.</a:t>
            </a:r>
            <a:endParaRPr lang="en-US" dirty="0"/>
          </a:p>
          <a:p>
            <a:pPr>
              <a:lnSpc>
                <a:spcPts val="1380"/>
              </a:lnSpc>
              <a:spcBef>
                <a:spcPts val="120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4. </a:t>
            </a:r>
            <a:r>
              <a:rPr lang="en-US" sz="900" dirty="0">
                <a:solidFill>
                  <a:srgbClr val="000000"/>
                </a:solidFill>
                <a:latin typeface="Arial"/>
              </a:rPr>
              <a:t>Build CI/CD pipelines with blue-green deployment strategies, reducing deployment risk and achieving &lt;15 minute rollback capability.</a:t>
            </a:r>
            <a:endParaRPr lang="en-US" dirty="0"/>
          </a:p>
          <a:p>
            <a:pPr>
              <a:lnSpc>
                <a:spcPts val="1380"/>
              </a:lnSpc>
              <a:spcBef>
                <a:spcPts val="120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5. </a:t>
            </a:r>
            <a:r>
              <a:rPr lang="en-US" sz="900" dirty="0">
                <a:solidFill>
                  <a:srgbClr val="000000"/>
                </a:solidFill>
                <a:latin typeface="Arial"/>
              </a:rPr>
              <a:t>Apply zero-trust security patterns including mTLS, RBAC, and network policies to satisfy SOC 2 Type II and FedRAMP requirements.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Course Agenda: 3-Day Program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71500" y="762000"/>
          <a:ext cx="8001000" cy="1"/>
        </p:xfrm>
        <a:graphic>
          <a:graphicData uri="http://schemas.openxmlformats.org/drawingml/2006/table">
            <a:tbl>
              <a:tblPr firstRow="0" bandRow="0"/>
              <a:tblGrid>
                <a:gridCol w="762000"/>
                <a:gridCol w="3048000"/>
                <a:gridCol w="1333500"/>
                <a:gridCol w="1333500"/>
                <a:gridCol w="1524000"/>
              </a:tblGrid>
              <a:tr h="2857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Day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/>
                        <a:t>1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dirty="0"/>
                        <a:t>Platform Architecture &amp; Design Patterns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3.5 hours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Lecture + Lab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Day 1 — AM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/>
                        <a:t>2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dirty="0"/>
                        <a:t>Container Orchestration &amp; Kubernetes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3.0 hours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Lecture + Lab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Day 1 — PM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/>
                        <a:t>3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dirty="0"/>
                        <a:t>Observability &amp; Monitoring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3.0 hours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Lecture + Demo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Day 2 — AM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/>
                        <a:t>4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dirty="0"/>
                        <a:t>CI/CD &amp; Deployment Strategies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3.5 hours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Lecture + Lab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Day 2 — PM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/>
                        <a:t>5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dirty="0"/>
                        <a:t>Security &amp; Compliance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3.0 hours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Lecture + Lab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Day 3 — AM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/>
                        <a:t>6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dirty="0"/>
                        <a:t>Capstone Project &amp; Assessment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3.0 hours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Project + Exam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/>
                        <a:t>Day 3 — PM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23717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Total instruction time: 19 hours | Prerequisites: Basic cloud experience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1714500"/>
            <a:ext cx="695325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MODULE 1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2000250"/>
            <a:ext cx="66675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Platform Architecture &amp; Design Patterns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762000" y="2571750"/>
            <a:ext cx="571500" cy="28575"/>
          </a:xfrm>
          <a:prstGeom prst="rect">
            <a:avLst/>
          </a:prstGeom>
          <a:solidFill>
            <a:srgbClr val="FFFF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Microservices Architecture: Core Principles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381000" y="762000"/>
            <a:ext cx="4000500" cy="3619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Single Responsibility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Each service owns one bounded context. Services communicate via well-defined APIs, never sharing databases directly.</a:t>
            </a:r>
            <a:endParaRPr lang="en-US" dirty="0"/>
          </a:p>
          <a:p>
            <a:pPr>
              <a:lnSpc>
                <a:spcPts val="1380"/>
              </a:lnSpc>
              <a:spcBef>
                <a:spcPts val="1600"/>
              </a:spcBef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Independent Deployment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Services are deployed independently with their own CI/CD pipelines. Zero-downtime deployments via blue-green or canary strategies.</a:t>
            </a:r>
            <a:endParaRPr lang="en-US" dirty="0"/>
          </a:p>
          <a:p>
            <a:pPr>
              <a:lnSpc>
                <a:spcPts val="1380"/>
              </a:lnSpc>
              <a:spcBef>
                <a:spcPts val="1600"/>
              </a:spcBef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Resilience &amp; Fault Isolation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Circuit breakers, retries with exponential backoff, and bulkhead patterns prevent cascading failures across service boundaries.</a:t>
            </a:r>
            <a:endParaRPr lang="en-US" dirty="0"/>
          </a:p>
          <a:p>
            <a:pPr>
              <a:lnSpc>
                <a:spcPts val="1380"/>
              </a:lnSpc>
              <a:spcBef>
                <a:spcPts val="1600"/>
              </a:spcBef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Observability by Design</a:t>
            </a:r>
            <a:endParaRPr lang="en-US" dirty="0"/>
          </a:p>
          <a:p>
            <a:pPr>
              <a:lnSpc>
                <a:spcPts val="1380"/>
              </a:lnSpc>
              <a:spcBef>
                <a:spcPts val="400"/>
              </a:spcBef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Distributed tracing (OpenTelemetry), structured logging (JSON), and RED metrics (Rate, Errors, Duration) are built into every service from day one.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6000750" y="857250"/>
            <a:ext cx="1524000" cy="38100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153150" y="1009650"/>
            <a:ext cx="1219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API Gateway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857750" y="1619250"/>
            <a:ext cx="1143000" cy="333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010150" y="1771650"/>
            <a:ext cx="8382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0F2540"/>
                </a:solidFill>
                <a:latin typeface="Arial"/>
              </a:rPr>
              <a:t>User Service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6191250" y="1619250"/>
            <a:ext cx="1143000" cy="333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6343650" y="1771650"/>
            <a:ext cx="8382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0F2540"/>
                </a:solidFill>
                <a:latin typeface="Arial"/>
              </a:rPr>
              <a:t>Order Service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7524750" y="1619250"/>
            <a:ext cx="1143000" cy="333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7677150" y="1771650"/>
            <a:ext cx="8382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0F2540"/>
                </a:solidFill>
                <a:latin typeface="Arial"/>
              </a:rPr>
              <a:t>Payment Service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5048250" y="2333625"/>
            <a:ext cx="3429000" cy="285750"/>
          </a:xfrm>
          <a:prstGeom prst="rect">
            <a:avLst/>
          </a:prstGeom>
          <a:solidFill>
            <a:srgbClr val="FEF3C7"/>
          </a:solidFill>
          <a:ln w="9525">
            <a:solidFill>
              <a:srgbClr val="FFC00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048250" y="2390775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92400E"/>
                </a:solidFill>
                <a:latin typeface="Arial"/>
              </a:rPr>
              <a:t>Event Bus (Kafka)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953000" y="3000375"/>
            <a:ext cx="952500" cy="3048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105400" y="3152775"/>
            <a:ext cx="6477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Users DB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6286500" y="3000375"/>
            <a:ext cx="952500" cy="3048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438900" y="3152775"/>
            <a:ext cx="6477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Orders DB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7620000" y="3000375"/>
            <a:ext cx="952500" cy="3048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7772400" y="3152775"/>
            <a:ext cx="6477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Payments DB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Technical Deep Dive: Component Hierarchy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714375"/>
            <a:ext cx="8001000" cy="4095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1380"/>
              </a:lnSpc>
              <a:spcBef>
                <a:spcPts val="0"/>
              </a:spcBef>
              <a:buChar char="■"/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Platform Architecture Overview</a:t>
            </a:r>
            <a:endParaRPr lang="en-US" dirty="0"/>
          </a:p>
          <a:p>
            <a:pPr lvl="1">
              <a:lnSpc>
                <a:spcPts val="1380"/>
              </a:lnSpc>
              <a:spcBef>
                <a:spcPts val="400"/>
              </a:spcBef>
              <a:buChar char="•"/>
            </a:pPr>
            <a:r>
              <a:rPr lang="en-US" sz="1050" b="1" dirty="0">
                <a:solidFill>
                  <a:srgbClr val="000000"/>
                </a:solidFill>
                <a:latin typeface="Arial"/>
              </a:rPr>
              <a:t>Microservices Design Patterns</a:t>
            </a:r>
            <a:endParaRPr lang="en-US" dirty="0"/>
          </a:p>
          <a:p>
            <a:pPr lvl="2">
              <a:lnSpc>
                <a:spcPts val="1380"/>
              </a:lnSpc>
              <a:spcBef>
                <a:spcPts val="300"/>
              </a:spcBef>
              <a:buChar char="–"/>
            </a:pPr>
            <a:r>
              <a:rPr lang="en-US" sz="900" dirty="0">
                <a:solidFill>
                  <a:srgbClr val="000000"/>
                </a:solidFill>
                <a:latin typeface="Arial"/>
              </a:rPr>
              <a:t>API Gateway — routing, rate limiting, authentication</a:t>
            </a:r>
            <a:endParaRPr lang="en-US" dirty="0"/>
          </a:p>
          <a:p>
            <a:pPr lvl="3">
              <a:lnSpc>
                <a:spcPts val="1380"/>
              </a:lnSpc>
              <a:spcBef>
                <a:spcPts val="200"/>
              </a:spcBef>
              <a:buChar char="›"/>
            </a:pPr>
            <a:r>
              <a:rPr lang="en-US" sz="825" dirty="0">
                <a:solidFill>
                  <a:srgbClr val="000000"/>
                </a:solidFill>
                <a:latin typeface="Arial"/>
              </a:rPr>
              <a:t>Circuit breaker configuration (open/half-open/closed states)</a:t>
            </a:r>
            <a:endParaRPr lang="en-US" dirty="0"/>
          </a:p>
          <a:p>
            <a:pPr lvl="4">
              <a:lnSpc>
                <a:spcPts val="1380"/>
              </a:lnSpc>
              <a:spcBef>
                <a:spcPts val="200"/>
              </a:spcBef>
              <a:buChar char="○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Failure threshold: 5 errors in 30-second window</a:t>
            </a:r>
            <a:endParaRPr lang="en-US" dirty="0"/>
          </a:p>
          <a:p>
            <a:pPr lvl="5">
              <a:lnSpc>
                <a:spcPts val="1380"/>
              </a:lnSpc>
              <a:spcBef>
                <a:spcPts val="200"/>
              </a:spcBef>
              <a:buChar char="▸"/>
            </a:pPr>
            <a:r>
              <a:rPr lang="en-US" sz="675" dirty="0">
                <a:solidFill>
                  <a:srgbClr val="000000"/>
                </a:solidFill>
                <a:latin typeface="Arial"/>
              </a:rPr>
              <a:t>Recovery timeout: exponential backoff from 1s to 60s</a:t>
            </a:r>
            <a:endParaRPr lang="en-US" dirty="0"/>
          </a:p>
          <a:p>
            <a:pPr lvl="0">
              <a:lnSpc>
                <a:spcPts val="1380"/>
              </a:lnSpc>
              <a:spcBef>
                <a:spcPts val="1000"/>
              </a:spcBef>
              <a:buChar char="■"/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Container Orchestration</a:t>
            </a:r>
            <a:endParaRPr lang="en-US" dirty="0"/>
          </a:p>
          <a:p>
            <a:pPr lvl="1">
              <a:lnSpc>
                <a:spcPts val="1380"/>
              </a:lnSpc>
              <a:spcBef>
                <a:spcPts val="400"/>
              </a:spcBef>
              <a:buChar char="•"/>
            </a:pPr>
            <a:r>
              <a:rPr lang="en-US" sz="1050" b="1" dirty="0">
                <a:solidFill>
                  <a:srgbClr val="000000"/>
                </a:solidFill>
                <a:latin typeface="Arial"/>
              </a:rPr>
              <a:t>Kubernetes Resource Management</a:t>
            </a:r>
            <a:endParaRPr lang="en-US" dirty="0"/>
          </a:p>
          <a:p>
            <a:pPr lvl="2">
              <a:lnSpc>
                <a:spcPts val="1380"/>
              </a:lnSpc>
              <a:spcBef>
                <a:spcPts val="300"/>
              </a:spcBef>
              <a:buChar char="–"/>
            </a:pPr>
            <a:r>
              <a:rPr lang="en-US" sz="900" dirty="0">
                <a:solidFill>
                  <a:srgbClr val="000000"/>
                </a:solidFill>
                <a:latin typeface="Arial"/>
              </a:rPr>
              <a:t>Pod scheduling and affinity rules</a:t>
            </a:r>
            <a:endParaRPr lang="en-US" dirty="0"/>
          </a:p>
          <a:p>
            <a:pPr lvl="3">
              <a:lnSpc>
                <a:spcPts val="1380"/>
              </a:lnSpc>
              <a:spcBef>
                <a:spcPts val="200"/>
              </a:spcBef>
              <a:buChar char="›"/>
            </a:pPr>
            <a:r>
              <a:rPr lang="en-US" sz="825" dirty="0">
                <a:solidFill>
                  <a:srgbClr val="000000"/>
                </a:solidFill>
                <a:latin typeface="Arial"/>
              </a:rPr>
              <a:t>Resource quotas per namespace (CPU, memory, storage)</a:t>
            </a:r>
            <a:endParaRPr lang="en-US" dirty="0"/>
          </a:p>
          <a:p>
            <a:pPr lvl="4">
              <a:lnSpc>
                <a:spcPts val="1380"/>
              </a:lnSpc>
              <a:spcBef>
                <a:spcPts val="200"/>
              </a:spcBef>
              <a:buChar char="○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Horizontal Pod Autoscaler: target CPU 70%, min 2, max 20</a:t>
            </a:r>
            <a:endParaRPr lang="en-US" dirty="0"/>
          </a:p>
          <a:p>
            <a:pPr lvl="5">
              <a:lnSpc>
                <a:spcPts val="1380"/>
              </a:lnSpc>
              <a:spcBef>
                <a:spcPts val="200"/>
              </a:spcBef>
              <a:buChar char="▸"/>
            </a:pPr>
            <a:r>
              <a:rPr lang="en-US" sz="675" dirty="0">
                <a:solidFill>
                  <a:srgbClr val="000000"/>
                </a:solidFill>
                <a:latin typeface="Arial"/>
              </a:rPr>
              <a:t>Custom metrics: requests-per-second via Prometheus adapter</a:t>
            </a:r>
            <a:endParaRPr lang="en-US" dirty="0"/>
          </a:p>
          <a:p>
            <a:pPr lvl="0">
              <a:lnSpc>
                <a:spcPts val="1380"/>
              </a:lnSpc>
              <a:spcBef>
                <a:spcPts val="1000"/>
              </a:spcBef>
              <a:buChar char="■"/>
            </a:pPr>
            <a:r>
              <a:rPr lang="en-US" sz="1200" b="1" dirty="0">
                <a:solidFill>
                  <a:srgbClr val="000000"/>
                </a:solidFill>
                <a:latin typeface="Arial"/>
              </a:rPr>
              <a:t>Observability Stack</a:t>
            </a:r>
            <a:endParaRPr lang="en-US" dirty="0"/>
          </a:p>
          <a:p>
            <a:pPr lvl="1">
              <a:lnSpc>
                <a:spcPts val="1380"/>
              </a:lnSpc>
              <a:spcBef>
                <a:spcPts val="400"/>
              </a:spcBef>
              <a:buChar char="•"/>
            </a:pPr>
            <a:r>
              <a:rPr lang="en-US" sz="1050" b="1" dirty="0">
                <a:solidFill>
                  <a:srgbClr val="000000"/>
                </a:solidFill>
                <a:latin typeface="Arial"/>
              </a:rPr>
              <a:t>Distributed Tracing with OpenTelemetry</a:t>
            </a:r>
            <a:endParaRPr lang="en-US" dirty="0"/>
          </a:p>
          <a:p>
            <a:pPr lvl="2">
              <a:lnSpc>
                <a:spcPts val="1380"/>
              </a:lnSpc>
              <a:spcBef>
                <a:spcPts val="300"/>
              </a:spcBef>
              <a:buChar char="–"/>
            </a:pPr>
            <a:r>
              <a:rPr lang="en-US" sz="900" dirty="0">
                <a:solidFill>
                  <a:srgbClr val="000000"/>
                </a:solidFill>
                <a:latin typeface="Arial"/>
              </a:rPr>
              <a:t>Trace context propagation (W3C TraceContext)</a:t>
            </a:r>
            <a:endParaRPr lang="en-US" dirty="0"/>
          </a:p>
          <a:p>
            <a:pPr lvl="3">
              <a:lnSpc>
                <a:spcPts val="1380"/>
              </a:lnSpc>
              <a:spcBef>
                <a:spcPts val="200"/>
              </a:spcBef>
              <a:buChar char="›"/>
            </a:pPr>
            <a:r>
              <a:rPr lang="en-US" sz="825" dirty="0">
                <a:solidFill>
                  <a:srgbClr val="000000"/>
                </a:solidFill>
                <a:latin typeface="Arial"/>
              </a:rPr>
              <a:t>Span attributes: service.name, http.method, http.status_code</a:t>
            </a:r>
            <a:endParaRPr lang="en-US" dirty="0"/>
          </a:p>
          <a:p>
            <a:pPr lvl="4">
              <a:lnSpc>
                <a:spcPts val="1380"/>
              </a:lnSpc>
              <a:spcBef>
                <a:spcPts val="200"/>
              </a:spcBef>
              <a:buChar char="○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Sampling strategy: 10% head-based, 100% error tail-based</a:t>
            </a:r>
            <a:endParaRPr lang="en-US" dirty="0"/>
          </a:p>
          <a:p>
            <a:pPr lvl="5">
              <a:lnSpc>
                <a:spcPts val="1380"/>
              </a:lnSpc>
              <a:spcBef>
                <a:spcPts val="200"/>
              </a:spcBef>
              <a:buChar char="▸"/>
            </a:pPr>
            <a:r>
              <a:rPr lang="en-US" sz="675" dirty="0">
                <a:solidFill>
                  <a:srgbClr val="000000"/>
                </a:solidFill>
                <a:latin typeface="Arial"/>
              </a:rPr>
              <a:t>Retention: 7 days hot (Tempo), 90 days cold (S3)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Request Processing Pipeline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1905000"/>
            <a:ext cx="1238250" cy="57150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2057400"/>
            <a:ext cx="933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Receive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Request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000250" y="1905000"/>
            <a:ext cx="1238250" cy="57150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2152650" y="2057400"/>
            <a:ext cx="933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Validate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Input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619500" y="1857375"/>
            <a:ext cx="1047750" cy="666750"/>
          </a:xfrm>
          <a:prstGeom prst="roundRect">
            <a:avLst/>
          </a:prstGeom>
          <a:solidFill>
            <a:srgbClr val="FFC000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771900" y="2009775"/>
            <a:ext cx="742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Authorized?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334000" y="1905000"/>
            <a:ext cx="1238250" cy="571500"/>
          </a:xfrm>
          <a:prstGeom prst="roundRect">
            <a:avLst/>
          </a:prstGeom>
          <a:solidFill>
            <a:srgbClr val="003DA5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486400" y="2057400"/>
            <a:ext cx="933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Process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Payload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7048500" y="1905000"/>
            <a:ext cx="1238250" cy="571500"/>
          </a:xfrm>
          <a:prstGeom prst="roundRect">
            <a:avLst/>
          </a:prstGeom>
          <a:solidFill>
            <a:srgbClr val="00B050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200900" y="2057400"/>
            <a:ext cx="9334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Return</a:t>
            </a:r>
            <a:endParaRPr lang="en-US" dirty="0"/>
          </a:p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Response</a:t>
            </a:r>
            <a:endParaRPr lang="en-US" dirty="0"/>
          </a:p>
        </p:txBody>
      </p:sp>
      <p:cxnSp>
        <p:nvCxnSpPr>
          <p:cNvPr id="14" name="Connector 14"/>
          <p:cNvCxnSpPr/>
          <p:nvPr/>
        </p:nvCxnSpPr>
        <p:spPr>
          <a:xfrm>
            <a:off x="1666875" y="2190750"/>
            <a:ext cx="333375" cy="9525"/>
          </a:xfrm>
          <a:prstGeom prst="line">
            <a:avLst/>
          </a:prstGeom>
          <a:ln w="19050">
            <a:solidFill>
              <a:srgbClr val="0F2540"/>
            </a:solidFill>
            <a:tail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3286125" y="2190750"/>
            <a:ext cx="333375" cy="9525"/>
          </a:xfrm>
          <a:prstGeom prst="line">
            <a:avLst/>
          </a:prstGeom>
          <a:ln w="19050">
            <a:solidFill>
              <a:srgbClr val="0F2540"/>
            </a:solidFill>
            <a:tail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4714875" y="2190750"/>
            <a:ext cx="619125" cy="9525"/>
          </a:xfrm>
          <a:prstGeom prst="line">
            <a:avLst/>
          </a:prstGeom>
          <a:ln w="19050">
            <a:solidFill>
              <a:srgbClr val="0F2540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6619875" y="2190750"/>
            <a:ext cx="428625" cy="9525"/>
          </a:xfrm>
          <a:prstGeom prst="line">
            <a:avLst/>
          </a:prstGeom>
          <a:ln w="19050">
            <a:solidFill>
              <a:srgbClr val="0F2540"/>
            </a:solidFill>
            <a:tailEnd type="triangle"/>
          </a:ln>
        </p:spPr>
      </p:cxnSp>
      <p:cxnSp>
        <p:nvCxnSpPr>
          <p:cNvPr id="18" name="Connector 18"/>
          <p:cNvCxnSpPr/>
          <p:nvPr/>
        </p:nvCxnSpPr>
        <p:spPr>
          <a:xfrm>
            <a:off x="4143375" y="2552700"/>
            <a:ext cx="9525" cy="685800"/>
          </a:xfrm>
          <a:prstGeom prst="line">
            <a:avLst/>
          </a:prstGeom>
          <a:ln w="14288">
            <a:solidFill>
              <a:srgbClr val="C00000"/>
            </a:solidFill>
            <a:tailEnd type="triangle"/>
          </a:ln>
        </p:spPr>
      </p:cxnSp>
      <p:sp>
        <p:nvSpPr>
          <p:cNvPr id="19" name="View 19"/>
          <p:cNvSpPr/>
          <p:nvPr/>
        </p:nvSpPr>
        <p:spPr>
          <a:xfrm>
            <a:off x="3667125" y="3286125"/>
            <a:ext cx="952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3819525" y="3438525"/>
            <a:ext cx="647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C00000"/>
                </a:solidFill>
                <a:latin typeface="Arial"/>
              </a:rPr>
              <a:t>401</a:t>
            </a:r>
            <a:endParaRPr lang="en-US" dirty="0"/>
          </a:p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C00000"/>
                </a:solidFill>
                <a:latin typeface="Arial"/>
              </a:rPr>
              <a:t>Unauthorized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4762500" y="2047875"/>
            <a:ext cx="1524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00B050"/>
                </a:solidFill>
                <a:latin typeface="Arial"/>
              </a:rPr>
              <a:t>Yes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238625" y="2571750"/>
            <a:ext cx="1143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C00000"/>
                </a:solidFill>
                <a:latin typeface="Arial"/>
              </a:rPr>
              <a:t>No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933450" y="1666875"/>
            <a:ext cx="571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94A3B8"/>
                </a:solidFill>
                <a:latin typeface="Arial"/>
              </a:rPr>
              <a:t>1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2552700" y="1666875"/>
            <a:ext cx="571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94A3B8"/>
                </a:solidFill>
                <a:latin typeface="Arial"/>
              </a:rPr>
              <a:t>2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4095750" y="1666875"/>
            <a:ext cx="571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94A3B8"/>
                </a:solidFill>
                <a:latin typeface="Arial"/>
              </a:rPr>
              <a:t>3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886450" y="1666875"/>
            <a:ext cx="571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94A3B8"/>
                </a:solidFill>
                <a:latin typeface="Arial"/>
              </a:rPr>
              <a:t>4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7600950" y="1666875"/>
            <a:ext cx="571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b="1" dirty="0">
                <a:solidFill>
                  <a:srgbClr val="94A3B8"/>
                </a:solidFill>
                <a:latin typeface="Arial"/>
              </a:rPr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Case Study: E-Commerce Platform Migration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381000" y="714375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Scenario: </a:t>
            </a:r>
            <a:r>
              <a:rPr lang="en-US" sz="825" dirty="0">
                <a:solidFill>
                  <a:srgbClr val="475569"/>
                </a:solidFill>
                <a:latin typeface="Arial"/>
              </a:rPr>
              <a:t>GlobalShop, a $2B e-commerce retailer, needs to migrate from a monolithic Java application (500K LOC) to microservices. The system handles 15,000 orders/hour during peak and must maintain 99.95% uptime during migration. Budget: $4.2M over 18 months.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619250"/>
          <a:ext cx="8382000" cy="1"/>
        </p:xfrm>
        <a:graphic>
          <a:graphicData uri="http://schemas.openxmlformats.org/drawingml/2006/table">
            <a:tbl>
              <a:tblPr firstRow="0" bandRow="0"/>
              <a:tblGrid>
                <a:gridCol w="1524000"/>
                <a:gridCol w="3429000"/>
                <a:gridCol w="3429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Current State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Target State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</a:tr>
              <a:tr h="523875"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/>
                        <a:t>Architecture</a:t>
                      </a:r>
                      <a:endParaRPr lang="en-US" dirty="0"/>
                    </a:p>
                  </a:txBody>
                  <a:tcPr anchor="t" marL="57150" marR="57150" marT="57150" marB="57150">
                    <a:solidFill>
                      <a:srgbClr val="E3F2F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Monolithic Java (Spring) app
• Single WAR deployment
• Shared Oracle DB (2.4TB)</a:t>
                      </a:r>
                      <a:endParaRPr lang="en-US" dirty="0"/>
                    </a:p>
                  </a:txBody>
                  <a:tcPr anchor="t" marL="57150" marR="57150" marT="57150" marB="5715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12 bounded-context microservices
• Independent deployments
• Service-specific PostgreSQL + Redis</a:t>
                      </a:r>
                      <a:endParaRPr lang="en-US" dirty="0"/>
                    </a:p>
                  </a:txBody>
                  <a:tcPr anchor="t" marL="57150" marR="57150" marT="57150" marB="57150"/>
                </a:tc>
              </a:tr>
              <a:tr h="523875"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/>
                        <a:t>Performance</a:t>
                      </a:r>
                      <a:endParaRPr lang="en-US" dirty="0"/>
                    </a:p>
                  </a:txBody>
                  <a:tcPr anchor="t" marL="57150" marR="57150" marT="57150" marB="57150">
                    <a:solidFill>
                      <a:srgbClr val="E8F5E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Avg response: 450ms (p99: 2.8s)
• Vertical scaling only
• Max 8,000 orders/hr before degradation</a:t>
                      </a:r>
                      <a:endParaRPr lang="en-US" dirty="0"/>
                    </a:p>
                  </a:txBody>
                  <a:tcPr anchor="t" marL="57150" marR="57150" marT="57150" marB="5715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Avg response: 85ms (p99: 350ms)
• Horizontal auto-scaling
• 50,000 orders/hr capacity</a:t>
                      </a:r>
                      <a:endParaRPr lang="en-US" dirty="0"/>
                    </a:p>
                  </a:txBody>
                  <a:tcPr anchor="t" marL="57150" marR="57150" marT="57150" marB="57150"/>
                </a:tc>
              </a:tr>
              <a:tr h="523875"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/>
                        <a:t>Deployment</a:t>
                      </a:r>
                      <a:endParaRPr lang="en-US" dirty="0"/>
                    </a:p>
                  </a:txBody>
                  <a:tcPr anchor="t" marL="57150" marR="57150" marT="57150" marB="57150">
                    <a:solidFill>
                      <a:srgbClr val="FFF8E1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Monthly release windows (4hr downtime)
• Manual QA (3-week cycle)
• 12% rollback rate</a:t>
                      </a:r>
                      <a:endParaRPr lang="en-US" dirty="0"/>
                    </a:p>
                  </a:txBody>
                  <a:tcPr anchor="t" marL="57150" marR="57150" marT="57150" marB="5715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50+ deployments/day
• Automated testing (15min pipeline)
• &lt;1% rollback rate, &lt;15min recovery</a:t>
                      </a:r>
                      <a:endParaRPr lang="en-US" dirty="0"/>
                    </a:p>
                  </a:txBody>
                  <a:tcPr anchor="t" marL="57150" marR="57150" marT="57150" marB="57150"/>
                </a:tc>
              </a:tr>
              <a:tr h="523875"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/>
                        <a:t>Cost</a:t>
                      </a:r>
                      <a:endParaRPr lang="en-US" dirty="0"/>
                    </a:p>
                  </a:txBody>
                  <a:tcPr anchor="t" marL="57150" marR="57150" marT="57150" marB="57150">
                    <a:solidFill>
                      <a:srgbClr val="FDECEA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Infrastructure: $85K/month
• Over-provisioned for peak
• Oracle licensing: $240K/year</a:t>
                      </a:r>
                      <a:endParaRPr lang="en-US" dirty="0"/>
                    </a:p>
                  </a:txBody>
                  <a:tcPr anchor="t" marL="57150" marR="57150" marT="57150" marB="57150"/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Infrastructure: $42K/month (avg)
• Right-sized with auto-scaling
• OSS databases: $0 licensing</a:t>
                      </a:r>
                      <a:endParaRPr lang="en-US" dirty="0"/>
                    </a:p>
                  </a:txBody>
                  <a:tcPr anchor="t" marL="57150" marR="57150" marT="57150" marB="571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Knowledge Check — Module 1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762000"/>
            <a:ext cx="8001000" cy="3524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</a:rPr>
              <a:t>Which deployment strategy allows traffic to be gradually shifted from the old version to the new version while monitoring error rates?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1524000"/>
            <a:ext cx="3619500" cy="619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23900" y="1676400"/>
            <a:ext cx="3314700" cy="1571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0F2540"/>
                </a:solidFill>
                <a:latin typeface="Arial"/>
              </a:rPr>
              <a:t>A. Blue-Green Deployment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572000" y="1524000"/>
            <a:ext cx="3619500" cy="619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724400" y="1676400"/>
            <a:ext cx="3314700" cy="1571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0F2540"/>
                </a:solidFill>
                <a:latin typeface="Arial"/>
              </a:rPr>
              <a:t>B. Canary Deployment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571500" y="2381250"/>
            <a:ext cx="3619500" cy="619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23900" y="2533650"/>
            <a:ext cx="3314700" cy="1571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0F2540"/>
                </a:solidFill>
                <a:latin typeface="Arial"/>
              </a:rPr>
              <a:t>C. Rolling Update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572000" y="2381250"/>
            <a:ext cx="3619500" cy="619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724400" y="2533650"/>
            <a:ext cx="3314700" cy="1571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0F2540"/>
                </a:solidFill>
                <a:latin typeface="Arial"/>
              </a:rPr>
              <a:t>D. Recreate Deployment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71500" y="4743450"/>
            <a:ext cx="187642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i="1" dirty="0">
                <a:solidFill>
                  <a:srgbClr val="94A3B8"/>
                </a:solidFill>
                <a:latin typeface="Arial"/>
              </a:rPr>
              <a:t>Select the best answer. Discussion to follow.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1714500"/>
            <a:ext cx="695325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MODULE 2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2000250"/>
            <a:ext cx="66675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Container Orchestration &amp; Kubernetes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762000" y="2571750"/>
            <a:ext cx="571500" cy="28575"/>
          </a:xfrm>
          <a:prstGeom prst="rect">
            <a:avLst/>
          </a:prstGeom>
          <a:solidFill>
            <a:srgbClr val="FFFF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Container Runtime Comparison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8382000" cy="1"/>
        </p:xfrm>
        <a:graphic>
          <a:graphicData uri="http://schemas.openxmlformats.org/drawingml/2006/table">
            <a:tbl>
              <a:tblPr firstRow="0" bandRow="0"/>
              <a:tblGrid>
                <a:gridCol w="1524000"/>
                <a:gridCol w="1714500"/>
                <a:gridCol w="1714500"/>
                <a:gridCol w="1714500"/>
                <a:gridCol w="1714500"/>
              </a:tblGrid>
              <a:tr h="285750"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Docker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containerd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CRI-O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gVisor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OCI Compliant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825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825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825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825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K8s Native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solidFill>
                            <a:srgbClr val="FFC000"/>
                          </a:solidFill>
                        </a:rPr>
                        <a:t>Via shim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825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825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825" dirty="0">
                          <a:solidFill>
                            <a:srgbClr val="00B050"/>
                          </a:solidFill>
                        </a:rPr>
                        <a:t>✓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Startup Time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~500ms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~300ms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~250ms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~800ms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Memory Overhead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~100MB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~40MB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~35MB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~150MB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Security Isolation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Namespace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Namespace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Namespace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00B050"/>
                          </a:solidFill>
                        </a:rPr>
                        <a:t>Kernel-level</a:t>
                      </a:r>
                      <a:endParaRPr lang="en-US" dirty="0"/>
                    </a:p>
                  </a:txBody>
                  <a:tcPr marL="38100" marR="38100" marT="38100" marB="38100"/>
                </a:tc>
              </a:tr>
              <a:tr h="24765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Recommendation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Dev/Test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003DA5"/>
                          </a:solidFill>
                        </a:rPr>
                        <a:t>Production ★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OpenShift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Multi-tenant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3906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CNCF Runtime Landscape 2025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Kubernetes Dashboard: Key Components</a:t>
            </a:r>
            <a:endParaRPr lang="en-US" dirty="0"/>
          </a:p>
        </p:txBody>
      </p:sp>
      <p:pic>
        <p:nvPicPr>
          <p:cNvPr id="4" name="Image 4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762000"/>
            <a:ext cx="4953000" cy="32385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5" name="Text 5"/>
          <p:cNvSpPr txBox="1"/>
          <p:nvPr/>
        </p:nvSpPr>
        <p:spPr>
          <a:xfrm>
            <a:off x="666750" y="904875"/>
            <a:ext cx="1714500" cy="1524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FFFFFF"/>
                </a:solidFill>
                <a:latin typeface="Arial"/>
              </a:rPr>
              <a:t>1. Namespace Selector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66750" y="1524000"/>
            <a:ext cx="1714500" cy="1524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FFFFFF"/>
                </a:solidFill>
                <a:latin typeface="Arial"/>
              </a:rPr>
              <a:t>2. Pod Status Grid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66750" y="2143125"/>
            <a:ext cx="1714500" cy="1524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FFFFFF"/>
                </a:solidFill>
                <a:latin typeface="Arial"/>
              </a:rPr>
              <a:t>3. Resource Utilization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666750" y="2762250"/>
            <a:ext cx="1714500" cy="1524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b="1" dirty="0">
                <a:solidFill>
                  <a:srgbClr val="FFFFFF"/>
                </a:solidFill>
                <a:latin typeface="Arial"/>
              </a:rPr>
              <a:t>4. Event Stream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619750" y="762000"/>
            <a:ext cx="3238500" cy="3238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Key Terms</a:t>
            </a:r>
            <a:endParaRPr lang="en-US" dirty="0"/>
          </a:p>
          <a:p>
            <a:pPr>
              <a:lnSpc>
                <a:spcPts val="1380"/>
              </a:lnSpc>
              <a:spcBef>
                <a:spcPts val="1000"/>
              </a:spcBef>
            </a:pPr>
            <a:r>
              <a:rPr lang="en-US" sz="825" b="1" dirty="0">
                <a:solidFill>
                  <a:srgbClr val="003DA5"/>
                </a:solidFill>
                <a:latin typeface="Arial"/>
              </a:rPr>
              <a:t>Pod</a:t>
            </a:r>
            <a:r>
              <a:rPr lang="en-US" sz="750" dirty="0">
                <a:solidFill>
                  <a:srgbClr val="475569"/>
                </a:solidFill>
                <a:latin typeface="Arial"/>
              </a:rPr>
              <a:t> — Smallest deployable unit; one or more containers sharing network/storage.</a:t>
            </a:r>
            <a:endParaRPr lang="en-US" dirty="0"/>
          </a:p>
          <a:p>
            <a:pPr>
              <a:lnSpc>
                <a:spcPts val="1380"/>
              </a:lnSpc>
              <a:spcBef>
                <a:spcPts val="800"/>
              </a:spcBef>
            </a:pPr>
            <a:r>
              <a:rPr lang="en-US" sz="825" b="1" dirty="0">
                <a:solidFill>
                  <a:srgbClr val="003DA5"/>
                </a:solidFill>
                <a:latin typeface="Arial"/>
              </a:rPr>
              <a:t>ReplicaSet</a:t>
            </a:r>
            <a:r>
              <a:rPr lang="en-US" sz="750" dirty="0">
                <a:solidFill>
                  <a:srgbClr val="475569"/>
                </a:solidFill>
                <a:latin typeface="Arial"/>
              </a:rPr>
              <a:t> — Ensures a specified number of pod replicas are running at all times.</a:t>
            </a:r>
            <a:endParaRPr lang="en-US" dirty="0"/>
          </a:p>
          <a:p>
            <a:pPr>
              <a:lnSpc>
                <a:spcPts val="1380"/>
              </a:lnSpc>
              <a:spcBef>
                <a:spcPts val="800"/>
              </a:spcBef>
            </a:pPr>
            <a:r>
              <a:rPr lang="en-US" sz="825" b="1" dirty="0">
                <a:solidFill>
                  <a:srgbClr val="003DA5"/>
                </a:solidFill>
                <a:latin typeface="Arial"/>
              </a:rPr>
              <a:t>Deployment</a:t>
            </a:r>
            <a:r>
              <a:rPr lang="en-US" sz="750" dirty="0">
                <a:solidFill>
                  <a:srgbClr val="475569"/>
                </a:solidFill>
                <a:latin typeface="Arial"/>
              </a:rPr>
              <a:t> — Declarative updates for Pods and ReplicaSets with rollback support.</a:t>
            </a:r>
            <a:endParaRPr lang="en-US" dirty="0"/>
          </a:p>
          <a:p>
            <a:pPr>
              <a:lnSpc>
                <a:spcPts val="1380"/>
              </a:lnSpc>
              <a:spcBef>
                <a:spcPts val="800"/>
              </a:spcBef>
            </a:pPr>
            <a:r>
              <a:rPr lang="en-US" sz="825" b="1" dirty="0">
                <a:solidFill>
                  <a:srgbClr val="003DA5"/>
                </a:solidFill>
                <a:latin typeface="Arial"/>
              </a:rPr>
              <a:t>Service</a:t>
            </a:r>
            <a:r>
              <a:rPr lang="en-US" sz="750" dirty="0">
                <a:solidFill>
                  <a:srgbClr val="475569"/>
                </a:solidFill>
                <a:latin typeface="Arial"/>
              </a:rPr>
              <a:t> — Stable network endpoint that load-balances across healthy pod replicas.</a:t>
            </a:r>
            <a:endParaRPr lang="en-US" dirty="0"/>
          </a:p>
          <a:p>
            <a:pPr>
              <a:lnSpc>
                <a:spcPts val="1380"/>
              </a:lnSpc>
              <a:spcBef>
                <a:spcPts val="800"/>
              </a:spcBef>
            </a:pPr>
            <a:r>
              <a:rPr lang="en-US" sz="825" b="1" dirty="0">
                <a:solidFill>
                  <a:srgbClr val="003DA5"/>
                </a:solidFill>
                <a:latin typeface="Arial"/>
              </a:rPr>
              <a:t>Ingress</a:t>
            </a:r>
            <a:r>
              <a:rPr lang="en-US" sz="750" dirty="0">
                <a:solidFill>
                  <a:srgbClr val="475569"/>
                </a:solidFill>
                <a:latin typeface="Arial"/>
              </a:rPr>
              <a:t> — HTTP/HTTPS routing rules mapping external URLs to internal services.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Hands-On Exercise: Design a Deployment Strategy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381000" y="714375"/>
            <a:ext cx="83820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825" b="1" dirty="0">
                <a:solidFill>
                  <a:srgbClr val="0F2540"/>
                </a:solidFill>
                <a:latin typeface="Arial"/>
              </a:rPr>
              <a:t>Instructions: </a:t>
            </a:r>
            <a:r>
              <a:rPr lang="en-US" sz="825" dirty="0">
                <a:solidFill>
                  <a:srgbClr val="475569"/>
                </a:solidFill>
                <a:latin typeface="Arial"/>
              </a:rPr>
              <a:t>For each service below, define the deployment strategy, replica count, resource limits, and health check configuration. Consider the service characteristics when making your decisions. You have 25 minutes.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81000" y="1524000"/>
          <a:ext cx="8382000" cy="1"/>
        </p:xfrm>
        <a:graphic>
          <a:graphicData uri="http://schemas.openxmlformats.org/drawingml/2006/table">
            <a:tbl>
              <a:tblPr firstRow="0" bandRow="0"/>
              <a:tblGrid>
                <a:gridCol w="1524000"/>
                <a:gridCol w="1333500"/>
                <a:gridCol w="952500"/>
                <a:gridCol w="1333500"/>
                <a:gridCol w="1524000"/>
                <a:gridCol w="1714500"/>
              </a:tblGrid>
              <a:tr h="28575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Replicas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CPU / Memory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Health Check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>
                          <a:solidFill>
                            <a:srgbClr val="FFFFFF"/>
                          </a:solidFill>
                        </a:rPr>
                        <a:t>Justification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</a:tr>
              <a:tr h="428625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API Gateway (stateless, high traffic)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User Auth Service (stateless, critical)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  <a:tr h="428625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Order Processor (stateful, async)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Notification Service (stateless, low priority)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  <a:tr h="428625"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>Analytics Pipeline (batch, resource-heavy)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381000" y="4743450"/>
            <a:ext cx="252412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i="1" dirty="0">
                <a:solidFill>
                  <a:srgbClr val="94A3B8"/>
                </a:solidFill>
                <a:latin typeface="Arial"/>
              </a:rPr>
              <a:t>Time: 25 minutes  |  Work in pairs  |  Be prepared to present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Knowledge Check — Module 2: True or False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571500" y="809625"/>
            <a:ext cx="8001000" cy="476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23900" y="962025"/>
            <a:ext cx="762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1. </a:t>
            </a:r>
            <a:r>
              <a:rPr lang="en-US" sz="900" dirty="0">
                <a:solidFill>
                  <a:srgbClr val="0F2540"/>
                </a:solidFill>
                <a:latin typeface="Arial"/>
              </a:rPr>
              <a:t>A Kubernetes Service of type ClusterIP is accessible from outside the cluster.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571500" y="1428750"/>
            <a:ext cx="8001000" cy="476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23900" y="1581150"/>
            <a:ext cx="762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2. </a:t>
            </a:r>
            <a:r>
              <a:rPr lang="en-US" sz="900" dirty="0">
                <a:solidFill>
                  <a:srgbClr val="0F2540"/>
                </a:solidFill>
                <a:latin typeface="Arial"/>
              </a:rPr>
              <a:t>Horizontal Pod Autoscaler can scale based on custom Prometheus metrics.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571500" y="2047875"/>
            <a:ext cx="8001000" cy="476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23900" y="2200275"/>
            <a:ext cx="762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3. </a:t>
            </a:r>
            <a:r>
              <a:rPr lang="en-US" sz="900" dirty="0">
                <a:solidFill>
                  <a:srgbClr val="0F2540"/>
                </a:solidFill>
                <a:latin typeface="Arial"/>
              </a:rPr>
              <a:t>A ConfigMap can store binary data up to 1MB in size.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71500" y="2667000"/>
            <a:ext cx="8001000" cy="476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23900" y="2819400"/>
            <a:ext cx="762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4. </a:t>
            </a:r>
            <a:r>
              <a:rPr lang="en-US" sz="900" dirty="0">
                <a:solidFill>
                  <a:srgbClr val="0F2540"/>
                </a:solidFill>
                <a:latin typeface="Arial"/>
              </a:rPr>
              <a:t>Pod disruption budgets guarantee zero-downtime during node maintenance.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71500" y="3286125"/>
            <a:ext cx="8001000" cy="476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23900" y="3438525"/>
            <a:ext cx="762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380"/>
              </a:lnSpc>
              <a:spcBef>
                <a:spcPts val="0"/>
              </a:spcBef>
            </a:pPr>
            <a:r>
              <a:rPr lang="en-US" sz="975" b="1" dirty="0">
                <a:solidFill>
                  <a:srgbClr val="003DA5"/>
                </a:solidFill>
                <a:latin typeface="Arial"/>
              </a:rPr>
              <a:t>5. </a:t>
            </a:r>
            <a:r>
              <a:rPr lang="en-US" sz="900" dirty="0">
                <a:solidFill>
                  <a:srgbClr val="0F2540"/>
                </a:solidFill>
                <a:latin typeface="Arial"/>
              </a:rPr>
              <a:t>Readiness probes determine whether a pod should receive traffic.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619500" y="4191000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</a:rPr>
              <a:t>T          F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571500" y="4791075"/>
            <a:ext cx="282892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i="1" dirty="0">
                <a:solidFill>
                  <a:srgbClr val="94A3B8"/>
                </a:solidFill>
                <a:latin typeface="Arial"/>
              </a:rPr>
              <a:t>Write T or F next to each statement. Answers are in speaker notes.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Key Takeaways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762000"/>
            <a:ext cx="8001000" cy="3619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1380"/>
              </a:lnSpc>
              <a:spcBef>
                <a:spcPts val="0"/>
              </a:spcBef>
              <a:buChar char="■"/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Design for Failure: </a:t>
            </a:r>
            <a:r>
              <a:rPr lang="en-US" sz="900" dirty="0">
                <a:solidFill>
                  <a:srgbClr val="475569"/>
                </a:solidFill>
                <a:latin typeface="Arial"/>
              </a:rPr>
              <a:t>Every service will fail. Circuit breakers, retries, and bulkheads are not optional — they are architectural requirements.</a:t>
            </a:r>
            <a:endParaRPr lang="en-US" dirty="0"/>
          </a:p>
          <a:p>
            <a:pPr lvl="0">
              <a:lnSpc>
                <a:spcPts val="1380"/>
              </a:lnSpc>
              <a:spcBef>
                <a:spcPts val="1200"/>
              </a:spcBef>
              <a:buChar char="■"/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Observe Everything: </a:t>
            </a:r>
            <a:r>
              <a:rPr lang="en-US" sz="900" dirty="0">
                <a:solidFill>
                  <a:srgbClr val="475569"/>
                </a:solidFill>
                <a:latin typeface="Arial"/>
              </a:rPr>
              <a:t>Distributed tracing, structured logging, and RED metrics provide the visibility needed to operate microservices at scale.</a:t>
            </a:r>
            <a:endParaRPr lang="en-US" dirty="0"/>
          </a:p>
          <a:p>
            <a:pPr lvl="0">
              <a:lnSpc>
                <a:spcPts val="1380"/>
              </a:lnSpc>
              <a:spcBef>
                <a:spcPts val="1200"/>
              </a:spcBef>
              <a:buChar char="■"/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Automate Deployments: </a:t>
            </a:r>
            <a:r>
              <a:rPr lang="en-US" sz="900" dirty="0">
                <a:solidFill>
                  <a:srgbClr val="475569"/>
                </a:solidFill>
                <a:latin typeface="Arial"/>
              </a:rPr>
              <a:t>CI/CD pipelines with canary deployments reduce risk and enable 50+ daily releases with confidence.</a:t>
            </a:r>
            <a:endParaRPr lang="en-US" dirty="0"/>
          </a:p>
          <a:p>
            <a:pPr lvl="0">
              <a:lnSpc>
                <a:spcPts val="1380"/>
              </a:lnSpc>
              <a:spcBef>
                <a:spcPts val="1200"/>
              </a:spcBef>
              <a:buChar char="■"/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Right-Size Resources: </a:t>
            </a:r>
            <a:r>
              <a:rPr lang="en-US" sz="900" dirty="0">
                <a:solidFill>
                  <a:srgbClr val="475569"/>
                </a:solidFill>
                <a:latin typeface="Arial"/>
              </a:rPr>
              <a:t>Set resource requests and limits based on actual usage profiles. Use HPA with custom metrics for cost-efficient scaling.</a:t>
            </a:r>
            <a:endParaRPr lang="en-US" dirty="0"/>
          </a:p>
          <a:p>
            <a:pPr lvl="0">
              <a:lnSpc>
                <a:spcPts val="1380"/>
              </a:lnSpc>
              <a:spcBef>
                <a:spcPts val="1200"/>
              </a:spcBef>
              <a:buChar char="■"/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Security is Non-Negotiable: </a:t>
            </a:r>
            <a:r>
              <a:rPr lang="en-US" sz="900" dirty="0">
                <a:solidFill>
                  <a:srgbClr val="475569"/>
                </a:solidFill>
                <a:latin typeface="Arial"/>
              </a:rPr>
              <a:t>mTLS between services, network policies, RBAC, and pod security standards form the zero-trust foundation.</a:t>
            </a:r>
            <a:endParaRPr lang="en-US" dirty="0"/>
          </a:p>
          <a:p>
            <a:pPr lvl="0">
              <a:lnSpc>
                <a:spcPts val="1380"/>
              </a:lnSpc>
              <a:spcBef>
                <a:spcPts val="1200"/>
              </a:spcBef>
              <a:buChar char="■"/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Start Small, Iterate Fast: </a:t>
            </a:r>
            <a:r>
              <a:rPr lang="en-US" sz="900" dirty="0">
                <a:solidFill>
                  <a:srgbClr val="475569"/>
                </a:solidFill>
                <a:latin typeface="Arial"/>
              </a:rPr>
              <a:t>Strangle the monolith incrementally. Extract high-value bounded contexts first and validate patterns before scaling.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Additional Resources &amp; References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85750" y="762000"/>
          <a:ext cx="8572500" cy="1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762000"/>
                <a:gridCol w="2476500"/>
                <a:gridCol w="3429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URL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dirty="0"/>
                    </a:p>
                  </a:txBody>
                  <a:tcPr marL="57150" marR="57150" marT="57150" marB="57150">
                    <a:solidFill>
                      <a:srgbClr val="0F2540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Kubernetes Official Docs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Docs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>
                          <a:solidFill>
                            <a:srgbClr val="0563C1"/>
                          </a:solidFill>
                        </a:rPr>
                        <a:t>https://kubernetes.io/docs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/>
                        <a:t>Comprehensive reference for all K8s resources and APIs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CNCF Landscape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Guide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>
                          <a:solidFill>
                            <a:srgbClr val="0563C1"/>
                          </a:solidFill>
                        </a:rPr>
                        <a:t>https://landscape.cncf.io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/>
                        <a:t>Interactive map of cloud-native technologies and vendors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12-Factor App Methodology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Guide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>
                          <a:solidFill>
                            <a:srgbClr val="0563C1"/>
                          </a:solidFill>
                        </a:rPr>
                        <a:t>https://12factor.net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/>
                        <a:t>Best practices for building SaaS applications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OpenTelemetry Documentation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Docs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>
                          <a:solidFill>
                            <a:srgbClr val="0563C1"/>
                          </a:solidFill>
                        </a:rPr>
                        <a:t>https://opentelemetry.io/docs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/>
                        <a:t>Instrumentation, SDK, and collector configuration guides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Platform Lab Environment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Lab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>
                          <a:solidFill>
                            <a:srgbClr val="0563C1"/>
                          </a:solidFill>
                        </a:rPr>
                        <a:t>https://lab.training.accelion.com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/>
                        <a:t>Hands-on sandbox with pre-configured K8s clusters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Course Video Recordings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Video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>
                          <a:solidFill>
                            <a:srgbClr val="0563C1"/>
                          </a:solidFill>
                        </a:rPr>
                        <a:t>https://learn.accelion.com/epe-401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/>
                        <a:t>Recorded sessions and supplementary walkthroughs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Helm Chart Repository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Repo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>
                          <a:solidFill>
                            <a:srgbClr val="0563C1"/>
                          </a:solidFill>
                        </a:rPr>
                        <a:t>https://github.com/accelion/helm-charts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/>
                        <a:t>Production-ready Helm charts for all platform services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r>
                        <a:rPr lang="en-US" sz="675" b="1" dirty="0"/>
                        <a:t>Support &amp; Q&amp;A Forum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/>
                        <a:t>Forum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>
                          <a:solidFill>
                            <a:srgbClr val="0563C1"/>
                          </a:solidFill>
                        </a:rPr>
                        <a:t>https://community.accelion.com/training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600" dirty="0"/>
                        <a:t>Post-course questions and peer discussion</a:t>
                      </a:r>
                      <a:endParaRPr lang="en-US" dirty="0"/>
                    </a:p>
                  </a:txBody>
                  <a:tcPr marL="38100" marR="38100" marT="38100" marB="381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809750"/>
            <a:ext cx="7620000" cy="6191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4830"/>
              </a:lnSpc>
            </a:pPr>
            <a:r>
              <a:rPr lang="en-US" sz="4200" b="1" dirty="0">
                <a:solidFill>
                  <a:srgbClr val="FFFFFF"/>
                </a:solidFill>
                <a:latin typeface="Arial"/>
              </a:rPr>
              <a:t>Questions?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762250"/>
            <a:ext cx="762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</a:rPr>
              <a:t>Dr. Alex Rivera  |  alex.rivera@accelion.com  |  Slack: #epe-401-support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619500" y="2571750"/>
            <a:ext cx="1905000" cy="1905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190500" y="190500"/>
            <a:ext cx="8763000" cy="47625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3DA5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View 3"/>
          <p:cNvSpPr/>
          <p:nvPr/>
        </p:nvSpPr>
        <p:spPr>
          <a:xfrm>
            <a:off x="285750" y="285750"/>
            <a:ext cx="8572500" cy="4572000"/>
          </a:xfrm>
          <a:prstGeom prst="rect">
            <a:avLst/>
          </a:prstGeom>
          <a:noFill/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33375" y="333375"/>
            <a:ext cx="381000" cy="1905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33375" y="333375"/>
            <a:ext cx="19050" cy="3810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8467725" y="333375"/>
            <a:ext cx="381000" cy="1905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8848725" y="333375"/>
            <a:ext cx="19050" cy="3810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33375" y="4838700"/>
            <a:ext cx="381000" cy="1905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333375" y="4457700"/>
            <a:ext cx="19050" cy="3810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8467725" y="4838700"/>
            <a:ext cx="381000" cy="1905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8848725" y="4457700"/>
            <a:ext cx="19050" cy="3810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12" name="Image 12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523875"/>
            <a:ext cx="1143000" cy="3810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3" name="Text 13"/>
          <p:cNvSpPr txBox="1"/>
          <p:nvPr/>
        </p:nvSpPr>
        <p:spPr>
          <a:xfrm>
            <a:off x="571500" y="1047750"/>
            <a:ext cx="80010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3105"/>
              </a:lnSpc>
            </a:pPr>
            <a:r>
              <a:rPr lang="en-US" sz="2700" b="1" dirty="0">
                <a:solidFill>
                  <a:srgbClr val="0F2540"/>
                </a:solidFill>
                <a:latin typeface="Arial"/>
              </a:rPr>
              <a:t>Certificate of Completion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3333750" y="1571625"/>
            <a:ext cx="2476500" cy="1905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571500" y="1809750"/>
            <a:ext cx="8001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</a:rPr>
              <a:t>This certifies that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71500" y="2095500"/>
            <a:ext cx="8001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[Participant Name]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71500" y="2571750"/>
            <a:ext cx="8001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</a:rPr>
              <a:t>has successfully completed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71500" y="2809875"/>
            <a:ext cx="80010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552"/>
              </a:lnSpc>
            </a:pPr>
            <a:r>
              <a:rPr lang="en-US" sz="1350" b="1" dirty="0">
                <a:solidFill>
                  <a:srgbClr val="003DA5"/>
                </a:solidFill>
                <a:latin typeface="Arial"/>
              </a:rPr>
              <a:t>Enterprise Platform Engineering (EPE-401)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71500" y="3143250"/>
            <a:ext cx="8001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475569"/>
                </a:solidFill>
                <a:latin typeface="Arial"/>
              </a:rPr>
              <a:t>3-Day Comprehensive Technical Training Program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71500" y="3381375"/>
            <a:ext cx="8001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Arial"/>
              </a:rPr>
              <a:t>March 2026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1333500" y="4000500"/>
            <a:ext cx="1905000" cy="9525"/>
          </a:xfrm>
          <a:prstGeom prst="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1333500" y="4048125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Dr. Alex Rivera</a:t>
            </a:r>
            <a:endParaRPr lang="en-US" dirty="0"/>
          </a:p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Lead Instructor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5905500" y="4000500"/>
            <a:ext cx="1905000" cy="9525"/>
          </a:xfrm>
          <a:prstGeom prst="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905500" y="4048125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Sarah Chen</a:t>
            </a:r>
            <a:endParaRPr lang="en-US" dirty="0"/>
          </a:p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CEO, Accelion Technologies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Matrix">
  <a:themeElements>
    <a:clrScheme name="LaunchMatrix">
      <a:dk1>
        <a:srgbClr val="1B1B3A"/>
      </a:dk1>
      <a:lt1>
        <a:srgbClr val="FFFFFF"/>
      </a:lt1>
      <a:dk2>
        <a:srgbClr val="2D2D5E"/>
      </a:dk2>
      <a:lt2>
        <a:srgbClr val="F5F5F5"/>
      </a:lt2>
      <a:accent1>
        <a:srgbClr val="003DA5"/>
      </a:accent1>
      <a:accent2>
        <a:srgbClr val="0070C0"/>
      </a:accent2>
      <a:accent3>
        <a:srgbClr val="00B050"/>
      </a:accent3>
      <a:accent4>
        <a:srgbClr val="FFC000"/>
      </a:accent4>
      <a:accent5>
        <a:srgbClr val="FF66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18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Platform Engineering — EPE-401</dc:title>
  <dc:creator>PaperJSX</dc:creator>
  <cp:lastModifiedBy>PaperJSX</cp:lastModifiedBy>
  <cp:revision>1</cp:revision>
  <dcterms:created xsi:type="dcterms:W3CDTF">2026-03-08T10:06:15Z</dcterms:created>
  <dcterms:modified xsi:type="dcterms:W3CDTF">2026-03-08T10:06:15Z</dcterms:modified>
</cp:coreProperties>
</file>