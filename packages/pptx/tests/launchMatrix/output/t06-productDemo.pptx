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png"/>
  <Relationship Id="rId4" Type="http://schemas.openxmlformats.org/officeDocument/2006/relationships/image" Target="../media/image1.png"/>
  <Relationship Id="rId5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1.png"/>
  <Relationship Id="rId4" Type="http://schemas.openxmlformats.org/officeDocument/2006/relationships/image" Target="../media/image2.png"/>
  <Relationship Id="rId5" Type="http://schemas.openxmlformats.org/officeDocument/2006/relationships/image" Target="../media/image1.png"/>
  <Relationship Id="rId6" Type="http://schemas.openxmlformats.org/officeDocument/2006/relationships/image" Target="../media/image2.png"/>
  <Relationship Id="rId7" Type="http://schemas.openxmlformats.org/officeDocument/2006/relationships/image" Target="../media/image1.png"/>
  <Relationship Id="rId8" Type="http://schemas.openxmlformats.org/officeDocument/2006/relationships/image" Target="../media/image2.png"/>
  <Relationship Id="rId9" Type="http://schemas.openxmlformats.org/officeDocument/2006/relationships/image" Target="../media/image1.png"/>
  <Relationship Id="rId10" Type="http://schemas.openxmlformats.org/officeDocument/2006/relationships/image" Target="../media/image2.png"/>
  <Relationship Id="rId11" Type="http://schemas.openxmlformats.org/officeDocument/2006/relationships/image" Target="../media/image1.png"/>
  <Relationship Id="rId12" Type="http://schemas.openxmlformats.org/officeDocument/2006/relationships/image" Target="../media/image2.png"/>
  <Relationship Id="rId13" Type="http://schemas.openxmlformats.org/officeDocument/2006/relationships/image" Target="../media/image1.png"/>
  <Relationship Id="rId14" Type="http://schemas.openxmlformats.org/officeDocument/2006/relationships/image" Target="../media/image2.png"/>
  <Relationship Id="rId15" Type="http://schemas.openxmlformats.org/officeDocument/2006/relationships/image" Target="../media/image1.png"/>
  <Relationship Id="rId16" Type="http://schemas.openxmlformats.org/officeDocument/2006/relationships/image" Target="../media/image2.png"/>
  <Relationship Id="rId17" Type="http://schemas.openxmlformats.org/officeDocument/2006/relationships/image" Target="../media/image1.png"/>
  <Relationship Id="rId18" Type="http://schemas.openxmlformats.org/officeDocument/2006/relationships/image" Target="../media/image2.png"/>
  <Relationship Id="rId19" Type="http://schemas.openxmlformats.org/officeDocument/2006/relationships/image" Target="../media/image1.png"/>
  <Relationship Id="rId20" Type="http://schemas.openxmlformats.org/officeDocument/2006/relationships/image" Target="../media/image2.png"/>
  <Relationship Id="rId21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312E8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366F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524000"/>
            <a:ext cx="7620000" cy="485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795"/>
              </a:lnSpc>
            </a:pPr>
            <a:r>
              <a:rPr lang="en-US" sz="3300" b="1" dirty="0">
                <a:solidFill>
                  <a:srgbClr val="FFFFFF"/>
                </a:solidFill>
                <a:latin typeface="Arial"/>
              </a:rPr>
              <a:t>NexusFlow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190750"/>
            <a:ext cx="66675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dirty="0">
                <a:solidFill>
                  <a:srgbClr val="818CF8"/>
                </a:solidFill>
                <a:latin typeface="Arial"/>
              </a:rPr>
              <a:t>Intelligent workflow orchestration for modern engineering teams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6670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64748B"/>
                </a:solidFill>
                <a:latin typeface="Arial"/>
              </a:rPr>
              <a:t>Product Demo  •  March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366F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952500"/>
            <a:ext cx="7620000" cy="6572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5175"/>
              </a:lnSpc>
            </a:pPr>
            <a:r>
              <a:rPr lang="en-US" sz="4500" b="1" dirty="0">
                <a:solidFill>
                  <a:srgbClr val="FFFFFF"/>
                </a:solidFill>
                <a:latin typeface="Arial"/>
              </a:rPr>
              <a:t>4.7×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333500" y="1905000"/>
            <a:ext cx="64770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dirty="0">
                <a:solidFill>
                  <a:srgbClr val="A5B4FC"/>
                </a:solidFill>
                <a:latin typeface="Arial"/>
              </a:rPr>
              <a:t>increase in CI/CD pipeline complexity since 2023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524000" y="2476500"/>
            <a:ext cx="6096000" cy="38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"/>
              </a:lnSpc>
            </a:pPr>
            <a:r>
              <a:rPr lang="en-US" sz="975" dirty="0">
                <a:solidFill>
                  <a:srgbClr val="64748B"/>
                </a:solidFill>
                <a:latin typeface="Arial"/>
              </a:rPr>
              <a:t>Engineering teams now manage an average of 14 microservices, 8 deployment targets, and 23 integration points per application. Legacy orchestration tools were not built for this level of complexity.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81000" y="4953000"/>
            <a:ext cx="1524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DORA State of DevOps Report 2025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Engineering teams are drowning in orchestration overhead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857250"/>
            <a:ext cx="3810000" cy="1143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1009650"/>
            <a:ext cx="3505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991B1B"/>
                </a:solidFill>
                <a:latin typeface="Arial"/>
              </a:rPr>
              <a:t>Fragmented Tooling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219200"/>
            <a:ext cx="3505200" cy="28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Teams juggle 5+ tools for CI/CD, monitoring, incident response, and deployments. Context switching wastes 11 hours per developer per week.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762500" y="857250"/>
            <a:ext cx="3810000" cy="1143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914900" y="1009650"/>
            <a:ext cx="3505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991B1B"/>
                </a:solidFill>
                <a:latin typeface="Arial"/>
              </a:rPr>
              <a:t>Slow Incident Response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14900" y="1219200"/>
            <a:ext cx="3505200" cy="28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Mean time to detection is 47 minutes. Runbook execution is manual and inconsistent, extending MTTR to over 2 hours for critical incidents.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2286000"/>
            <a:ext cx="8191500" cy="104775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3400" y="2438400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991B1B"/>
                </a:solidFill>
                <a:latin typeface="Arial"/>
              </a:rPr>
              <a:t>Deployment Bottleneck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33400" y="2647950"/>
            <a:ext cx="7886700" cy="19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Only 2 engineers can approve production deploys. Average deploy queue is 6 hours, causing feature delays and merge conflicts.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NexusFlow: One platform for your entire delivery lifecycle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952500"/>
            <a:ext cx="24765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110490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dirty="0">
                <a:solidFill>
                  <a:srgbClr val="000000"/>
                </a:solidFill>
                <a:latin typeface="Arial"/>
              </a:rPr>
              <a:t>🔄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466850"/>
            <a:ext cx="2171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Unified Orchestration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695450"/>
            <a:ext cx="2171700" cy="476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Connect CI/CD, infrastructure, monitoring, and incident response in a single declarative workflow engine.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1333500" y="1857375"/>
            <a:ext cx="571500" cy="28575"/>
          </a:xfrm>
          <a:prstGeom prst="rect">
            <a:avLst/>
          </a:prstGeom>
          <a:solidFill>
            <a:srgbClr val="6366F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3048000" y="952500"/>
            <a:ext cx="24765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200400" y="110490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dirty="0">
                <a:solidFill>
                  <a:srgbClr val="000000"/>
                </a:solidFill>
                <a:latin typeface="Arial"/>
              </a:rPr>
              <a:t>🤖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200400" y="1466850"/>
            <a:ext cx="2171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AI-Powered Automation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200400" y="1695450"/>
            <a:ext cx="2171700" cy="476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Intelligent runbook execution, auto-remediation, and predictive scaling reduce manual intervention by 80%.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4000500" y="1857375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5715000" y="952500"/>
            <a:ext cx="24765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867400" y="110490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dirty="0">
                <a:solidFill>
                  <a:srgbClr val="000000"/>
                </a:solidFill>
                <a:latin typeface="Arial"/>
              </a:rPr>
              <a:t>📊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867400" y="1466850"/>
            <a:ext cx="2171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Deep Observability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867400" y="1695450"/>
            <a:ext cx="2171700" cy="476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Trace every deployment from commit to production with unified logs, metrics, and distributed tracing.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6667500" y="1857375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Platform Architecture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0" y="762000"/>
            <a:ext cx="1428750" cy="66675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095750" y="981075"/>
            <a:ext cx="8572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Workflow Engine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4219575" y="1114425"/>
            <a:ext cx="6096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Declarative DAGs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1143000" y="2095500"/>
            <a:ext cx="1428750" cy="66675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524000" y="2314575"/>
            <a:ext cx="6667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Build Service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1581150" y="2447925"/>
            <a:ext cx="5524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CI/CD Pipelines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0" y="2095500"/>
            <a:ext cx="1428750" cy="66675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143375" y="2314575"/>
            <a:ext cx="762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Deploy Service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210050" y="2447925"/>
            <a:ext cx="6286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Multi-target rollout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6477000" y="2095500"/>
            <a:ext cx="1428750" cy="666750"/>
          </a:xfrm>
          <a:prstGeom prst="roundRect">
            <a:avLst/>
          </a:prstGeom>
          <a:solidFill>
            <a:srgbClr val="FCE7F3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6791325" y="2314575"/>
            <a:ext cx="800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Monitor Service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867525" y="2447925"/>
            <a:ext cx="6477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Observability stack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810000" y="3429000"/>
            <a:ext cx="1428750" cy="666750"/>
          </a:xfrm>
          <a:prstGeom prst="roundRect">
            <a:avLst/>
          </a:prstGeom>
          <a:solidFill>
            <a:srgbClr val="E0E7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267200" y="3648075"/>
            <a:ext cx="5143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Event Bus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4219575" y="3781425"/>
            <a:ext cx="6096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Async messaging</a:t>
            </a:r>
            <a:endParaRPr lang="en-US" dirty="0"/>
          </a:p>
        </p:txBody>
      </p:sp>
      <p:cxnSp>
        <p:nvCxnSpPr>
          <p:cNvPr id="19" name="Connector 19"/>
          <p:cNvCxnSpPr/>
          <p:nvPr/>
        </p:nvCxnSpPr>
        <p:spPr>
          <a:xfrm flipH="1">
            <a:off x="1857375" y="1428750"/>
            <a:ext cx="2667000" cy="666750"/>
          </a:xfrm>
          <a:prstGeom prst="line">
            <a:avLst/>
          </a:prstGeom>
          <a:ln w="14288">
            <a:solidFill>
              <a:srgbClr val="94A3B8"/>
            </a:solidFill>
            <a:tailEnd type="triangle"/>
          </a:ln>
        </p:spPr>
      </p:cxnSp>
      <p:cxnSp>
        <p:nvCxnSpPr>
          <p:cNvPr id="20" name="Connector 20"/>
          <p:cNvCxnSpPr/>
          <p:nvPr/>
        </p:nvCxnSpPr>
        <p:spPr>
          <a:xfrm>
            <a:off x="4524375" y="1428750"/>
            <a:ext cx="9525" cy="666750"/>
          </a:xfrm>
          <a:prstGeom prst="line">
            <a:avLst/>
          </a:prstGeom>
          <a:ln w="14288">
            <a:solidFill>
              <a:srgbClr val="94A3B8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>
            <a:off x="4524375" y="1428750"/>
            <a:ext cx="2667000" cy="666750"/>
          </a:xfrm>
          <a:prstGeom prst="line">
            <a:avLst/>
          </a:prstGeom>
          <a:ln w="14288">
            <a:solidFill>
              <a:srgbClr val="94A3B8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1857375" y="2762250"/>
            <a:ext cx="2667000" cy="666750"/>
          </a:xfrm>
          <a:prstGeom prst="line">
            <a:avLst/>
          </a:prstGeom>
          <a:ln w="14288">
            <a:solidFill>
              <a:srgbClr val="94A3B8"/>
            </a:solidFill>
            <a:tailEnd type="triangle"/>
          </a:ln>
        </p:spPr>
      </p:cxnSp>
      <p:cxnSp>
        <p:nvCxnSpPr>
          <p:cNvPr id="23" name="Connector 23"/>
          <p:cNvCxnSpPr/>
          <p:nvPr/>
        </p:nvCxnSpPr>
        <p:spPr>
          <a:xfrm>
            <a:off x="4524375" y="2762250"/>
            <a:ext cx="9525" cy="666750"/>
          </a:xfrm>
          <a:prstGeom prst="line">
            <a:avLst/>
          </a:prstGeom>
          <a:ln w="14288">
            <a:solidFill>
              <a:srgbClr val="94A3B8"/>
            </a:solidFill>
            <a:tailEnd type="triangle"/>
          </a:ln>
        </p:spPr>
      </p:cxnSp>
      <p:cxnSp>
        <p:nvCxnSpPr>
          <p:cNvPr id="24" name="Connector 24"/>
          <p:cNvCxnSpPr/>
          <p:nvPr/>
        </p:nvCxnSpPr>
        <p:spPr>
          <a:xfrm flipH="1">
            <a:off x="4524375" y="2762250"/>
            <a:ext cx="2667000" cy="666750"/>
          </a:xfrm>
          <a:prstGeom prst="line">
            <a:avLst/>
          </a:prstGeom>
          <a:ln w="14288">
            <a:solidFill>
              <a:srgbClr val="94A3B8"/>
            </a:solidFill>
            <a:tailEnd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See it in action: From commit to production in minutes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857250"/>
            <a:ext cx="1857375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09650"/>
            <a:ext cx="1524000" cy="8572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533400" y="1943100"/>
            <a:ext cx="155257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1. Push Code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2095500"/>
            <a:ext cx="1552575" cy="38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Commit triggers automated build pipeline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2476500" y="857250"/>
            <a:ext cx="1857375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9" name="Image 9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00" y="1009650"/>
            <a:ext cx="1524000" cy="8572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0" name="Text 10"/>
          <p:cNvSpPr txBox="1"/>
          <p:nvPr/>
        </p:nvSpPr>
        <p:spPr>
          <a:xfrm>
            <a:off x="2628900" y="1943100"/>
            <a:ext cx="155257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2. Test &amp; Scan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628900" y="2095500"/>
            <a:ext cx="1552575" cy="28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Parallel test suites and security scans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4572000" y="857250"/>
            <a:ext cx="1857375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3" name="Image 13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009650"/>
            <a:ext cx="1524000" cy="8572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4" name="Text 14"/>
          <p:cNvSpPr txBox="1"/>
          <p:nvPr/>
        </p:nvSpPr>
        <p:spPr>
          <a:xfrm>
            <a:off x="4724400" y="1943100"/>
            <a:ext cx="155257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3. Stage &amp; Validate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724400" y="2095500"/>
            <a:ext cx="1552575" cy="38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Canary deploy with automated health checks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667500" y="857250"/>
            <a:ext cx="1857375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7" name="Image 17"/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00" y="1009650"/>
            <a:ext cx="1524000" cy="8572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8" name="Text 18"/>
          <p:cNvSpPr txBox="1"/>
          <p:nvPr/>
        </p:nvSpPr>
        <p:spPr>
          <a:xfrm>
            <a:off x="6819900" y="1943100"/>
            <a:ext cx="155257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4. Ship to Prod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6819900" y="2095500"/>
            <a:ext cx="1552575" cy="28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Progressive rollout with instant rollback</a:t>
            </a:r>
            <a:endParaRPr lang="en-US" dirty="0"/>
          </a:p>
        </p:txBody>
      </p:sp>
      <p:cxnSp>
        <p:nvCxnSpPr>
          <p:cNvPr id="20" name="Connector 20"/>
          <p:cNvCxnSpPr/>
          <p:nvPr/>
        </p:nvCxnSpPr>
        <p:spPr>
          <a:xfrm>
            <a:off x="2238375" y="1952625"/>
            <a:ext cx="238125" cy="9525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>
            <a:off x="4333875" y="1952625"/>
            <a:ext cx="238125" cy="9525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6429375" y="1952625"/>
            <a:ext cx="238125" cy="9525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Workflow Builder — Visual pipeline configuration</a:t>
            </a:r>
            <a:endParaRPr lang="en-US" dirty="0"/>
          </a:p>
        </p:txBody>
      </p:sp>
      <p:pic>
        <p:nvPicPr>
          <p:cNvPr id="4" name="Image 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762000"/>
            <a:ext cx="7239000" cy="38100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5" name="Text 5"/>
          <p:cNvSpPr txBox="1"/>
          <p:nvPr/>
        </p:nvSpPr>
        <p:spPr>
          <a:xfrm>
            <a:off x="285750" y="857250"/>
            <a:ext cx="619125" cy="1714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6366F1"/>
                </a:solidFill>
                <a:latin typeface="Arial"/>
              </a:rPr>
              <a:t>DAG Editor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286750" y="1905000"/>
            <a:ext cx="666750" cy="1714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6366F1"/>
                </a:solidFill>
                <a:latin typeface="Arial"/>
              </a:rPr>
              <a:t>Stage Config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85750" y="3810000"/>
            <a:ext cx="619125" cy="17145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6366F1"/>
                </a:solidFill>
                <a:latin typeface="Arial"/>
              </a:rPr>
              <a:t>Live Preview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Observability Dashboard — Real-time deployment health</a:t>
            </a:r>
            <a:endParaRPr lang="en-US" dirty="0"/>
          </a:p>
        </p:txBody>
      </p:sp>
      <p:pic>
        <p:nvPicPr>
          <p:cNvPr id="4" name="Image 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762000"/>
            <a:ext cx="7239000" cy="38100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5" name="Text 5"/>
          <p:cNvSpPr txBox="1"/>
          <p:nvPr/>
        </p:nvSpPr>
        <p:spPr>
          <a:xfrm>
            <a:off x="285750" y="857250"/>
            <a:ext cx="619125" cy="17145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059669"/>
                </a:solidFill>
                <a:latin typeface="Arial"/>
              </a:rPr>
              <a:t>Service Map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286750" y="2381250"/>
            <a:ext cx="666750" cy="17145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059669"/>
                </a:solidFill>
                <a:latin typeface="Arial"/>
              </a:rPr>
              <a:t>Error Traces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8286750" y="4191000"/>
            <a:ext cx="762000" cy="17145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059669"/>
                </a:solidFill>
                <a:latin typeface="Arial"/>
              </a:rPr>
              <a:t>Latency Heatmap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DORA metrics transformation: from laggard to elite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285750" y="762000"/>
            <a:ext cx="4000500" cy="36195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38150" y="914400"/>
            <a:ext cx="3695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991B1B"/>
                </a:solidFill>
                <a:latin typeface="Arial"/>
              </a:rPr>
              <a:t>BEFORE NEXUSFLOW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38150" y="1133475"/>
            <a:ext cx="1619250" cy="666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809625" y="1238250"/>
            <a:ext cx="8763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C00000"/>
                </a:solidFill>
                <a:latin typeface="Arial"/>
              </a:rPr>
              <a:t>2/week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857250" y="1581150"/>
            <a:ext cx="781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Deploy Frequency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438150" y="1800225"/>
            <a:ext cx="1619250" cy="666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42950" y="1905000"/>
            <a:ext cx="10096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C00000"/>
                </a:solidFill>
                <a:latin typeface="Arial"/>
              </a:rPr>
              <a:t>127 min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1114425" y="2247900"/>
            <a:ext cx="266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MTTR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438150" y="2466975"/>
            <a:ext cx="1619250" cy="666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971550" y="2571750"/>
            <a:ext cx="5524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C00000"/>
                </a:solidFill>
                <a:latin typeface="Arial"/>
              </a:rPr>
              <a:t>18%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800100" y="2914650"/>
            <a:ext cx="8953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Change Failure Rate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38150" y="3133725"/>
            <a:ext cx="1619250" cy="666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52475" y="3238500"/>
            <a:ext cx="9906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C00000"/>
                </a:solidFill>
                <a:latin typeface="Arial"/>
              </a:rPr>
              <a:t>14 days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1019175" y="3581400"/>
            <a:ext cx="457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Lead Time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4762500" y="762000"/>
            <a:ext cx="4000500" cy="36195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4914900" y="914400"/>
            <a:ext cx="3695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166534"/>
                </a:solidFill>
                <a:latin typeface="Arial"/>
              </a:rPr>
              <a:t>AFTER NEXUSFLOW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4914900" y="1133475"/>
            <a:ext cx="1619250" cy="666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5305425" y="1171575"/>
            <a:ext cx="8382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12/day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334000" y="1514475"/>
            <a:ext cx="7810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Deploy Frequency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5600700" y="1643063"/>
            <a:ext cx="2476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↑ 42×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4914900" y="1800225"/>
            <a:ext cx="1619250" cy="666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372100" y="1838325"/>
            <a:ext cx="7048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8 min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591175" y="218122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MTTR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591175" y="2309813"/>
            <a:ext cx="266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↓ 94%</a:t>
            </a:r>
            <a:endParaRPr lang="en-US" dirty="0"/>
          </a:p>
        </p:txBody>
      </p:sp>
      <p:sp>
        <p:nvSpPr>
          <p:cNvPr id="28" name="View 28"/>
          <p:cNvSpPr/>
          <p:nvPr/>
        </p:nvSpPr>
        <p:spPr>
          <a:xfrm>
            <a:off x="4914900" y="2466975"/>
            <a:ext cx="1619250" cy="666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419725" y="2505075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2.1%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5276850" y="2847975"/>
            <a:ext cx="8953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Change Failure Rate</a:t>
            </a:r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5591175" y="2976563"/>
            <a:ext cx="266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↓ 88%</a:t>
            </a:r>
            <a:endParaRPr lang="en-US" dirty="0"/>
          </a:p>
        </p:txBody>
      </p:sp>
      <p:sp>
        <p:nvSpPr>
          <p:cNvPr id="32" name="View 32"/>
          <p:cNvSpPr/>
          <p:nvPr/>
        </p:nvSpPr>
        <p:spPr>
          <a:xfrm>
            <a:off x="4914900" y="3133725"/>
            <a:ext cx="1619250" cy="666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5295900" y="3171825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45 min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5495925" y="35147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Lead Time</a:t>
            </a:r>
            <a:endParaRPr lang="en-US" dirty="0"/>
          </a:p>
        </p:txBody>
      </p:sp>
      <p:sp>
        <p:nvSpPr>
          <p:cNvPr id="35" name="Text 35"/>
          <p:cNvSpPr txBox="1"/>
          <p:nvPr/>
        </p:nvSpPr>
        <p:spPr>
          <a:xfrm>
            <a:off x="5543550" y="3643313"/>
            <a:ext cx="361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↓ 99.8%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Connects to your entire stack — 200+ integrations</a:t>
            </a:r>
            <a:endParaRPr lang="en-US" dirty="0"/>
          </a:p>
        </p:txBody>
      </p:sp>
      <p:grpSp>
        <p:nvGrpSpPr>
          <p:cNvPr id="4" name="Group 4"/>
          <p:cNvGrpSpPr>
            <a:grpSpLocks noGrp="1"/>
          </p:cNvGrpSpPr>
          <p:nvPr/>
        </p:nvGrpSpPr>
        <p:grpSpPr>
          <a:xfrm>
            <a:off x="571500" y="857250"/>
            <a:ext cx="8001000" cy="3238500"/>
            <a:chOff x="0" y="0"/>
            <a:chExt cx="8001000" cy="3238500"/>
          </a:xfrm>
        </p:grpSpPr>
        <p:pic>
          <p:nvPicPr>
            <p:cNvPr id="5" name="Image 5"/>
            <p:cNvPicPr>
              <a:picLocks noGrp="1"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6" name="Image 6"/>
            <p:cNvPicPr>
              <a:picLocks noGrp="1"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9250" y="0"/>
              <a:ext cx="1514475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7" name="Image 7"/>
            <p:cNvPicPr>
              <a:picLocks noGrp="1"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8025" y="0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8" name="Image 8"/>
            <p:cNvPicPr>
              <a:picLocks noGrp="1"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7275" y="0"/>
              <a:ext cx="1514475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9" name="Image 9"/>
            <p:cNvPicPr>
              <a:picLocks noGrp="1"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6050" y="0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0" name="Image 10"/>
            <p:cNvPicPr>
              <a:picLocks noGrp="1"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09625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1" name="Image 11"/>
            <p:cNvPicPr>
              <a:picLocks noGrp="1"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9250" y="809625"/>
              <a:ext cx="1514475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2" name="Image 12"/>
            <p:cNvPicPr>
              <a:picLocks noGrp="1"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8025" y="809625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3" name="Image 13"/>
            <p:cNvPicPr>
              <a:picLocks noGrp="1"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7275" y="809625"/>
              <a:ext cx="1514475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4" name="Image 14"/>
            <p:cNvPicPr>
              <a:picLocks noGrp="1"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6050" y="809625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5" name="Image 15"/>
            <p:cNvPicPr>
              <a:picLocks noGrp="1"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19250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6" name="Image 16"/>
            <p:cNvPicPr>
              <a:picLocks noGrp="1"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9250" y="1619250"/>
              <a:ext cx="1514475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7" name="Image 17"/>
            <p:cNvPicPr>
              <a:picLocks noGrp="1"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8025" y="1619250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8" name="Image 18"/>
            <p:cNvPicPr>
              <a:picLocks noGrp="1"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7275" y="1619250"/>
              <a:ext cx="1514475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9" name="Image 19"/>
            <p:cNvPicPr>
              <a:picLocks noGrp="1"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6050" y="1619250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20" name="Image 20"/>
            <p:cNvPicPr>
              <a:picLocks noGrp="1"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428875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21" name="Image 21"/>
            <p:cNvPicPr>
              <a:picLocks noGrp="1"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9250" y="2428875"/>
              <a:ext cx="1514475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22" name="Image 22"/>
            <p:cNvPicPr>
              <a:picLocks noGrp="1"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8025" y="2428875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23" name="Image 23"/>
            <p:cNvPicPr>
              <a:picLocks noGrp="1"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7275" y="2428875"/>
              <a:ext cx="1514475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24" name="Image 24"/>
            <p:cNvPicPr>
              <a:picLocks noGrp="1"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6050" y="2428875"/>
              <a:ext cx="1504950" cy="695325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</p:grpSp>
      <p:sp>
        <p:nvSpPr>
          <p:cNvPr id="25" name="Text 25"/>
          <p:cNvSpPr txBox="1"/>
          <p:nvPr/>
        </p:nvSpPr>
        <p:spPr>
          <a:xfrm>
            <a:off x="762000" y="4286250"/>
            <a:ext cx="7620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GitHub  •  GitLab  •  Jenkins  •  AWS  •  GCP  •  Azure  •  Datadog  •  PagerDuty  •  Slack  •  Jira  •  and 190 more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Teams ship faster and sleep better with NexusFlow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952500"/>
            <a:ext cx="257175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110490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FinServ Global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314450"/>
            <a:ext cx="22669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94%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647825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reduction in MTTR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847850"/>
            <a:ext cx="2266950" cy="476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675" i="1" dirty="0">
                <a:solidFill>
                  <a:srgbClr val="94A3B8"/>
                </a:solidFill>
                <a:latin typeface="Arial"/>
              </a:rPr>
              <a:t>"NexusFlow cut our incident response from hours to minutes. Our on-call engineers finally get uninterrupted sleep."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3143250" y="952500"/>
            <a:ext cx="257175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295650" y="110490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HealthTech Inc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295650" y="1314450"/>
            <a:ext cx="22669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50×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295650" y="1647825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more deploys per week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295650" y="1847850"/>
            <a:ext cx="2266950" cy="476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675" i="1" dirty="0">
                <a:solidFill>
                  <a:srgbClr val="94A3B8"/>
                </a:solidFill>
                <a:latin typeface="Arial"/>
              </a:rPr>
              <a:t>"We went from weekly releases to continuous deployment. The rollback safety net gave us the confidence to ship fast."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5905500" y="952500"/>
            <a:ext cx="257175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057900" y="110490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RetailOS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057900" y="1314450"/>
            <a:ext cx="22669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$2.4M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057900" y="1647825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saved in engineering time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057900" y="1847850"/>
            <a:ext cx="2266950" cy="428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675" i="1" dirty="0">
                <a:solidFill>
                  <a:srgbClr val="94A3B8"/>
                </a:solidFill>
                <a:latin typeface="Arial"/>
              </a:rPr>
              <a:t>"Automated orchestration freed up 8 engineers worth of capacity. We reinvested that into product development."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312E8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366F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333500"/>
            <a:ext cx="76200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Start Your Free Trial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333500" y="1905000"/>
            <a:ext cx="64770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552"/>
              </a:lnSpc>
            </a:pPr>
            <a:r>
              <a:rPr lang="en-US" sz="1350" dirty="0">
                <a:solidFill>
                  <a:srgbClr val="A5B4FC"/>
                </a:solidFill>
                <a:latin typeface="Arial"/>
              </a:rPr>
              <a:t>14 days, no credit card required. Full platform access.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238500" y="2476500"/>
            <a:ext cx="2667000" cy="476250"/>
          </a:xfrm>
          <a:prstGeom prst="roundRect">
            <a:avLst/>
          </a:prstGeom>
          <a:solidFill>
            <a:srgbClr val="6366F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933825" y="2619375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380"/>
              </a:lnSpc>
            </a:pPr>
            <a:r>
              <a:rPr lang="en-US" sz="1200" b="1" dirty="0">
                <a:solidFill>
                  <a:srgbClr val="FFFFFF"/>
                </a:solidFill>
                <a:latin typeface="Arial"/>
              </a:rPr>
              <a:t>Request Demo →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3238500"/>
            <a:ext cx="7620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dirty="0">
                <a:solidFill>
                  <a:srgbClr val="818CF8"/>
                </a:solidFill>
                <a:latin typeface="Arial"/>
              </a:rPr>
              <a:t>nexusflow.io/demo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3714750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dirty="0">
                <a:solidFill>
                  <a:srgbClr val="64748B"/>
                </a:solidFill>
                <a:latin typeface="Arial"/>
              </a:rPr>
              <a:t>Alex Rivera, Solutions Engineer  •  alex@nexusflow.io  •  +1 (628) 555-0198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62000" y="3952875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dirty="0">
                <a:solidFill>
                  <a:srgbClr val="64748B"/>
                </a:solidFill>
                <a:latin typeface="Arial"/>
              </a:rPr>
              <a:t>Maya Patel, Account Executive  •  maya@nexusflow.io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NexusFlow — Product Demo</dc:title>
  <dc:creator>PaperJSX</dc:creator>
  <cp:lastModifiedBy>PaperJSX</cp:lastModifiedBy>
  <cp:revision>1</cp:revision>
  <dcterms:created xsi:type="dcterms:W3CDTF">2026-03-08T10:06:15Z</dcterms:created>
  <dcterms:modified xsi:type="dcterms:W3CDTF">2026-03-08T10:06:15Z</dcterms:modified>
</cp:coreProperties>
</file>