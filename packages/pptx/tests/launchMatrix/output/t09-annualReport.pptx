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webp" ContentType="image/webp"/>
  <Default Extension="tiff" ContentType="image/tiff"/>
  <Default Extension="bmp" ContentType="image/bmp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Ex1.xml" ContentType="application/vnd.ms-office.chartEx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5" Type="http://schemas.openxmlformats.org/package/2006/relationships/metadata/thumbnail" Target="docProps/thumbnail.jpeg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5143500" type="custom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slide" Target="slides/slide15.xml"/>
  <Relationship Id="rId18" Type="http://schemas.openxmlformats.org/officeDocument/2006/relationships/slide" Target="slides/slide16.xml"/>
  <Relationship Id="rId19" Type="http://schemas.openxmlformats.org/officeDocument/2006/relationships/presProps" Target="presProps.xml"/>
  <Relationship Id="rId20" Type="http://schemas.openxmlformats.org/officeDocument/2006/relationships/viewProps" Target="viewProps.xml"/>
  <Relationship Id="rId21" Type="http://schemas.openxmlformats.org/officeDocument/2006/relationships/tableStyles" Target="tableStyles.xml"/>
</Relationships>
</file>

<file path=ppt/charts/_rels/chart1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1.xlsx"/>
</Relationships>
</file>

<file path=ppt/charts/_rels/chart2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2.xlsx"/>
</Relationships>
</file>

<file path=ppt/charts/_rels/chart3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3.xlsx"/>
</Relationships>
</file>

<file path=ppt/charts/_rels/chart4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4.xlsx"/>
</Relationships>
</file>

<file path=ppt/charts/_rels/chart5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5.xlsx"/>
</Relationships>
</file>

<file path=ppt/charts/_rels/chart6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6.xlsx"/>
</Relationships>
</file>

<file path=ppt/charts/_rels/chart7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7.xlsx"/>
</Relationships>
</file>

<file path=ppt/charts/_rels/chart8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8.xlsx"/>
</Relationships>
</file>

<file path=ppt/charts/_rels/chart9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9.xlsx"/>
</Relationships>
</file>

<file path=ppt/charts/_rels/chart10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10.xlsx"/>
</Relationships>
</file>

<file path=ppt/charts/_rels/chartEx1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Ex1.xlsx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003DA5"/>
            </a:solidFill>
          </c:spPr>
          <c:cat>
            <c:strRef>
              <c:f>Sheet1!$A$2:$A$6</c:f>
              <c:strCache>
                <c:ptCount val="5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</c:v>
                </c:pt>
                <c:pt idx="1">
                  <c:v>145</c:v>
                </c:pt>
                <c:pt idx="2">
                  <c:v>178</c:v>
                </c:pt>
                <c:pt idx="3">
                  <c:v>210</c:v>
                </c:pt>
                <c:pt idx="4">
                  <c:v>255</c:v>
                </c:pt>
              </c:numCache>
            </c:numRef>
          </c:val>
        </c:ser>
        <c:axId val="111111111"/>
        <c:axId val="22222222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Growth Rate (%)</c:v>
                </c:pt>
              </c:strCache>
            </c:strRef>
          </c:tx>
          <c:spPr>
            <a:solidFill>
              <a:srgbClr val="FF6600"/>
            </a:solidFill>
          </c:spPr>
          <c:cat>
            <c:strRef>
              <c:f>Sheet1!$A$2:$A$6</c:f>
              <c:strCache>
                <c:ptCount val="5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18</c:v>
                </c:pt>
                <c:pt idx="1">
                  <c:v>21</c:v>
                </c:pt>
                <c:pt idx="2">
                  <c:v>23</c:v>
                </c:pt>
                <c:pt idx="3">
                  <c:v>18</c:v>
                </c:pt>
                <c:pt idx="4">
                  <c:v>21</c:v>
                </c:pt>
              </c:numCache>
            </c:numRef>
          </c:val>
        </c:ser>
        <c:marker val="0"/>
        <c:axId val="111111111"/>
        <c:axId val="555555555"/>
      </c:line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lang="en-US" sz="750">
                    <a:solidFill>
                      <a:srgbClr val="000000"/>
                    </a:solidFill>
                    <a:latin typeface="Calibri"/>
                  </a:rPr>
                  <a:t>Revenue ($M)</a:t>
                </a:r>
              </a:p>
            </c:rich>
          </c:tx>
          <c:overlay val="0"/>
        </c:title>
        <c:numFmt formatCode="$#,##0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catAx>
        <c:axId val="666666666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555555555"/>
        <c:crosses val="autoZero"/>
        <c:auto val="1"/>
        <c:lblAlgn val="ctr"/>
        <c:lblOffset val="100"/>
      </c:catAx>
      <c:valAx>
        <c:axId val="555555555"/>
        <c:scaling>
          <c:orientation val="minMax"/>
        </c:scaling>
        <c:delete val="0"/>
        <c:axPos val="r"/>
        <c:title>
          <c:tx>
            <c:rich>
              <a:bodyPr/>
              <a:lstStyle/>
              <a:p>
                <a:r>
                  <a:rPr lang="en-US" sz="750">
                    <a:solidFill>
                      <a:srgbClr val="000000"/>
                    </a:solidFill>
                    <a:latin typeface="Calibri"/>
                  </a:rPr>
                  <a:t>YoY Growth</a:t>
                </a:r>
              </a:p>
            </c:rich>
          </c:tx>
          <c:overlay val="0"/>
        </c:title>
        <c:numFmt formatCode="0%" sourceLinked="0"/>
        <c:majorTickMark val="out"/>
        <c:minorTickMark val="none"/>
        <c:tickLblPos val="nextTo"/>
        <c:spPr>
          <a:noFill/>
          <a:ln>
            <a:noFill/>
          </a:ln>
        </c:spPr>
        <c:crossAx val="666666666"/>
        <c:crosses val="max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Sheet1!$A$2:$A$12</c:f>
              <c:strCache>
                <c:ptCount val="11"/>
                <c:pt idx="0">
                  <c:v>Revenue</c:v>
                </c:pt>
                <c:pt idx="1">
                  <c:v>COGS</c:v>
                </c:pt>
                <c:pt idx="2">
                  <c:v>Gross Profit</c:v>
                </c:pt>
                <c:pt idx="3">
                  <c:v>R&amp;D</c:v>
                </c:pt>
                <c:pt idx="4">
                  <c:v>Sales &amp; Marketing</c:v>
                </c:pt>
                <c:pt idx="5">
                  <c:v>G&amp;A</c:v>
                </c:pt>
                <c:pt idx="6">
                  <c:v>EBITDA</c:v>
                </c:pt>
                <c:pt idx="7">
                  <c:v>D&amp;A</c:v>
                </c:pt>
                <c:pt idx="8">
                  <c:v>Interest</c:v>
                </c:pt>
                <c:pt idx="9">
                  <c:v>Tax</c:v>
                </c:pt>
                <c:pt idx="10">
                  <c:v>Net Income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173</c:v>
                </c:pt>
                <c:pt idx="2">
                  <c:v>0</c:v>
                </c:pt>
                <c:pt idx="3">
                  <c:v>88</c:v>
                </c:pt>
                <c:pt idx="4">
                  <c:v>50</c:v>
                </c:pt>
                <c:pt idx="5">
                  <c:v>32</c:v>
                </c:pt>
                <c:pt idx="6">
                  <c:v>0</c:v>
                </c:pt>
                <c:pt idx="7">
                  <c:v>18</c:v>
                </c:pt>
                <c:pt idx="8">
                  <c:v>15</c:v>
                </c:pt>
                <c:pt idx="9">
                  <c:v>11</c:v>
                </c:pt>
                <c:pt idx="10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00B050"/>
            </a:solidFill>
          </c:spPr>
          <c:dPt>
            <c:idx val="2"/>
            <c:spPr>
              <a:solidFill>
                <a:srgbClr val="003DA5"/>
              </a:solidFill>
            </c:spPr>
          </c:dPt>
          <c:dPt>
            <c:idx val="6"/>
            <c:spPr>
              <a:solidFill>
                <a:srgbClr val="003DA5"/>
              </a:solidFill>
            </c:spPr>
          </c:dPt>
          <c:dPt>
            <c:idx val="10"/>
            <c:spPr>
              <a:solidFill>
                <a:srgbClr val="003DA5"/>
              </a:solidFill>
            </c:spPr>
          </c:dPt>
          <c:cat>
            <c:strRef>
              <c:f>Sheet1!$A$2:$A$12</c:f>
              <c:strCache>
                <c:ptCount val="11"/>
                <c:pt idx="0">
                  <c:v>Revenue</c:v>
                </c:pt>
                <c:pt idx="1">
                  <c:v>COGS</c:v>
                </c:pt>
                <c:pt idx="2">
                  <c:v>Gross Profit</c:v>
                </c:pt>
                <c:pt idx="3">
                  <c:v>R&amp;D</c:v>
                </c:pt>
                <c:pt idx="4">
                  <c:v>Sales &amp; Marketing</c:v>
                </c:pt>
                <c:pt idx="5">
                  <c:v>G&amp;A</c:v>
                </c:pt>
                <c:pt idx="6">
                  <c:v>EBITDA</c:v>
                </c:pt>
                <c:pt idx="7">
                  <c:v>D&amp;A</c:v>
                </c:pt>
                <c:pt idx="8">
                  <c:v>Interest</c:v>
                </c:pt>
                <c:pt idx="9">
                  <c:v>Tax</c:v>
                </c:pt>
                <c:pt idx="10">
                  <c:v>Net Income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255</c:v>
                </c:pt>
                <c:pt idx="1">
                  <c:v>0</c:v>
                </c:pt>
                <c:pt idx="2">
                  <c:v>173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32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11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C00000"/>
            </a:solidFill>
          </c:spPr>
          <c:cat>
            <c:strRef>
              <c:f>Sheet1!$A$2:$A$12</c:f>
              <c:strCache>
                <c:ptCount val="11"/>
                <c:pt idx="0">
                  <c:v>Revenue</c:v>
                </c:pt>
                <c:pt idx="1">
                  <c:v>COGS</c:v>
                </c:pt>
                <c:pt idx="2">
                  <c:v>Gross Profit</c:v>
                </c:pt>
                <c:pt idx="3">
                  <c:v>R&amp;D</c:v>
                </c:pt>
                <c:pt idx="4">
                  <c:v>Sales &amp; Marketing</c:v>
                </c:pt>
                <c:pt idx="5">
                  <c:v>G&amp;A</c:v>
                </c:pt>
                <c:pt idx="6">
                  <c:v>EBITDA</c:v>
                </c:pt>
                <c:pt idx="7">
                  <c:v>D&amp;A</c:v>
                </c:pt>
                <c:pt idx="8">
                  <c:v>Interest</c:v>
                </c:pt>
                <c:pt idx="9">
                  <c:v>Tax</c:v>
                </c:pt>
                <c:pt idx="10">
                  <c:v>Net Income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</c:v>
                </c:pt>
                <c:pt idx="1">
                  <c:v>82</c:v>
                </c:pt>
                <c:pt idx="2">
                  <c:v>0</c:v>
                </c:pt>
                <c:pt idx="3">
                  <c:v>85</c:v>
                </c:pt>
                <c:pt idx="4">
                  <c:v>38</c:v>
                </c:pt>
                <c:pt idx="5">
                  <c:v>18</c:v>
                </c:pt>
                <c:pt idx="6">
                  <c:v>0</c:v>
                </c:pt>
                <c:pt idx="7">
                  <c:v>14</c:v>
                </c:pt>
                <c:pt idx="8">
                  <c:v>3</c:v>
                </c:pt>
                <c:pt idx="9">
                  <c:v>4</c:v>
                </c:pt>
                <c:pt idx="10">
                  <c:v>0</c:v>
                </c:pt>
              </c:numCache>
            </c:numRef>
          </c:val>
        </c:ser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lang="en-US" sz="750">
                    <a:solidFill>
                      <a:srgbClr val="000000"/>
                    </a:solidFill>
                    <a:latin typeface="Calibri"/>
                  </a:rPr>
                  <a:t>$ Millions</a:t>
                </a:r>
              </a:p>
            </c:rich>
          </c:tx>
          <c:overlay val="0"/>
        </c:title>
        <c:numFmt formatCode="$#,##0M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noFill/>
        <a:ln>
          <a:noFill/>
        </a:ln>
      </c:spPr>
    </c:plotArea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Market Share</c:v>
                </c:pt>
              </c:strCache>
            </c:strRef>
          </c:tx>
          <c:dPt>
            <c:idx val="0"/>
            <c:spPr>
              <a:solidFill>
                <a:srgbClr val="003DA5"/>
              </a:solidFill>
            </c:spPr>
          </c:dPt>
          <c:dPt>
            <c:idx val="1"/>
            <c:spPr>
              <a:solidFill>
                <a:srgbClr val="94A3B8"/>
              </a:solidFill>
            </c:spPr>
          </c:dPt>
          <c:dPt>
            <c:idx val="2"/>
            <c:spPr>
              <a:solidFill>
                <a:srgbClr val="64748B"/>
              </a:solidFill>
            </c:spPr>
          </c:dPt>
          <c:dPt>
            <c:idx val="3"/>
            <c:spPr>
              <a:solidFill>
                <a:srgbClr val="CBD5E1"/>
              </a:solidFill>
            </c:spPr>
          </c:dPt>
          <c:dPt>
            <c:idx val="4"/>
            <c:spPr>
              <a:solidFill>
                <a:srgbClr val="E2E8F0"/>
              </a:solidFill>
            </c:spPr>
          </c:dPt>
          <c:cat>
            <c:strRef>
              <c:f>Sheet1!$A$2:$A$6</c:f>
              <c:strCache>
                <c:ptCount val="5"/>
                <c:pt idx="0">
                  <c:v>Accelion</c:v>
                </c:pt>
                <c:pt idx="1">
                  <c:v>CompetitorA</c:v>
                </c:pt>
                <c:pt idx="2">
                  <c:v>CompetitorB</c:v>
                </c:pt>
                <c:pt idx="3">
                  <c:v>CompetitorC</c:v>
                </c:pt>
                <c:pt idx="4">
                  <c:v>Others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18.5</c:v>
                </c:pt>
                <c:pt idx="1">
                  <c:v>24.2</c:v>
                </c:pt>
                <c:pt idx="2">
                  <c:v>15.8</c:v>
                </c:pt>
                <c:pt idx="3">
                  <c:v>12.1</c:v>
                </c:pt>
                <c:pt idx="4">
                  <c:v>29.4</c:v>
                </c:pt>
              </c:numCache>
            </c:numRef>
          </c:val>
        </c:ser>
        <c:dLbls>
          <c:txPr>
            <a:bodyPr/>
            <a:lstStyle/>
            <a:p>
              <a:pPr>
                <a:defRPr sz="750">
                  <a:latin typeface="Calibri"/>
                </a:defRPr>
              </a:pPr>
              <a:endParaRPr lang="en-US" dirty="0"/>
            </a:p>
          </c:txPr>
          <c:dLblPos val="outEnd"/>
          <c:showLegendKey val="0"/>
          <c:showVal val="1"/>
          <c:showCatName val="1"/>
          <c:showSerName val="0"/>
          <c:showPercent val="0"/>
          <c:showBubbleSize val="0"/>
        </c:dLbls>
      </c:pieChart>
      <c:spPr>
        <a:noFill/>
        <a:ln>
          <a:noFill/>
        </a:ln>
      </c:spPr>
    </c:plotArea>
    <c:legend>
      <c:legendPos val="b"/>
      <c:overlay val="0"/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North America</c:v>
                </c:pt>
              </c:strCache>
            </c:strRef>
          </c:tx>
          <c:spPr>
            <a:solidFill>
              <a:srgbClr val="003DA5"/>
            </a:solidFill>
          </c:spPr>
          <c:cat>
            <c:strRef>
              <c:f>Sheet1!$A$2:$A$6</c:f>
              <c:strCache>
                <c:ptCount val="5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62</c:v>
                </c:pt>
                <c:pt idx="1">
                  <c:v>72</c:v>
                </c:pt>
                <c:pt idx="2">
                  <c:v>86</c:v>
                </c:pt>
                <c:pt idx="3">
                  <c:v>102</c:v>
                </c:pt>
                <c:pt idx="4">
                  <c:v>118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Europe</c:v>
                </c:pt>
              </c:strCache>
            </c:strRef>
          </c:tx>
          <c:spPr>
            <a:solidFill>
              <a:srgbClr val="0070C0"/>
            </a:solidFill>
          </c:spPr>
          <c:cat>
            <c:strRef>
              <c:f>Sheet1!$A$2:$A$6</c:f>
              <c:strCache>
                <c:ptCount val="5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28</c:v>
                </c:pt>
                <c:pt idx="1">
                  <c:v>35</c:v>
                </c:pt>
                <c:pt idx="2">
                  <c:v>44</c:v>
                </c:pt>
                <c:pt idx="3">
                  <c:v>52</c:v>
                </c:pt>
                <c:pt idx="4">
                  <c:v>68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Asia-Pacific</c:v>
                </c:pt>
              </c:strCache>
            </c:strRef>
          </c:tx>
          <c:spPr>
            <a:solidFill>
              <a:srgbClr val="00B050"/>
            </a:solidFill>
          </c:spPr>
          <c:cat>
            <c:strRef>
              <c:f>Sheet1!$A$2:$A$6</c:f>
              <c:strCache>
                <c:ptCount val="5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18</c:v>
                </c:pt>
                <c:pt idx="1">
                  <c:v>24</c:v>
                </c:pt>
                <c:pt idx="2">
                  <c:v>32</c:v>
                </c:pt>
                <c:pt idx="3">
                  <c:v>38</c:v>
                </c:pt>
                <c:pt idx="4">
                  <c:v>48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Rest of World</c:v>
                </c:pt>
              </c:strCache>
            </c:strRef>
          </c:tx>
          <c:spPr>
            <a:solidFill>
              <a:srgbClr val="FFC000"/>
            </a:solidFill>
          </c:spPr>
          <c:cat>
            <c:strRef>
              <c:f>Sheet1!$A$2:$A$6</c:f>
              <c:strCache>
                <c:ptCount val="5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12</c:v>
                </c:pt>
                <c:pt idx="1">
                  <c:v>14</c:v>
                </c:pt>
                <c:pt idx="2">
                  <c:v>16</c:v>
                </c:pt>
                <c:pt idx="3">
                  <c:v>18</c:v>
                </c:pt>
                <c:pt idx="4">
                  <c:v>21</c:v>
                </c:pt>
              </c:numCache>
            </c:numRef>
          </c:val>
        </c:ser>
        <c:axId val="111111111"/>
        <c:axId val="222222222"/>
      </c:area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lang="en-US" sz="750">
                    <a:solidFill>
                      <a:srgbClr val="000000"/>
                    </a:solidFill>
                    <a:latin typeface="Calibri"/>
                  </a:rPr>
                  <a:t>Revenue ($M)</a:t>
                </a:r>
              </a:p>
            </c:rich>
          </c:tx>
          <c:overlay val="0"/>
        </c:title>
        <c:numFmt formatCode="$#,##0M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Headcount</c:v>
                </c:pt>
              </c:strCache>
            </c:strRef>
          </c:tx>
          <c:dPt>
            <c:idx val="0"/>
            <c:spPr>
              <a:solidFill>
                <a:srgbClr val="003DA5"/>
              </a:solidFill>
            </c:spPr>
          </c:dPt>
          <c:dPt>
            <c:idx val="1"/>
            <c:spPr>
              <a:solidFill>
                <a:srgbClr val="0070C0"/>
              </a:solidFill>
            </c:spPr>
          </c:dPt>
          <c:dPt>
            <c:idx val="2"/>
            <c:spPr>
              <a:solidFill>
                <a:srgbClr val="00B050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dPt>
            <c:idx val="4"/>
            <c:spPr>
              <a:solidFill>
                <a:srgbClr val="FF6600"/>
              </a:solidFill>
            </c:spPr>
          </c:dPt>
          <c:dPt>
            <c:idx val="5"/>
            <c:spPr>
              <a:solidFill>
                <a:srgbClr val="C00000"/>
              </a:solidFill>
            </c:spPr>
          </c:dPt>
          <c:cat>
            <c:strRef>
              <c:f>Sheet1!$A$2:$A$7</c:f>
              <c:strCache>
                <c:ptCount val="6"/>
                <c:pt idx="0">
                  <c:v>Engineering</c:v>
                </c:pt>
                <c:pt idx="1">
                  <c:v>Sales &amp; Marketing</c:v>
                </c:pt>
                <c:pt idx="2">
                  <c:v>Customer Success</c:v>
                </c:pt>
                <c:pt idx="3">
                  <c:v>G&amp;A</c:v>
                </c:pt>
                <c:pt idx="4">
                  <c:v>Product</c:v>
                </c:pt>
                <c:pt idx="5">
                  <c:v>People Ops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680</c:v>
                </c:pt>
                <c:pt idx="1">
                  <c:v>420</c:v>
                </c:pt>
                <c:pt idx="2">
                  <c:v>310</c:v>
                </c:pt>
                <c:pt idx="3">
                  <c:v>185</c:v>
                </c:pt>
                <c:pt idx="4">
                  <c:v>155</c:v>
                </c:pt>
                <c:pt idx="5">
                  <c:v>100</c:v>
                </c:pt>
              </c:numCache>
            </c:numRef>
          </c:val>
        </c:ser>
        <c:dLbls>
          <c:txPr>
            <a:bodyPr/>
            <a:lstStyle/>
            <a:p>
              <a:pPr>
                <a:defRPr sz="675">
                  <a:latin typeface="Calibri"/>
                </a:defRPr>
              </a:pPr>
              <a:endParaRPr lang="en-US" dirty="0"/>
            </a:p>
          </c:txPr>
          <c:showLegendKey val="0"/>
          <c:showVal val="1"/>
          <c:showCatName val="1"/>
          <c:showSerName val="0"/>
          <c:showPercent val="0"/>
          <c:showBubbleSize val="0"/>
        </c:dLbls>
        <c:holeSize val="60"/>
      </c:doughnutChart>
      <c:spPr>
        <a:noFill/>
        <a:ln>
          <a:noFill/>
        </a:ln>
      </c:spPr>
    </c:plotArea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</c:v>
                </c:pt>
              </c:strCache>
            </c:strRef>
          </c:tx>
          <c:spPr>
            <a:solidFill>
              <a:srgbClr val="4472C4"/>
            </a:solidFill>
          </c:spPr>
          <c:dPt>
            <c:idx val="0"/>
            <c:spPr>
              <a:solidFill>
                <a:srgbClr val="003DA5"/>
              </a:solidFill>
            </c:spPr>
          </c:dPt>
          <c:dPt>
            <c:idx val="1"/>
            <c:spPr>
              <a:solidFill>
                <a:srgbClr val="0070C0"/>
              </a:solidFill>
            </c:spPr>
          </c:dPt>
          <c:dPt>
            <c:idx val="2"/>
            <c:spPr>
              <a:solidFill>
                <a:srgbClr val="00B050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dPt>
            <c:idx val="4"/>
            <c:spPr>
              <a:solidFill>
                <a:srgbClr val="FF6600"/>
              </a:solidFill>
            </c:spPr>
          </c:dPt>
          <c:cat>
            <c:strRef>
              <c:f>Sheet1!$A$2:$A$6</c:f>
              <c:strCache>
                <c:ptCount val="5"/>
                <c:pt idx="0">
                  <c:v>Women in Workforce</c:v>
                </c:pt>
                <c:pt idx="1">
                  <c:v>Women in Leadership</c:v>
                </c:pt>
                <c:pt idx="2">
                  <c:v>Underrepresented Minorities</c:v>
                </c:pt>
                <c:pt idx="3">
                  <c:v>Veterans</c:v>
                </c:pt>
                <c:pt idx="4">
                  <c:v>Employees with Disabilities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</c:v>
                </c:pt>
                <c:pt idx="1">
                  <c:v>35</c:v>
                </c:pt>
                <c:pt idx="2">
                  <c:v>28</c:v>
                </c:pt>
                <c:pt idx="3">
                  <c:v>6</c:v>
                </c:pt>
                <c:pt idx="4">
                  <c:v>8</c:v>
                </c:pt>
              </c:numCache>
            </c:numRef>
          </c:val>
        </c:ser>
        <c:dLbls>
          <c:txPr>
            <a:bodyPr/>
            <a:lstStyle/>
            <a:p>
              <a:pPr>
                <a:defRPr sz="675">
                  <a:latin typeface="Calibri"/>
                </a:defRPr>
              </a:pPr>
              <a:endParaRPr lang="en-US" dirty="0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axId val="111111111"/>
        <c:axId val="222222222"/>
      </c:barChart>
      <c:catAx>
        <c:axId val="111111111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  <c:max val="50"/>
        </c:scaling>
        <c:delete val="0"/>
        <c:axPos val="b"/>
        <c:majorGridlines/>
        <c:numFmt formatCode="0%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noFill/>
        <a:ln>
          <a:noFill/>
        </a:ln>
      </c:spPr>
    </c:plotArea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Carbon Intensity</c:v>
                </c:pt>
              </c:strCache>
            </c:strRef>
          </c:tx>
          <c:spPr>
            <a:solidFill>
              <a:srgbClr val="00B050"/>
            </a:solidFill>
          </c:spPr>
          <c:cat>
            <c:strRef>
              <c:f>Sheet1!$A$2:$A$6</c:f>
              <c:strCache>
                <c:ptCount val="5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</c:v>
                </c:pt>
                <c:pt idx="1">
                  <c:v>42</c:v>
                </c:pt>
                <c:pt idx="2">
                  <c:v>35</c:v>
                </c:pt>
                <c:pt idx="3">
                  <c:v>28</c:v>
                </c:pt>
                <c:pt idx="4">
                  <c:v>18</c:v>
                </c:pt>
              </c:numCache>
            </c:numRef>
          </c:val>
        </c:ser>
        <c:dLbls>
          <c:txPr>
            <a:bodyPr/>
            <a:lstStyle/>
            <a:p>
              <a:pPr>
                <a:defRPr sz="600">
                  <a:latin typeface="Calibri"/>
                </a:defRPr>
              </a:pPr>
              <a:endParaRPr lang="en-US" dirty="0"/>
            </a:p>
          </c:txPr>
          <c:showLegendKey val="0"/>
          <c:showVal val="1"/>
          <c:showCatName val="0"/>
          <c:showSerName val="0"/>
          <c:showPercent val="0"/>
          <c:showBubbleSize val="0"/>
        </c:dLbls>
        <c:marker val="0"/>
        <c:axId val="111111111"/>
        <c:axId val="222222222"/>
      </c:line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lang="en-US" sz="750">
                    <a:solidFill>
                      <a:srgbClr val="000000"/>
                    </a:solidFill>
                    <a:latin typeface="Calibri"/>
                  </a:rPr>
                  <a:t>tCO₂e/$M Rev</a:t>
                </a:r>
              </a:p>
            </c:rich>
          </c:tx>
          <c:overlay val="0"/>
        </c:title>
        <c:numFmt formatCode="#,##0.0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noFill/>
        <a:ln>
          <a:noFill/>
        </a:ln>
      </c:spPr>
    </c:plotArea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Renewable Energy</c:v>
                </c:pt>
              </c:strCache>
            </c:strRef>
          </c:tx>
          <c:spPr>
            <a:solidFill>
              <a:srgbClr val="0070C0"/>
            </a:solidFill>
          </c:spPr>
          <c:cat>
            <c:strRef>
              <c:f>Sheet1!$A$2:$A$6</c:f>
              <c:strCache>
                <c:ptCount val="5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60</c:v>
                </c:pt>
                <c:pt idx="1">
                  <c:v>72</c:v>
                </c:pt>
                <c:pt idx="2">
                  <c:v>85</c:v>
                </c:pt>
                <c:pt idx="3">
                  <c:v>94</c:v>
                </c:pt>
                <c:pt idx="4">
                  <c:v>100</c:v>
                </c:pt>
              </c:numCache>
            </c:numRef>
          </c:val>
        </c:ser>
        <c:dLbls>
          <c:txPr>
            <a:bodyPr/>
            <a:lstStyle/>
            <a:p>
              <a:pPr>
                <a:defRPr sz="600">
                  <a:latin typeface="Calibri"/>
                </a:defRPr>
              </a:pPr>
              <a:endParaRPr lang="en-US" dirty="0"/>
            </a:p>
          </c:txPr>
          <c:showLegendKey val="0"/>
          <c:showVal val="1"/>
          <c:showCatName val="0"/>
          <c:showSerName val="0"/>
          <c:showPercent val="0"/>
          <c:showBubbleSize val="0"/>
        </c:dLbls>
        <c:marker val="0"/>
        <c:axId val="111111111"/>
        <c:axId val="222222222"/>
      </c:line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lang="en-US" sz="750">
                    <a:solidFill>
                      <a:srgbClr val="000000"/>
                    </a:solidFill>
                    <a:latin typeface="Calibri"/>
                  </a:rPr>
                  <a:t>% of Operations</a:t>
                </a:r>
              </a:p>
            </c:rich>
          </c:tx>
          <c:overlay val="0"/>
        </c:title>
        <c:numFmt formatCode="#,##0.0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noFill/>
        <a:ln>
          <a:noFill/>
        </a:ln>
      </c:spPr>
    </c:plotArea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Water Usage</c:v>
                </c:pt>
              </c:strCache>
            </c:strRef>
          </c:tx>
          <c:spPr>
            <a:solidFill>
              <a:srgbClr val="00B0D0"/>
            </a:solidFill>
          </c:spPr>
          <c:cat>
            <c:strRef>
              <c:f>Sheet1!$A$2:$A$6</c:f>
              <c:strCache>
                <c:ptCount val="5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3.2</c:v>
                </c:pt>
                <c:pt idx="1">
                  <c:v>2.8</c:v>
                </c:pt>
                <c:pt idx="2">
                  <c:v>2.4</c:v>
                </c:pt>
                <c:pt idx="3">
                  <c:v>2.1</c:v>
                </c:pt>
                <c:pt idx="4">
                  <c:v>1.7</c:v>
                </c:pt>
              </c:numCache>
            </c:numRef>
          </c:val>
        </c:ser>
        <c:dLbls>
          <c:txPr>
            <a:bodyPr/>
            <a:lstStyle/>
            <a:p>
              <a:pPr>
                <a:defRPr sz="600">
                  <a:latin typeface="Calibri"/>
                </a:defRPr>
              </a:pPr>
              <a:endParaRPr lang="en-US" dirty="0"/>
            </a:p>
          </c:txPr>
          <c:showLegendKey val="0"/>
          <c:showVal val="1"/>
          <c:showCatName val="0"/>
          <c:showSerName val="0"/>
          <c:showPercent val="0"/>
          <c:showBubbleSize val="0"/>
        </c:dLbls>
        <c:marker val="0"/>
        <c:axId val="111111111"/>
        <c:axId val="222222222"/>
      </c:line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lang="en-US" sz="750">
                    <a:solidFill>
                      <a:srgbClr val="000000"/>
                    </a:solidFill>
                    <a:latin typeface="Calibri"/>
                  </a:rPr>
                  <a:t>ML per Employee</a:t>
                </a:r>
              </a:p>
            </c:rich>
          </c:tx>
          <c:overlay val="0"/>
        </c:title>
        <c:numFmt formatCode="#,##0.0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noFill/>
        <a:ln>
          <a:noFill/>
        </a:ln>
      </c:spPr>
    </c:plotArea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4472C4"/>
            </a:solidFill>
          </c:spPr>
          <c:dPt>
            <c:idx val="0"/>
            <c:spPr>
              <a:solidFill>
                <a:srgbClr val="94A3B8"/>
              </a:solidFill>
            </c:spPr>
          </c:dPt>
          <c:dPt>
            <c:idx val="1"/>
            <c:spPr>
              <a:solidFill>
                <a:srgbClr val="003DA5"/>
              </a:solidFill>
            </c:spPr>
          </c:dPt>
          <c:dPt>
            <c:idx val="2"/>
            <c:spPr>
              <a:solidFill>
                <a:srgbClr val="93C5FD"/>
              </a:solidFill>
            </c:spPr>
          </c:dPt>
          <c:dPt>
            <c:idx val="3"/>
            <c:spPr>
              <a:solidFill>
                <a:srgbClr val="3B82F6"/>
              </a:solidFill>
            </c:spPr>
          </c:dPt>
          <c:dPt>
            <c:idx val="4"/>
            <c:spPr>
              <a:solidFill>
                <a:srgbClr val="1D4ED8"/>
              </a:solidFill>
            </c:spPr>
          </c:dPt>
          <c:cat>
            <c:strRef>
              <c:f>Sheet1!$A$2:$A$6</c:f>
              <c:strCache>
                <c:ptCount val="5"/>
                <c:pt idx="0">
                  <c:v>FY24 Actual</c:v>
                </c:pt>
                <c:pt idx="1">
                  <c:v>FY25 Actual</c:v>
                </c:pt>
                <c:pt idx="2">
                  <c:v>FY26 Low</c:v>
                </c:pt>
                <c:pt idx="3">
                  <c:v>FY26 Mid</c:v>
                </c:pt>
                <c:pt idx="4">
                  <c:v>FY26 High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210</c:v>
                </c:pt>
                <c:pt idx="1">
                  <c:v>255</c:v>
                </c:pt>
                <c:pt idx="2">
                  <c:v>295</c:v>
                </c:pt>
                <c:pt idx="3">
                  <c:v>315</c:v>
                </c:pt>
                <c:pt idx="4">
                  <c:v>340</c:v>
                </c:pt>
              </c:numCache>
            </c:numRef>
          </c:val>
        </c:ser>
        <c:dLbls>
          <c:txPr>
            <a:bodyPr/>
            <a:lstStyle/>
            <a:p>
              <a:pPr>
                <a:defRPr sz="750">
                  <a:latin typeface="Calibri"/>
                </a:defRPr>
              </a:pPr>
              <a:endParaRPr lang="en-US" dirty="0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lang="en-US" sz="750">
                    <a:solidFill>
                      <a:srgbClr val="000000"/>
                    </a:solidFill>
                    <a:latin typeface="Calibri"/>
                  </a:rPr>
                  <a:t>Revenue ($M)</a:t>
                </a:r>
              </a:p>
            </c:rich>
          </c:tx>
          <c:overlay val="0"/>
        </c:title>
        <c:numFmt formatCode="$#,##0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noFill/>
        <a:ln>
          <a:noFill/>
        </a:ln>
      </c:spPr>
    </c:plotArea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Ex1.xml><?xml version="1.0" encoding="utf-8"?>
<cx:chart xmlns:cx="http://schemas.microsoft.com/office/drawing/2014/chartex" xmlns:r="http://schemas.openxmlformats.org/officeDocument/2006/relationships" xmlns:a="http://schemas.openxmlformats.org/drawingml/2006/main">
  <cx:chartData>
    <cx:externalData r:id="rId1" autoUpdate="0"/>
    <cx:data id="0">
      <cx:strDim type="cat">
        <cx:lvl>
          <cx:pt idx="0">SaaS Subscriptions</cx:pt>
          <cx:pt idx="1">Usage-Based</cx:pt>
          <cx:pt idx="2">Marketplace</cx:pt>
          <cx:pt idx="3">Professional Services</cx:pt>
          <cx:pt idx="4">Managed Services</cx:pt>
          <cx:pt idx="5">Partner Licensing</cx:pt>
          <cx:pt idx="6">Training &amp; Certification</cx:pt>
          <cx:pt idx="7">Support Contracts</cx:pt>
        </cx:lvl>
        <cx:lvl>
          <cx:pt idx="0">Platform</cx:pt>
          <cx:pt idx="1">Platform</cx:pt>
          <cx:pt idx="2">Platform</cx:pt>
          <cx:pt idx="3">Services</cx:pt>
          <cx:pt idx="4">Services</cx:pt>
          <cx:pt idx="5">Ecosystem</cx:pt>
          <cx:pt idx="6">Ecosystem</cx:pt>
          <cx:pt idx="7">Ecosystem</cx:pt>
        </cx:lvl>
      </cx:strDim>
      <cx:numDim type="val">
        <cx:lvl>
          <cx:pt idx="0">92</cx:pt>
          <cx:pt idx="1">38</cx:pt>
          <cx:pt idx="2">15</cx:pt>
          <cx:pt idx="3">42</cx:pt>
          <cx:pt idx="4">28</cx:pt>
          <cx:pt idx="5">22</cx:pt>
          <cx:pt idx="6">12</cx:pt>
          <cx:pt idx="7">6</cx:pt>
        </cx:lvl>
      </cx:numDim>
    </cx:data>
  </cx:chartData>
  <cx:chart>
    <cx:plotArea>
      <cx:plotAreaRegion>
        <cx:series layoutId="treemap" dataId="0">
        </cx:series>
      </cx:plotAreaRegion>
    </cx:plotArea>
    <cx:legend pos="b" align="ctr" overlay="0"/>
  </cx:chart>
</cx:chart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3" Type="http://schemas.openxmlformats.org/officeDocument/2006/relationships/image" Target="../media/image1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2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microsoft.com/office/2014/relationships/chartEx" Target="../charts/chartEx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3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4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5.xml"/>
  <Relationship Id="rId3" Type="http://schemas.openxmlformats.org/officeDocument/2006/relationships/chart" Target="../charts/chart6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7.xml"/>
  <Relationship Id="rId3" Type="http://schemas.openxmlformats.org/officeDocument/2006/relationships/chart" Target="../charts/chart8.xml"/>
  <Relationship Id="rId4" Type="http://schemas.openxmlformats.org/officeDocument/2006/relationships/chart" Target="../charts/chart9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0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View 3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762000" y="1714500"/>
            <a:ext cx="7620000" cy="485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3795"/>
              </a:lnSpc>
            </a:pPr>
            <a:r>
              <a:rPr lang="en-US" sz="3300" b="1" dirty="0">
                <a:solidFill>
                  <a:srgbClr val="FFFFFF"/>
                </a:solidFill>
                <a:latin typeface="Arial"/>
              </a:rPr>
              <a:t>2025 Annual Report</a:t>
            </a:r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762000" y="2381250"/>
            <a:ext cx="5715000" cy="2000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dirty="0">
                <a:solidFill>
                  <a:srgbClr val="CBD5E1"/>
                </a:solidFill>
                <a:latin typeface="Arial"/>
              </a:rPr>
              <a:t>Accelion Technologies, Inc.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762000" y="2762250"/>
            <a:ext cx="57150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07"/>
              </a:lnSpc>
            </a:pPr>
            <a:r>
              <a:rPr lang="en-US" sz="1050" dirty="0">
                <a:solidFill>
                  <a:srgbClr val="94A3B8"/>
                </a:solidFill>
                <a:latin typeface="Arial"/>
              </a:rPr>
              <a:t>Fiscal Year Ended December 31, 2025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Year in Review: Key Achievements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381000" y="762000"/>
            <a:ext cx="1571625" cy="952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752475" y="942975"/>
            <a:ext cx="828675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F2540"/>
                </a:solidFill>
                <a:latin typeface="Arial"/>
              </a:rPr>
              <a:t>$255M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971550" y="1285875"/>
            <a:ext cx="390525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Revenue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938213" y="1419225"/>
            <a:ext cx="461963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0B050"/>
                </a:solidFill>
                <a:latin typeface="Arial"/>
              </a:rPr>
              <a:t>+21% YoY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2105025" y="762000"/>
            <a:ext cx="1571625" cy="952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2476500" y="942975"/>
            <a:ext cx="828675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F2540"/>
                </a:solidFill>
                <a:latin typeface="Arial"/>
              </a:rPr>
              <a:t>3,200+</a:t>
            </a:r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2657475" y="1285875"/>
            <a:ext cx="466725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Customers</a:t>
            </a:r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2657475" y="1419225"/>
            <a:ext cx="466725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0B050"/>
                </a:solidFill>
                <a:latin typeface="Arial"/>
              </a:rPr>
              <a:t>+28% YoY</a:t>
            </a:r>
            <a:endParaRPr lang="en-US" dirty="0"/>
          </a:p>
        </p:txBody>
      </p:sp>
      <p:sp>
        <p:nvSpPr>
          <p:cNvPr id="12" name="View 12"/>
          <p:cNvSpPr/>
          <p:nvPr/>
        </p:nvSpPr>
        <p:spPr>
          <a:xfrm>
            <a:off x="3829050" y="762000"/>
            <a:ext cx="1571625" cy="952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4457700" y="942975"/>
            <a:ext cx="314325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F2540"/>
                </a:solidFill>
                <a:latin typeface="Arial"/>
              </a:rPr>
              <a:t>74</a:t>
            </a:r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4514850" y="1285875"/>
            <a:ext cx="200025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NPS</a:t>
            </a:r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4467225" y="1419225"/>
            <a:ext cx="295275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0B050"/>
                </a:solidFill>
                <a:latin typeface="Arial"/>
              </a:rPr>
              <a:t>+6 pts</a:t>
            </a:r>
            <a:endParaRPr lang="en-US" dirty="0"/>
          </a:p>
        </p:txBody>
      </p:sp>
      <p:sp>
        <p:nvSpPr>
          <p:cNvPr id="16" name="View 16"/>
          <p:cNvSpPr/>
          <p:nvPr/>
        </p:nvSpPr>
        <p:spPr>
          <a:xfrm>
            <a:off x="5553075" y="762000"/>
            <a:ext cx="1571625" cy="952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5715000" y="790575"/>
            <a:ext cx="1247775" cy="6191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F2540"/>
                </a:solidFill>
                <a:latin typeface="Arial"/>
              </a:rPr>
              <a:t>42 Countries</a:t>
            </a:r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6162675" y="1438275"/>
            <a:ext cx="352425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Markets</a:t>
            </a:r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6172200" y="1571625"/>
            <a:ext cx="333375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0B050"/>
                </a:solidFill>
                <a:latin typeface="Arial"/>
              </a:rPr>
              <a:t>+8 new</a:t>
            </a:r>
            <a:endParaRPr lang="en-US" dirty="0"/>
          </a:p>
        </p:txBody>
      </p:sp>
      <p:sp>
        <p:nvSpPr>
          <p:cNvPr id="20" name="View 20"/>
          <p:cNvSpPr/>
          <p:nvPr/>
        </p:nvSpPr>
        <p:spPr>
          <a:xfrm>
            <a:off x="381000" y="1866900"/>
            <a:ext cx="1571625" cy="952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828675" y="2047875"/>
            <a:ext cx="676275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F2540"/>
                </a:solidFill>
                <a:latin typeface="Arial"/>
              </a:rPr>
              <a:t>1,850</a:t>
            </a:r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923925" y="2390775"/>
            <a:ext cx="485775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Employees</a:t>
            </a:r>
            <a:endParaRPr lang="en-US" dirty="0"/>
          </a:p>
        </p:txBody>
      </p:sp>
      <p:sp>
        <p:nvSpPr>
          <p:cNvPr id="23" name="Text 23"/>
          <p:cNvSpPr txBox="1"/>
          <p:nvPr/>
        </p:nvSpPr>
        <p:spPr>
          <a:xfrm>
            <a:off x="938213" y="2524125"/>
            <a:ext cx="461963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0B050"/>
                </a:solidFill>
                <a:latin typeface="Arial"/>
              </a:rPr>
              <a:t>+32% YoY</a:t>
            </a:r>
            <a:endParaRPr lang="en-US" dirty="0"/>
          </a:p>
        </p:txBody>
      </p:sp>
      <p:sp>
        <p:nvSpPr>
          <p:cNvPr id="24" name="Text 24"/>
          <p:cNvSpPr txBox="1"/>
          <p:nvPr/>
        </p:nvSpPr>
        <p:spPr>
          <a:xfrm>
            <a:off x="381000" y="4953000"/>
            <a:ext cx="111442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FY2025 Audited Results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Letter from Our CEO</a:t>
            </a:r>
            <a:endParaRPr lang="en-US" dirty="0"/>
          </a:p>
        </p:txBody>
      </p:sp>
      <p:pic>
        <p:nvPicPr>
          <p:cNvPr id="4" name="Image 4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500" y="762000"/>
            <a:ext cx="1905000" cy="238125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5" name="Text 5"/>
          <p:cNvSpPr txBox="1"/>
          <p:nvPr/>
        </p:nvSpPr>
        <p:spPr>
          <a:xfrm>
            <a:off x="381000" y="762000"/>
            <a:ext cx="6096000" cy="38100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0"/>
              </a:lnSpc>
              <a:spcBef>
                <a:spcPts val="0"/>
              </a:spcBef>
            </a:pPr>
            <a:r>
              <a:rPr lang="en-US" sz="750" b="1" dirty="0">
                <a:solidFill>
                  <a:srgbClr val="475569"/>
                </a:solidFill>
                <a:latin typeface="Arial"/>
              </a:rPr>
              <a:t>Dear Shareholders,</a:t>
            </a:r>
            <a:endParaRPr lang="en-US" dirty="0"/>
          </a:p>
          <a:p>
            <a:pPr>
              <a:lnSpc>
                <a:spcPts val="120"/>
              </a:lnSpc>
              <a:spcBef>
                <a:spcPts val="800"/>
              </a:spcBef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Fiscal year 2025 marks a transformative chapter for Accelion Technologies. We achieved $255 million in revenue, representing 21% year-over-year growth, while simultaneously expanding into eight new international markets. Our strategic investments in AI-native product capabilities and enterprise-grade security positioned us as a leader in the rapidly evolving cloud platform landscape.</a:t>
            </a:r>
            <a:endParaRPr lang="en-US" dirty="0"/>
          </a:p>
          <a:p>
            <a:pPr>
              <a:lnSpc>
                <a:spcPts val="120"/>
              </a:lnSpc>
              <a:spcBef>
                <a:spcPts val="800"/>
              </a:spcBef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Our customer base grew to over 3,200 organizations spanning financial services, healthcare, technology, and manufacturing verticals. The launch of our Intelligent Automation Suite in Q2 drove a 45% increase in enterprise deal sizes, while our platform processed over 2.8 billion API calls daily with 99.97% uptime — a testament to our engineering team's relentless focus on reliability.</a:t>
            </a:r>
            <a:endParaRPr lang="en-US" dirty="0"/>
          </a:p>
          <a:p>
            <a:pPr>
              <a:lnSpc>
                <a:spcPts val="120"/>
              </a:lnSpc>
              <a:spcBef>
                <a:spcPts val="800"/>
              </a:spcBef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We also made significant progress on our sustainability commitments. Our operations are now 100% powered by renewable energy, and we reduced our carbon intensity per revenue dollar by 38%. Our diversity metrics improved across all dimensions, with women now representing 42% of our global workforce and 35% of leadership roles.</a:t>
            </a:r>
            <a:endParaRPr lang="en-US" dirty="0"/>
          </a:p>
          <a:p>
            <a:pPr>
              <a:lnSpc>
                <a:spcPts val="120"/>
              </a:lnSpc>
              <a:spcBef>
                <a:spcPts val="800"/>
              </a:spcBef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Looking ahead, we see tremendous opportunity in the convergence of AI, automation, and enterprise software. Our $85 million R&amp;D investment in 2025 — the largest in our history — positions us to capture the estimated $12 billion addressable market by 2028. We remain committed to delivering exceptional value for our customers, employees, and shareholders.</a:t>
            </a:r>
            <a:endParaRPr lang="en-US" dirty="0"/>
          </a:p>
          <a:p>
            <a:pPr>
              <a:lnSpc>
                <a:spcPts val="120"/>
              </a:lnSpc>
              <a:spcBef>
                <a:spcPts val="1200"/>
              </a:spcBef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With gratitude,</a:t>
            </a:r>
            <a:endParaRPr lang="en-US" dirty="0"/>
          </a:p>
          <a:p>
            <a:pPr>
              <a:lnSpc>
                <a:spcPts val="120"/>
              </a:lnSpc>
              <a:spcBef>
                <a:spcPts val="400"/>
              </a:spcBef>
            </a:pPr>
            <a:r>
              <a:rPr lang="en-US" sz="750" b="1" dirty="0">
                <a:solidFill>
                  <a:srgbClr val="475569"/>
                </a:solidFill>
                <a:latin typeface="Arial"/>
              </a:rPr>
              <a:t>Sarah Chen</a:t>
            </a:r>
            <a:r>
              <a:rPr lang="en-US" sz="675" dirty="0">
                <a:solidFill>
                  <a:srgbClr val="94A3B8"/>
                </a:solidFill>
                <a:latin typeface="Arial"/>
              </a:rPr>
              <a:t>
Chief Executive Officer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Revenue Performance: 5-Year Trajectory</a:t>
            </a:r>
            <a:endParaRPr lang="en-US" dirty="0"/>
          </a:p>
        </p:txBody>
      </p:sp>
      <p:graphicFrame>
        <p:nvGraphicFramePr>
          <p:cNvPr id="4" name="Chart 4"/>
          <p:cNvGraphicFramePr>
            <a:graphicFrameLocks noGrp="1"/>
          </p:cNvGraphicFramePr>
          <p:nvPr/>
        </p:nvGraphicFramePr>
        <p:xfrm>
          <a:off x="381000" y="762000"/>
          <a:ext cx="838200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 5"/>
          <p:cNvSpPr txBox="1"/>
          <p:nvPr/>
        </p:nvSpPr>
        <p:spPr>
          <a:xfrm>
            <a:off x="381000" y="4953000"/>
            <a:ext cx="170497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Audited Financial Statements FY21–FY25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Profitability Bridge: Revenue to Net Income</a:t>
            </a:r>
            <a:endParaRPr lang="en-US" dirty="0"/>
          </a:p>
        </p:txBody>
      </p:sp>
      <p:graphicFrame>
        <p:nvGraphicFramePr>
          <p:cNvPr id="4" name="Chart 4"/>
          <p:cNvGraphicFramePr>
            <a:graphicFrameLocks noGrp="1"/>
          </p:cNvGraphicFramePr>
          <p:nvPr/>
        </p:nvGraphicFramePr>
        <p:xfrm>
          <a:off x="381000" y="762000"/>
          <a:ext cx="838200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 5"/>
          <p:cNvSpPr txBox="1"/>
          <p:nvPr/>
        </p:nvSpPr>
        <p:spPr>
          <a:xfrm>
            <a:off x="381000" y="4953000"/>
            <a:ext cx="119062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FY2025 Consolidated P&amp;L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Revenue by Segment</a:t>
            </a:r>
            <a:endParaRPr lang="en-US" dirty="0"/>
          </a:p>
        </p:txBody>
      </p:sp>
      <p:graphicFrame>
        <p:nvGraphicFramePr>
          <p:cNvPr id="4" name="Chart 4"/>
          <p:cNvGraphicFramePr>
            <a:graphicFrameLocks noGrp="1"/>
          </p:cNvGraphicFramePr>
          <p:nvPr/>
        </p:nvGraphicFramePr>
        <p:xfrm>
          <a:off x="381000" y="762000"/>
          <a:ext cx="8382000" cy="3619500"/>
        </p:xfrm>
        <a:graphic>
          <a:graphicData uri="http://schemas.microsoft.com/office/drawing/2014/chartex">
            <cx:chart xmlns:cx="http://schemas.microsoft.com/office/drawing/2014/chartex" xmlns:r="http://schemas.openxmlformats.org/officeDocument/2006/relationships" r:id="rId2"/>
          </a:graphicData>
        </a:graphic>
      </p:graphicFrame>
      <p:sp>
        <p:nvSpPr>
          <p:cNvPr id="5" name="Text 5"/>
          <p:cNvSpPr txBox="1"/>
          <p:nvPr/>
        </p:nvSpPr>
        <p:spPr>
          <a:xfrm>
            <a:off x="381000" y="4953000"/>
            <a:ext cx="12573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Segment Reporting, FY2025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Market Position: Enterprise Cloud Platform</a:t>
            </a:r>
            <a:endParaRPr lang="en-US" dirty="0"/>
          </a:p>
        </p:txBody>
      </p:sp>
      <p:graphicFrame>
        <p:nvGraphicFramePr>
          <p:cNvPr id="4" name="Chart 4"/>
          <p:cNvGraphicFramePr>
            <a:graphicFrameLocks noGrp="1"/>
          </p:cNvGraphicFramePr>
          <p:nvPr/>
        </p:nvGraphicFramePr>
        <p:xfrm>
          <a:off x="1333500" y="762000"/>
          <a:ext cx="647700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 5"/>
          <p:cNvSpPr txBox="1"/>
          <p:nvPr/>
        </p:nvSpPr>
        <p:spPr>
          <a:xfrm>
            <a:off x="381000" y="4743450"/>
            <a:ext cx="1685925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i="1" dirty="0">
                <a:solidFill>
                  <a:srgbClr val="94A3B8"/>
                </a:solidFill>
                <a:latin typeface="Arial"/>
              </a:rPr>
              <a:t>Total Addressable Market: $8.4B (2025)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381000" y="4953000"/>
            <a:ext cx="130492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Gartner Magic Quadrant 2025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Revenue by Region: 5-Year Trend</a:t>
            </a:r>
            <a:endParaRPr lang="en-US" dirty="0"/>
          </a:p>
        </p:txBody>
      </p:sp>
      <p:graphicFrame>
        <p:nvGraphicFramePr>
          <p:cNvPr id="4" name="Chart 4"/>
          <p:cNvGraphicFramePr>
            <a:graphicFrameLocks noGrp="1"/>
          </p:cNvGraphicFramePr>
          <p:nvPr/>
        </p:nvGraphicFramePr>
        <p:xfrm>
          <a:off x="381000" y="762000"/>
          <a:ext cx="838200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 5"/>
          <p:cNvSpPr txBox="1"/>
          <p:nvPr/>
        </p:nvSpPr>
        <p:spPr>
          <a:xfrm>
            <a:off x="381000" y="4953000"/>
            <a:ext cx="146685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Regional P&amp;L Reports FY21–FY25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Global Footprint: 42 Countries, 15 Offices</a:t>
            </a:r>
            <a:endParaRPr lang="en-US" dirty="0"/>
          </a:p>
        </p:txBody>
      </p:sp>
      <p:pic>
        <p:nvPicPr>
          <p:cNvPr id="4" name="Image 4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666750"/>
            <a:ext cx="8382000" cy="40005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5" name="View 5"/>
          <p:cNvSpPr/>
          <p:nvPr/>
        </p:nvSpPr>
        <p:spPr>
          <a:xfrm>
            <a:off x="1143000" y="1857375"/>
            <a:ext cx="76200" cy="762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2095500" y="1762125"/>
            <a:ext cx="76200" cy="762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7" name="View 7"/>
          <p:cNvSpPr/>
          <p:nvPr/>
        </p:nvSpPr>
        <p:spPr>
          <a:xfrm>
            <a:off x="2000250" y="1571625"/>
            <a:ext cx="76200" cy="762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2571750" y="3238500"/>
            <a:ext cx="76200" cy="762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9" name="View 9"/>
          <p:cNvSpPr/>
          <p:nvPr/>
        </p:nvSpPr>
        <p:spPr>
          <a:xfrm>
            <a:off x="4095750" y="1524000"/>
            <a:ext cx="76200" cy="762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0" name="View 10"/>
          <p:cNvSpPr/>
          <p:nvPr/>
        </p:nvSpPr>
        <p:spPr>
          <a:xfrm>
            <a:off x="4429125" y="1571625"/>
            <a:ext cx="76200" cy="762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1" name="View 11"/>
          <p:cNvSpPr/>
          <p:nvPr/>
        </p:nvSpPr>
        <p:spPr>
          <a:xfrm>
            <a:off x="5238750" y="2143125"/>
            <a:ext cx="76200" cy="762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2" name="View 12"/>
          <p:cNvSpPr/>
          <p:nvPr/>
        </p:nvSpPr>
        <p:spPr>
          <a:xfrm>
            <a:off x="5619750" y="2381250"/>
            <a:ext cx="76200" cy="762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3" name="View 13"/>
          <p:cNvSpPr/>
          <p:nvPr/>
        </p:nvSpPr>
        <p:spPr>
          <a:xfrm>
            <a:off x="6191250" y="2762250"/>
            <a:ext cx="76200" cy="762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4" name="View 14"/>
          <p:cNvSpPr/>
          <p:nvPr/>
        </p:nvSpPr>
        <p:spPr>
          <a:xfrm>
            <a:off x="7048500" y="1857375"/>
            <a:ext cx="76200" cy="762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5" name="View 15"/>
          <p:cNvSpPr/>
          <p:nvPr/>
        </p:nvSpPr>
        <p:spPr>
          <a:xfrm>
            <a:off x="7143750" y="3524250"/>
            <a:ext cx="76200" cy="762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6" name="View 16"/>
          <p:cNvSpPr/>
          <p:nvPr/>
        </p:nvSpPr>
        <p:spPr>
          <a:xfrm>
            <a:off x="6858000" y="1857375"/>
            <a:ext cx="76200" cy="762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7" name="View 17"/>
          <p:cNvSpPr/>
          <p:nvPr/>
        </p:nvSpPr>
        <p:spPr>
          <a:xfrm>
            <a:off x="4381500" y="1285875"/>
            <a:ext cx="76200" cy="762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8" name="View 18"/>
          <p:cNvSpPr/>
          <p:nvPr/>
        </p:nvSpPr>
        <p:spPr>
          <a:xfrm>
            <a:off x="4238625" y="2619375"/>
            <a:ext cx="76200" cy="762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9" name="View 19"/>
          <p:cNvSpPr/>
          <p:nvPr/>
        </p:nvSpPr>
        <p:spPr>
          <a:xfrm>
            <a:off x="1476375" y="2333625"/>
            <a:ext cx="76200" cy="762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0" name="Text 20"/>
          <p:cNvSpPr txBox="1"/>
          <p:nvPr/>
        </p:nvSpPr>
        <p:spPr>
          <a:xfrm>
            <a:off x="1047750" y="1719263"/>
            <a:ext cx="457200" cy="857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04"/>
              </a:lnSpc>
            </a:pPr>
            <a:r>
              <a:rPr lang="en-US" sz="525" b="1" dirty="0">
                <a:solidFill>
                  <a:srgbClr val="0F2540"/>
                </a:solidFill>
                <a:latin typeface="Arial"/>
              </a:rPr>
              <a:t>San Francisco</a:t>
            </a:r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1905000" y="1438275"/>
            <a:ext cx="247650" cy="857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04"/>
              </a:lnSpc>
            </a:pPr>
            <a:r>
              <a:rPr lang="en-US" sz="525" b="1" dirty="0">
                <a:solidFill>
                  <a:srgbClr val="0F2540"/>
                </a:solidFill>
                <a:latin typeface="Arial"/>
              </a:rPr>
              <a:t>Toronto</a:t>
            </a:r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4000500" y="1395413"/>
            <a:ext cx="247650" cy="857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04"/>
              </a:lnSpc>
            </a:pPr>
            <a:r>
              <a:rPr lang="en-US" sz="525" b="1" dirty="0">
                <a:solidFill>
                  <a:srgbClr val="0F2540"/>
                </a:solidFill>
                <a:latin typeface="Arial"/>
              </a:rPr>
              <a:t>London</a:t>
            </a:r>
            <a:endParaRPr lang="en-US" dirty="0"/>
          </a:p>
        </p:txBody>
      </p:sp>
      <p:sp>
        <p:nvSpPr>
          <p:cNvPr id="23" name="Text 23"/>
          <p:cNvSpPr txBox="1"/>
          <p:nvPr/>
        </p:nvSpPr>
        <p:spPr>
          <a:xfrm>
            <a:off x="5143500" y="2009775"/>
            <a:ext cx="190500" cy="857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04"/>
              </a:lnSpc>
            </a:pPr>
            <a:r>
              <a:rPr lang="en-US" sz="525" b="1" dirty="0">
                <a:solidFill>
                  <a:srgbClr val="0F2540"/>
                </a:solidFill>
                <a:latin typeface="Arial"/>
              </a:rPr>
              <a:t>Dubai</a:t>
            </a:r>
            <a:endParaRPr lang="en-US" dirty="0"/>
          </a:p>
        </p:txBody>
      </p:sp>
      <p:sp>
        <p:nvSpPr>
          <p:cNvPr id="24" name="Text 24"/>
          <p:cNvSpPr txBox="1"/>
          <p:nvPr/>
        </p:nvSpPr>
        <p:spPr>
          <a:xfrm>
            <a:off x="6100763" y="2624138"/>
            <a:ext cx="333375" cy="857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04"/>
              </a:lnSpc>
            </a:pPr>
            <a:r>
              <a:rPr lang="en-US" sz="525" b="1" dirty="0">
                <a:solidFill>
                  <a:srgbClr val="0F2540"/>
                </a:solidFill>
                <a:latin typeface="Arial"/>
              </a:rPr>
              <a:t>Singapore</a:t>
            </a:r>
            <a:endParaRPr lang="en-US" dirty="0"/>
          </a:p>
        </p:txBody>
      </p:sp>
      <p:sp>
        <p:nvSpPr>
          <p:cNvPr id="25" name="Text 25"/>
          <p:cNvSpPr txBox="1"/>
          <p:nvPr/>
        </p:nvSpPr>
        <p:spPr>
          <a:xfrm>
            <a:off x="7048500" y="3390900"/>
            <a:ext cx="238125" cy="857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04"/>
              </a:lnSpc>
            </a:pPr>
            <a:r>
              <a:rPr lang="en-US" sz="525" b="1" dirty="0">
                <a:solidFill>
                  <a:srgbClr val="0F2540"/>
                </a:solidFill>
                <a:latin typeface="Arial"/>
              </a:rPr>
              <a:t>Sydney</a:t>
            </a:r>
            <a:endParaRPr lang="en-US" dirty="0"/>
          </a:p>
        </p:txBody>
      </p:sp>
      <p:sp>
        <p:nvSpPr>
          <p:cNvPr id="26" name="Text 26"/>
          <p:cNvSpPr txBox="1"/>
          <p:nvPr/>
        </p:nvSpPr>
        <p:spPr>
          <a:xfrm>
            <a:off x="4286250" y="1152525"/>
            <a:ext cx="342900" cy="857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04"/>
              </a:lnSpc>
            </a:pPr>
            <a:r>
              <a:rPr lang="en-US" sz="525" b="1" dirty="0">
                <a:solidFill>
                  <a:srgbClr val="0F2540"/>
                </a:solidFill>
                <a:latin typeface="Arial"/>
              </a:rPr>
              <a:t>Stockholm</a:t>
            </a:r>
            <a:endParaRPr lang="en-US" dirty="0"/>
          </a:p>
        </p:txBody>
      </p:sp>
      <p:sp>
        <p:nvSpPr>
          <p:cNvPr id="27" name="Text 27"/>
          <p:cNvSpPr txBox="1"/>
          <p:nvPr/>
        </p:nvSpPr>
        <p:spPr>
          <a:xfrm>
            <a:off x="1381125" y="2200275"/>
            <a:ext cx="371475" cy="857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04"/>
              </a:lnSpc>
            </a:pPr>
            <a:r>
              <a:rPr lang="en-US" sz="525" b="1" dirty="0">
                <a:solidFill>
                  <a:srgbClr val="0F2540"/>
                </a:solidFill>
                <a:latin typeface="Arial"/>
              </a:rPr>
              <a:t>Mexico City</a:t>
            </a:r>
            <a:endParaRPr lang="en-US" dirty="0"/>
          </a:p>
        </p:txBody>
      </p:sp>
      <p:sp>
        <p:nvSpPr>
          <p:cNvPr id="28" name="Text 28"/>
          <p:cNvSpPr txBox="1"/>
          <p:nvPr/>
        </p:nvSpPr>
        <p:spPr>
          <a:xfrm>
            <a:off x="381000" y="4953000"/>
            <a:ext cx="111442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Offices as of December 31, 2025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Strategic Position: SWOT Analysis</a:t>
            </a:r>
            <a:endParaRPr lang="en-US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571500" y="762000"/>
          <a:ext cx="8001000" cy="1"/>
        </p:xfrm>
        <a:graphic>
          <a:graphicData uri="http://schemas.openxmlformats.org/drawingml/2006/table">
            <a:tbl>
              <a:tblPr firstRow="0" bandRow="0"/>
              <a:tblGrid>
                <a:gridCol w="4000500"/>
                <a:gridCol w="4000500"/>
              </a:tblGrid>
              <a:tr h="1809750">
                <a:tc>
                  <a:txBody>
                    <a:bodyPr rtlCol="0" lIns="0" tIns="0" rIns="0" bIns="0"/>
                    <a:lstStyle/>
                    <a:p>
                      <a:r>
                        <a:rPr lang="en-US" sz="750" b="1" dirty="0">
                          <a:solidFill>
                            <a:srgbClr val="1B5E20"/>
                          </a:solidFill>
                        </a:rPr>
                        <a:t>Strengths
• Market-leading NPS of 74
• Proprietary AI/ML platform (12 patents)
• 99.97% uptime SLA
• 3,200+ enterprise customers
• $85M annual R&amp;D investment</a:t>
                      </a:r>
                      <a:endParaRPr lang="en-US" dirty="0"/>
                    </a:p>
                  </a:txBody>
                  <a:tcPr anchor="t" marL="114300" marR="114300" marT="114300" marB="114300">
                    <a:solidFill>
                      <a:srgbClr val="E6F4EA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750" b="1" dirty="0">
                          <a:solidFill>
                            <a:srgbClr val="B71C1C"/>
                          </a:solidFill>
                        </a:rPr>
                        <a:t>Weaknesses
• High customer acquisition cost ($18K)
• Limited presence in DACH region
• Legacy monolith migration (18mo remaining)
• Thin partner ecosystem vs. competitors
• Single cloud provider dependency</a:t>
                      </a:r>
                      <a:endParaRPr lang="en-US" dirty="0"/>
                    </a:p>
                  </a:txBody>
                  <a:tcPr anchor="t" marL="114300" marR="114300" marT="114300" marB="114300">
                    <a:solidFill>
                      <a:srgbClr val="FDECEA"/>
                    </a:solidFill>
                  </a:tcPr>
                </a:tc>
              </a:tr>
              <a:tr h="1809750">
                <a:tc>
                  <a:txBody>
                    <a:bodyPr rtlCol="0" lIns="0" tIns="0" rIns="0" bIns="0"/>
                    <a:lstStyle/>
                    <a:p>
                      <a:r>
                        <a:rPr lang="en-US" sz="750" b="1" dirty="0">
                          <a:solidFill>
                            <a:srgbClr val="0D47A1"/>
                          </a:solidFill>
                        </a:rPr>
                        <a:t>Opportunities
• TAM expanding to $12B by 2028
• AI-native automation suite
• FedRAMP certification (Q3 2026)
• Vertical-specific solutions (HealthTech, FinTech)
• Strategic M&amp;A pipeline ($150M warchest)</a:t>
                      </a:r>
                      <a:endParaRPr lang="en-US" dirty="0"/>
                    </a:p>
                  </a:txBody>
                  <a:tcPr anchor="t" marL="114300" marR="114300" marT="114300" marB="114300">
                    <a:solidFill>
                      <a:srgbClr val="E3F2FD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r>
                        <a:rPr lang="en-US" sz="750" b="1" dirty="0">
                          <a:solidFill>
                            <a:srgbClr val="E65100"/>
                          </a:solidFill>
                        </a:rPr>
                        <a:t>Threats
• Aggressive pricing from CompetitorA
• EU AI Act compliance requirements
• Talent competition for ML engineers
• Open-source alternatives maturing
• Macro slowdown in enterprise IT spend</a:t>
                      </a:r>
                      <a:endParaRPr lang="en-US" dirty="0"/>
                    </a:p>
                  </a:txBody>
                  <a:tcPr anchor="t" marL="114300" marR="114300" marT="114300" marB="114300">
                    <a:solidFill>
                      <a:srgbClr val="FFF8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Product Portfolio: FY2025 Revenue Contribution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381000" y="809625"/>
            <a:ext cx="2571750" cy="1238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533400" y="962025"/>
            <a:ext cx="226695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</a:rPr>
              <a:t>CloudCore Platform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533400" y="1133475"/>
            <a:ext cx="22669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Enterprise infrastructure orchestration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533400" y="1314450"/>
            <a:ext cx="2266950" cy="2000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03DA5"/>
                </a:solidFill>
                <a:latin typeface="Arial"/>
              </a:rPr>
              <a:t>$92M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3190875" y="809625"/>
            <a:ext cx="2571750" cy="1238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3343275" y="962025"/>
            <a:ext cx="226695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</a:rPr>
              <a:t>DataFlow Analytics</a:t>
            </a:r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3343275" y="1133475"/>
            <a:ext cx="22669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Real-time data pipeline &amp; BI</a:t>
            </a:r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3343275" y="1314450"/>
            <a:ext cx="2266950" cy="2000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03DA5"/>
                </a:solidFill>
                <a:latin typeface="Arial"/>
              </a:rPr>
              <a:t>$42M</a:t>
            </a:r>
            <a:endParaRPr lang="en-US" dirty="0"/>
          </a:p>
        </p:txBody>
      </p:sp>
      <p:sp>
        <p:nvSpPr>
          <p:cNvPr id="12" name="View 12"/>
          <p:cNvSpPr/>
          <p:nvPr/>
        </p:nvSpPr>
        <p:spPr>
          <a:xfrm>
            <a:off x="6000750" y="809625"/>
            <a:ext cx="2571750" cy="1238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6153150" y="962025"/>
            <a:ext cx="226695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</a:rPr>
              <a:t>SecureShield</a:t>
            </a:r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6153150" y="1133475"/>
            <a:ext cx="22669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Zero-trust security &amp; compliance</a:t>
            </a:r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6153150" y="1314450"/>
            <a:ext cx="2266950" cy="2000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03DA5"/>
                </a:solidFill>
                <a:latin typeface="Arial"/>
              </a:rPr>
              <a:t>$38M</a:t>
            </a:r>
            <a:endParaRPr lang="en-US" dirty="0"/>
          </a:p>
        </p:txBody>
      </p:sp>
      <p:sp>
        <p:nvSpPr>
          <p:cNvPr id="16" name="View 16"/>
          <p:cNvSpPr/>
          <p:nvPr/>
        </p:nvSpPr>
        <p:spPr>
          <a:xfrm>
            <a:off x="381000" y="2286000"/>
            <a:ext cx="2571750" cy="1238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533400" y="2438400"/>
            <a:ext cx="226695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</a:rPr>
              <a:t>AutomateIQ</a:t>
            </a:r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533400" y="2609850"/>
            <a:ext cx="22669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AI-powered workflow automation</a:t>
            </a:r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533400" y="2790825"/>
            <a:ext cx="2266950" cy="2000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03DA5"/>
                </a:solidFill>
                <a:latin typeface="Arial"/>
              </a:rPr>
              <a:t>$35M</a:t>
            </a:r>
            <a:endParaRPr lang="en-US" dirty="0"/>
          </a:p>
        </p:txBody>
      </p:sp>
      <p:sp>
        <p:nvSpPr>
          <p:cNvPr id="20" name="View 20"/>
          <p:cNvSpPr/>
          <p:nvPr/>
        </p:nvSpPr>
        <p:spPr>
          <a:xfrm>
            <a:off x="3190875" y="2286000"/>
            <a:ext cx="2571750" cy="1238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3343275" y="2438400"/>
            <a:ext cx="226695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</a:rPr>
              <a:t>ConnectHub</a:t>
            </a:r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3343275" y="2609850"/>
            <a:ext cx="22669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Integration &amp; API management</a:t>
            </a:r>
            <a:endParaRPr lang="en-US" dirty="0"/>
          </a:p>
        </p:txBody>
      </p:sp>
      <p:sp>
        <p:nvSpPr>
          <p:cNvPr id="23" name="Text 23"/>
          <p:cNvSpPr txBox="1"/>
          <p:nvPr/>
        </p:nvSpPr>
        <p:spPr>
          <a:xfrm>
            <a:off x="3343275" y="2790825"/>
            <a:ext cx="2266950" cy="2000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03DA5"/>
                </a:solidFill>
                <a:latin typeface="Arial"/>
              </a:rPr>
              <a:t>$28M</a:t>
            </a:r>
            <a:endParaRPr lang="en-US" dirty="0"/>
          </a:p>
        </p:txBody>
      </p:sp>
      <p:sp>
        <p:nvSpPr>
          <p:cNvPr id="24" name="View 24"/>
          <p:cNvSpPr/>
          <p:nvPr/>
        </p:nvSpPr>
        <p:spPr>
          <a:xfrm>
            <a:off x="6000750" y="2286000"/>
            <a:ext cx="2571750" cy="1238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5" name="Text 25"/>
          <p:cNvSpPr txBox="1"/>
          <p:nvPr/>
        </p:nvSpPr>
        <p:spPr>
          <a:xfrm>
            <a:off x="6153150" y="2438400"/>
            <a:ext cx="2266950" cy="1428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121"/>
              </a:lnSpc>
            </a:pPr>
            <a:r>
              <a:rPr lang="en-US" sz="975" b="1" dirty="0">
                <a:solidFill>
                  <a:srgbClr val="0F2540"/>
                </a:solidFill>
                <a:latin typeface="Arial"/>
              </a:rPr>
              <a:t>DevOps Suite</a:t>
            </a:r>
            <a:endParaRPr lang="en-US" dirty="0"/>
          </a:p>
        </p:txBody>
      </p:sp>
      <p:sp>
        <p:nvSpPr>
          <p:cNvPr id="26" name="Text 26"/>
          <p:cNvSpPr txBox="1"/>
          <p:nvPr/>
        </p:nvSpPr>
        <p:spPr>
          <a:xfrm>
            <a:off x="6153150" y="2609850"/>
            <a:ext cx="22669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CI/CD and developer tooling</a:t>
            </a:r>
            <a:endParaRPr lang="en-US" dirty="0"/>
          </a:p>
        </p:txBody>
      </p:sp>
      <p:sp>
        <p:nvSpPr>
          <p:cNvPr id="27" name="Text 27"/>
          <p:cNvSpPr txBox="1"/>
          <p:nvPr/>
        </p:nvSpPr>
        <p:spPr>
          <a:xfrm>
            <a:off x="6153150" y="2790825"/>
            <a:ext cx="2266950" cy="2000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03DA5"/>
                </a:solidFill>
                <a:latin typeface="Arial"/>
              </a:rPr>
              <a:t>$20M</a:t>
            </a:r>
            <a:endParaRPr lang="en-US" dirty="0"/>
          </a:p>
        </p:txBody>
      </p:sp>
      <p:sp>
        <p:nvSpPr>
          <p:cNvPr id="28" name="Text 28"/>
          <p:cNvSpPr txBox="1"/>
          <p:nvPr/>
        </p:nvSpPr>
        <p:spPr>
          <a:xfrm>
            <a:off x="381000" y="4953000"/>
            <a:ext cx="100012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Product P&amp;L Reports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People &amp; Culture</a:t>
            </a:r>
            <a:endParaRPr lang="en-US" dirty="0"/>
          </a:p>
        </p:txBody>
      </p:sp>
      <p:graphicFrame>
        <p:nvGraphicFramePr>
          <p:cNvPr id="4" name="Chart 4"/>
          <p:cNvGraphicFramePr>
            <a:graphicFrameLocks noGrp="1"/>
          </p:cNvGraphicFramePr>
          <p:nvPr/>
        </p:nvGraphicFramePr>
        <p:xfrm>
          <a:off x="381000" y="762000"/>
          <a:ext cx="3810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5"/>
          <p:cNvGraphicFramePr>
            <a:graphicFrameLocks noGrp="1"/>
          </p:cNvGraphicFramePr>
          <p:nvPr/>
        </p:nvGraphicFramePr>
        <p:xfrm>
          <a:off x="4572000" y="762000"/>
          <a:ext cx="4191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6"/>
          <p:cNvSpPr txBox="1"/>
          <p:nvPr/>
        </p:nvSpPr>
        <p:spPr>
          <a:xfrm>
            <a:off x="381000" y="4791075"/>
            <a:ext cx="22860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94A3B8"/>
                </a:solidFill>
                <a:latin typeface="Arial"/>
              </a:rPr>
              <a:t>Total Headcount: 1,850 | 42 Countries | 28 Languages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381000" y="4953000"/>
            <a:ext cx="158115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People Operations — December 2025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Environmental, Social &amp; Governance</a:t>
            </a:r>
            <a:endParaRPr lang="en-US" dirty="0"/>
          </a:p>
        </p:txBody>
      </p:sp>
      <p:graphicFrame>
        <p:nvGraphicFramePr>
          <p:cNvPr id="4" name="Chart 4"/>
          <p:cNvGraphicFramePr>
            <a:graphicFrameLocks noGrp="1"/>
          </p:cNvGraphicFramePr>
          <p:nvPr/>
        </p:nvGraphicFramePr>
        <p:xfrm>
          <a:off x="381000" y="809625"/>
          <a:ext cx="2619375" cy="190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5"/>
          <p:cNvGraphicFramePr>
            <a:graphicFrameLocks noGrp="1"/>
          </p:cNvGraphicFramePr>
          <p:nvPr/>
        </p:nvGraphicFramePr>
        <p:xfrm>
          <a:off x="3238500" y="809625"/>
          <a:ext cx="2619375" cy="190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6"/>
          <p:cNvGraphicFramePr>
            <a:graphicFrameLocks noGrp="1"/>
          </p:cNvGraphicFramePr>
          <p:nvPr/>
        </p:nvGraphicFramePr>
        <p:xfrm>
          <a:off x="6096000" y="809625"/>
          <a:ext cx="2619375" cy="190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7"/>
          <p:cNvSpPr txBox="1"/>
          <p:nvPr/>
        </p:nvSpPr>
        <p:spPr>
          <a:xfrm>
            <a:off x="381000" y="2857500"/>
            <a:ext cx="2619375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776"/>
              </a:lnSpc>
            </a:pPr>
            <a:r>
              <a:rPr lang="en-US" sz="675" b="1" dirty="0">
                <a:solidFill>
                  <a:srgbClr val="475569"/>
                </a:solidFill>
                <a:latin typeface="Arial"/>
              </a:rPr>
              <a:t>Target: Net Zero by 2030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3238500" y="2857500"/>
            <a:ext cx="2619375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776"/>
              </a:lnSpc>
            </a:pPr>
            <a:r>
              <a:rPr lang="en-US" sz="675" b="1" dirty="0">
                <a:solidFill>
                  <a:srgbClr val="475569"/>
                </a:solidFill>
                <a:latin typeface="Arial"/>
              </a:rPr>
              <a:t>Target: 100% Achieved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6096000" y="2857500"/>
            <a:ext cx="2619375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776"/>
              </a:lnSpc>
            </a:pPr>
            <a:r>
              <a:rPr lang="en-US" sz="675" b="1" dirty="0">
                <a:solidFill>
                  <a:srgbClr val="475569"/>
                </a:solidFill>
                <a:latin typeface="Arial"/>
              </a:rPr>
              <a:t>Target: 1.0 ML by 2028</a:t>
            </a:r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381000" y="4953000"/>
            <a:ext cx="174307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ESG Report FY2025 — Verified by Deloitte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FY2026 Forward Guidance</a:t>
            </a:r>
            <a:endParaRPr lang="en-US" dirty="0"/>
          </a:p>
        </p:txBody>
      </p:sp>
      <p:graphicFrame>
        <p:nvGraphicFramePr>
          <p:cNvPr id="4" name="Chart 4"/>
          <p:cNvGraphicFramePr>
            <a:graphicFrameLocks noGrp="1"/>
          </p:cNvGraphicFramePr>
          <p:nvPr/>
        </p:nvGraphicFramePr>
        <p:xfrm>
          <a:off x="381000" y="762000"/>
          <a:ext cx="4762500" cy="3238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View 5"/>
          <p:cNvSpPr/>
          <p:nvPr/>
        </p:nvSpPr>
        <p:spPr>
          <a:xfrm>
            <a:off x="5429250" y="762000"/>
            <a:ext cx="3238500" cy="3238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5581650" y="914400"/>
            <a:ext cx="29337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0F2540"/>
                </a:solidFill>
                <a:latin typeface="Arial"/>
              </a:rPr>
              <a:t>Strategic Priorities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5581650" y="1143000"/>
            <a:ext cx="2933700" cy="5524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lvl="0"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AI-native product suite expansion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FedRAMP High authorization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APAC go-to-market acceleration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Strategic acquisitions (2–3 targets)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Operating margin improvement to 15%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381000" y="4953000"/>
            <a:ext cx="226695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Management Guidance — Board Approved February 2026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F172A"/>
            </a:gs>
            <a:gs pos="100000">
              <a:srgbClr val="1E1B4B"/>
            </a:gs>
          </a:gsLst>
          <a:lin ang="4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762000" y="571500"/>
            <a:ext cx="7620000" cy="4000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3105"/>
              </a:lnSpc>
            </a:pPr>
            <a:r>
              <a:rPr lang="en-US" sz="2700" b="1" dirty="0">
                <a:solidFill>
                  <a:srgbClr val="FFFFFF"/>
                </a:solidFill>
                <a:latin typeface="Arial"/>
              </a:rPr>
              <a:t>Thank You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762000" y="1095375"/>
            <a:ext cx="76200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1207"/>
              </a:lnSpc>
            </a:pPr>
            <a:r>
              <a:rPr lang="en-US" sz="1050" dirty="0">
                <a:solidFill>
                  <a:srgbClr val="94A3B8"/>
                </a:solidFill>
                <a:latin typeface="Arial"/>
              </a:rPr>
              <a:t>Board of Directors</a:t>
            </a:r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1143000" y="1714500"/>
            <a:ext cx="32385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FFFFFF"/>
                </a:solidFill>
                <a:latin typeface="Arial"/>
              </a:rPr>
              <a:t>Sarah Chen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1143000" y="1885950"/>
            <a:ext cx="32385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94A3B8"/>
                </a:solidFill>
                <a:latin typeface="Arial"/>
              </a:rPr>
              <a:t>CEO &amp; Chair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4762500" y="1714500"/>
            <a:ext cx="32385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FFFFFF"/>
                </a:solidFill>
                <a:latin typeface="Arial"/>
              </a:rPr>
              <a:t>Dr. James Whitfield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4762500" y="1885950"/>
            <a:ext cx="32385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94A3B8"/>
                </a:solidFill>
                <a:latin typeface="Arial"/>
              </a:rPr>
              <a:t>Lead Independent Director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1143000" y="2476500"/>
            <a:ext cx="32385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FFFFFF"/>
                </a:solidFill>
                <a:latin typeface="Arial"/>
              </a:rPr>
              <a:t>Maria Gonzalez</a:t>
            </a:r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1143000" y="2647950"/>
            <a:ext cx="32385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94A3B8"/>
                </a:solidFill>
                <a:latin typeface="Arial"/>
              </a:rPr>
              <a:t>Audit Committee Chair</a:t>
            </a:r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4762500" y="2476500"/>
            <a:ext cx="32385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FFFFFF"/>
                </a:solidFill>
                <a:latin typeface="Arial"/>
              </a:rPr>
              <a:t>Robert Nakamura</a:t>
            </a:r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4762500" y="2647950"/>
            <a:ext cx="32385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94A3B8"/>
                </a:solidFill>
                <a:latin typeface="Arial"/>
              </a:rPr>
              <a:t>Compensation Committee Chair</a:t>
            </a:r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1143000" y="3238500"/>
            <a:ext cx="32385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FFFFFF"/>
                </a:solidFill>
                <a:latin typeface="Arial"/>
              </a:rPr>
              <a:t>Dr. Aisha Patel</a:t>
            </a:r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1143000" y="3409950"/>
            <a:ext cx="32385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94A3B8"/>
                </a:solidFill>
                <a:latin typeface="Arial"/>
              </a:rPr>
              <a:t>Technology Committee Chair</a:t>
            </a:r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4762500" y="3238500"/>
            <a:ext cx="32385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FFFFFF"/>
                </a:solidFill>
                <a:latin typeface="Arial"/>
              </a:rPr>
              <a:t>Thomas Bergström</a:t>
            </a:r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4762500" y="3409950"/>
            <a:ext cx="32385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94A3B8"/>
                </a:solidFill>
                <a:latin typeface="Arial"/>
              </a:rPr>
              <a:t>Governance Committee Chair</a:t>
            </a:r>
            <a:endParaRPr lang="en-US" dirty="0"/>
          </a:p>
        </p:txBody>
      </p:sp>
      <p:sp>
        <p:nvSpPr>
          <p:cNvPr id="17" name="Text 17"/>
          <p:cNvSpPr txBox="1"/>
          <p:nvPr/>
        </p:nvSpPr>
        <p:spPr>
          <a:xfrm>
            <a:off x="1143000" y="4000500"/>
            <a:ext cx="32385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FFFFFF"/>
                </a:solidFill>
                <a:latin typeface="Arial"/>
              </a:rPr>
              <a:t>Linda Chow</a:t>
            </a:r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1143000" y="4171950"/>
            <a:ext cx="32385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94A3B8"/>
                </a:solidFill>
                <a:latin typeface="Arial"/>
              </a:rPr>
              <a:t>Independent Director</a:t>
            </a:r>
            <a:endParaRPr 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4762500" y="4000500"/>
            <a:ext cx="32385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FFFFFF"/>
                </a:solidFill>
                <a:latin typeface="Arial"/>
              </a:rPr>
              <a:t>Michael O'Brien</a:t>
            </a:r>
            <a:endParaRPr lang="en-US" dirty="0"/>
          </a:p>
        </p:txBody>
      </p:sp>
      <p:sp>
        <p:nvSpPr>
          <p:cNvPr id="20" name="Text 20"/>
          <p:cNvSpPr txBox="1"/>
          <p:nvPr/>
        </p:nvSpPr>
        <p:spPr>
          <a:xfrm>
            <a:off x="4762500" y="4171950"/>
            <a:ext cx="32385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dirty="0">
                <a:solidFill>
                  <a:srgbClr val="94A3B8"/>
                </a:solidFill>
                <a:latin typeface="Arial"/>
              </a:rPr>
              <a:t>Independent Director</a:t>
            </a:r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762000" y="4743450"/>
            <a:ext cx="76200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862"/>
              </a:lnSpc>
            </a:pPr>
            <a:r>
              <a:rPr lang="en-US" sz="750" dirty="0">
                <a:solidFill>
                  <a:srgbClr val="94A3B8"/>
                </a:solidFill>
                <a:latin typeface="Arial"/>
              </a:rPr>
              <a:t>ir@accelion.com  |  accelion.com/investors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Appendix: Consolidated Financial Statements</a:t>
            </a:r>
            <a:endParaRPr lang="en-US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381000" y="762000"/>
          <a:ext cx="5238750" cy="1"/>
        </p:xfrm>
        <a:graphic>
          <a:graphicData uri="http://schemas.openxmlformats.org/drawingml/2006/table">
            <a:tbl>
              <a:tblPr firstRow="0" bandRow="1"/>
              <a:tblGrid>
                <a:gridCol w="2095500"/>
                <a:gridCol w="1047750"/>
                <a:gridCol w="1047750"/>
                <a:gridCol w="1047750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/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FY2025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FY2024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FY2023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Revenue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$255.0M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$210.0M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$178.0M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Cost of Revenue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($82.0M)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($69.3M)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($60.5M)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Gross Profit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$173.0M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$140.7M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$117.5M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R&amp;D Expense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($85.0M)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($67.2M)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($55.1M)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Sales &amp; Marketing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($38.0M)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($33.6M)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($29.5M)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General &amp; Admin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($18.0M)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($14.7M)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($12.8M)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EBITDA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$32.0M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$25.2M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$20.1M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Net Income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$11.0M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$8.4M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$5.8M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4857750" y="762000"/>
          <a:ext cx="3429000" cy="1"/>
        </p:xfrm>
        <a:graphic>
          <a:graphicData uri="http://schemas.openxmlformats.org/drawingml/2006/table">
            <a:tbl>
              <a:tblPr firstRow="0" bandRow="1"/>
              <a:tblGrid>
                <a:gridCol w="1714500"/>
                <a:gridCol w="857250"/>
                <a:gridCol w="857250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/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FY2025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FY2024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Cash &amp; Equivalents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$192M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$148M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Accounts Receivable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$58M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$46M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Total Current Assets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$285M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$224M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Total Assets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$520M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$412M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Total Current Liabilities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$95M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$78M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Total Liabilities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$185M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$152M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Shareholders' Equity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$335M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$260M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381000" y="3286125"/>
          <a:ext cx="4191000" cy="1"/>
        </p:xfrm>
        <a:graphic>
          <a:graphicData uri="http://schemas.openxmlformats.org/drawingml/2006/table">
            <a:tbl>
              <a:tblPr firstRow="0" bandRow="1"/>
              <a:tblGrid>
                <a:gridCol w="2095500"/>
                <a:gridCol w="1047750"/>
                <a:gridCol w="1047750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Cash Flows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FY2025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FY2024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Operating Activities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$68M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$52M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Investing Activities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($35M)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($28M)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Financing Activities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$11M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$8M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Net Change in Cash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$44M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$32M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 7"/>
          <p:cNvSpPr txBox="1"/>
          <p:nvPr/>
        </p:nvSpPr>
        <p:spPr>
          <a:xfrm>
            <a:off x="381000" y="4953000"/>
            <a:ext cx="174307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All figures audited by PricewaterhouseCoopers LLP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unchMatrix">
  <a:themeElements>
    <a:clrScheme name="LaunchMatrix">
      <a:dk1>
        <a:srgbClr val="1B1B3A"/>
      </a:dk1>
      <a:lt1>
        <a:srgbClr val="FFFFFF"/>
      </a:lt1>
      <a:dk2>
        <a:srgbClr val="2D2D5E"/>
      </a:dk2>
      <a:lt2>
        <a:srgbClr val="F5F5F5"/>
      </a:lt2>
      <a:accent1>
        <a:srgbClr val="003DA5"/>
      </a:accent1>
      <a:accent2>
        <a:srgbClr val="0070C0"/>
      </a:accent2>
      <a:accent3>
        <a:srgbClr val="00B050"/>
      </a:accent3>
      <a:accent4>
        <a:srgbClr val="FFC000"/>
      </a:accent4>
      <a:accent5>
        <a:srgbClr val="FF6600"/>
      </a:accent5>
      <a:accent6>
        <a:srgbClr val="C0000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Deva" typeface="Mangal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Deva" typeface="Mang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lumMod val="102000"/>
                <a:satMod val="130000"/>
              </a:schemeClr>
            </a:gs>
            <a:gs pos="100000">
              <a:schemeClr val="phClr">
                <a:shade val="90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PaperJSX</Application>
  <PresentationFormat>On-screen Show (16:9)</PresentationFormat>
  <Slides>16</Slides>
  <HiddenSlides>0</HiddenSlide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Calibri</vt:lpstr>
      <vt:lpstr>Calibri Light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Accelion Technologies — 2025 Annual Report</dc:title>
  <dc:creator>PaperJSX</dc:creator>
  <cp:lastModifiedBy>PaperJSX</cp:lastModifiedBy>
  <cp:revision>1</cp:revision>
  <dcterms:created xsi:type="dcterms:W3CDTF">2026-03-08T10:06:15Z</dcterms:created>
  <dcterms:modified xsi:type="dcterms:W3CDTF">2026-03-08T10:06:15Z</dcterms:modified>
</cp:coreProperties>
</file>