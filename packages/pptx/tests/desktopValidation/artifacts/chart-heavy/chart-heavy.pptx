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libri"/>
              </a:rPr>
              <a:t>Pipeline coverage by segment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171"/>
          <c:y val="0.165"/>
          <c:w val="0.7393"/>
          <c:h val="0.7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2.7</c:v>
                </c:pt>
                <c:pt idx="2">
                  <c:v>3.4</c:v>
                </c:pt>
                <c:pt idx="3">
                  <c:v>2.8</c:v>
                </c:pt>
                <c:pt idx="4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6A34A"/>
            </a:solidFill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  <c:pt idx="4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quarter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</c:v>
                </c:pt>
                <c:pt idx="1">
                  <c:v>2.3</c:v>
                </c:pt>
                <c:pt idx="2">
                  <c:v>3</c:v>
                </c:pt>
                <c:pt idx="3">
                  <c:v>2.2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</c:dLbls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-1200000"/>
          <a:lstStyle/>
          <a:p>
            <a:pPr>
              <a:defRPr sz="750">
                <a:latin typeface="Aptos"/>
              </a:defRPr>
            </a:pPr>
            <a:endParaRPr lang="en-US" dirty="0"/>
          </a:p>
        </c:tx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750">
                <a:latin typeface="Calibri"/>
              </a:defRPr>
            </a:pPr>
            <a:endParaRPr lang="en-US" dirty="0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r"/>
      <c:overlay val="0"/>
      <c:txPr>
        <a:bodyPr/>
        <a:lstStyle/>
        <a:p>
          <a:pPr>
            <a:defRPr sz="825">
              <a:latin typeface="Apto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Revenue mix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371"/>
          <c:y val="0.1476"/>
          <c:w val="0.9259"/>
          <c:h val="0.7289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9D18E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Services</c:v>
                </c:pt>
                <c:pt idx="2">
                  <c:v>Support</c:v>
                </c:pt>
                <c:pt idx="3">
                  <c:v>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21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</c:dLbls>
      </c:pieChart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750">
              <a:latin typeface="Calibri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Expansion drivers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371"/>
          <c:y val="0.1476"/>
          <c:w val="0.9259"/>
          <c:h val="0.72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($M)</c:v>
                </c:pt>
              </c:strCache>
            </c:strRef>
          </c:tx>
          <c:spPr>
            <a:solidFill>
              <a:srgbClr val="0EA5E9"/>
            </a:solidFill>
          </c:spPr>
          <c:cat>
            <c:strRef>
              <c:f>Sheet1!$A$2:$A$5</c:f>
              <c:strCache>
                <c:ptCount val="4"/>
                <c:pt idx="0">
                  <c:v>Seat growth</c:v>
                </c:pt>
                <c:pt idx="1">
                  <c:v>New SKUs</c:v>
                </c:pt>
                <c:pt idx="2">
                  <c:v>Price uplift</c:v>
                </c:pt>
                <c:pt idx="3">
                  <c:v>Renewal recovery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</c:v>
                </c:pt>
                <c:pt idx="1">
                  <c:v>4.4</c:v>
                </c:pt>
                <c:pt idx="2">
                  <c:v>3.2</c:v>
                </c:pt>
                <c:pt idx="3">
                  <c:v>2.7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750">
              <a:latin typeface="Calibri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  <Relationship Id="rId3" Type="http://schemas.openxmlformats.org/officeDocument/2006/relationships/chart" Target="../charts/chart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14350" y="266700"/>
            <a:ext cx="8191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"/>
                <a:cs typeface=""/>
              </a:rPr>
              <a:t>Legend reservation should not shrink plot area to 2/3 width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571500" y="914400"/>
          <a:ext cx="800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s noGrp="1"/>
          </p:cNvGraphicFramePr>
          <p:nvPr/>
        </p:nvGraphicFramePr>
        <p:xfrm>
          <a:off x="4572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46863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Heavy Corpus</dc:title>
  <dc:creator>PaperJSX</dc:creator>
  <cp:lastModifiedBy>PaperJSX</cp:lastModifiedBy>
  <cp:revision>1</cp:revision>
  <dcterms:created xsi:type="dcterms:W3CDTF">2026-03-13T06:43:54Z</dcterms:created>
  <dcterms:modified xsi:type="dcterms:W3CDTF">2026-03-13T06:43:54Z</dcterms:modified>
</cp:coreProperties>
</file>