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 sz="1350" b="1">
                <a:solidFill>
                  <a:srgbClr val="000000"/>
                </a:solidFill>
                <a:latin typeface="Calibri"/>
              </a:rPr>
              <a:t>Pipeline coverage by segment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1.7100000000000001E-2"/>
          <c:y val="0.16500000000000001"/>
          <c:w val="0.81499999999999995"/>
          <c:h val="0.7950000000000000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ln w="19050">
              <a:solidFill>
                <a:srgbClr val="2563EB"/>
              </a:solidFill>
            </a:ln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2.7</c:v>
                </c:pt>
                <c:pt idx="2">
                  <c:v>3.4</c:v>
                </c:pt>
                <c:pt idx="3">
                  <c:v>2.8</c:v>
                </c:pt>
                <c:pt idx="4">
                  <c:v>2.2999999999999998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20C-1241-9997-082640F36E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19050">
              <a:solidFill>
                <a:srgbClr val="16A34A"/>
              </a:solidFill>
            </a:ln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2.5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  <c:pt idx="4">
                  <c:v>2.4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20C-1241-9997-082640F36E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quarter</c:v>
                </c:pt>
              </c:strCache>
            </c:strRef>
          </c:tx>
          <c:spPr>
            <a:ln w="19050">
              <a:solidFill>
                <a:srgbClr val="F97316"/>
              </a:solidFill>
            </a:ln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1.8</c:v>
                </c:pt>
                <c:pt idx="1">
                  <c:v>2.2999999999999998</c:v>
                </c:pt>
                <c:pt idx="2">
                  <c:v>3</c:v>
                </c:pt>
                <c:pt idx="3">
                  <c:v>2.2000000000000002</c:v>
                </c:pt>
                <c:pt idx="4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20C-1241-9997-082640F36E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-1200000"/>
          <a:lstStyle/>
          <a:p>
            <a:pPr>
              <a:defRPr sz="750">
                <a:latin typeface="Carlito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750">
                <a:latin typeface="Calibri"/>
              </a:defRPr>
            </a:pPr>
            <a:endParaRPr lang="en-US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r"/>
      <c:layout>
        <c:manualLayout>
          <c:xMode val="edge"/>
          <c:yMode val="edge"/>
          <c:x val="0.84289999999999998"/>
          <c:y val="0.16500000000000001"/>
          <c:w val="0.14000000000000001"/>
          <c:h val="0.79500000000000004"/>
        </c:manualLayout>
      </c:layout>
      <c:overlay val="0"/>
      <c:txPr>
        <a:bodyPr/>
        <a:lstStyle/>
        <a:p>
          <a:pPr>
            <a:defRPr sz="825">
              <a:latin typeface="Carlito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 sz="1200" b="1">
                <a:solidFill>
                  <a:srgbClr val="000000"/>
                </a:solidFill>
                <a:latin typeface="Calibri"/>
              </a:rPr>
              <a:t>Revenue mix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3.7100000000000001E-2"/>
          <c:y val="0.14760000000000001"/>
          <c:w val="0.92589999999999995"/>
          <c:h val="0.7084000000000000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FY26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6B7A-CB41-B666-8624AEE72469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3-6B7A-CB41-B666-8624AEE72469}"/>
              </c:ext>
            </c:extLst>
          </c:dPt>
          <c:dPt>
            <c:idx val="2"/>
            <c:bubble3D val="0"/>
            <c:spPr>
              <a:solidFill>
                <a:srgbClr val="A9D18E"/>
              </a:solidFill>
            </c:spPr>
            <c:extLst>
              <c:ext xmlns:c16="http://schemas.microsoft.com/office/drawing/2014/chart" uri="{C3380CC4-5D6E-409C-BE32-E72D297353CC}">
                <c16:uniqueId val="{00000005-6B7A-CB41-B666-8624AEE72469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7-6B7A-CB41-B666-8624AEE7246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75"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Platform</c:v>
                </c:pt>
                <c:pt idx="1">
                  <c:v>Services</c:v>
                </c:pt>
                <c:pt idx="2">
                  <c:v>Support</c:v>
                </c:pt>
                <c:pt idx="3">
                  <c:v>Usage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21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7A-CB41-B666-8624AEE72469}"/>
            </c:ext>
          </c:extLst>
        </c:ser>
        <c:dLbls>
          <c:dLblPos val="bestFit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3.7100000000000001E-2"/>
          <c:y val="0.88109999999999999"/>
          <c:w val="0.92589999999999995"/>
          <c:h val="7.8899999999999998E-2"/>
        </c:manualLayout>
      </c:layout>
      <c:overlay val="0"/>
      <c:txPr>
        <a:bodyPr/>
        <a:lstStyle/>
        <a:p>
          <a:pPr>
            <a:defRPr sz="750"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 sz="1200" b="1">
                <a:solidFill>
                  <a:srgbClr val="000000"/>
                </a:solidFill>
                <a:latin typeface="Calibri"/>
              </a:rPr>
              <a:t>Expansion drivers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3.7100000000000001E-2"/>
          <c:y val="0.14760000000000001"/>
          <c:w val="0.92589999999999995"/>
          <c:h val="0.634700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($M)</c:v>
                </c:pt>
              </c:strCache>
            </c:strRef>
          </c:tx>
          <c:spPr>
            <a:solidFill>
              <a:srgbClr val="0EA5E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75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Seat growth</c:v>
                </c:pt>
                <c:pt idx="1">
                  <c:v>New SKUs</c:v>
                </c:pt>
                <c:pt idx="2">
                  <c:v>Price uplift</c:v>
                </c:pt>
                <c:pt idx="3">
                  <c:v>Renewal recovery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</c:v>
                </c:pt>
                <c:pt idx="1">
                  <c:v>4.4000000000000004</c:v>
                </c:pt>
                <c:pt idx="2">
                  <c:v>3.2</c:v>
                </c:pt>
                <c:pt idx="3">
                  <c:v>2.7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463-B249-8FB9-7CA47298F8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3.7100000000000001E-2"/>
          <c:y val="0.88109999999999999"/>
          <c:w val="0.92589999999999995"/>
          <c:h val="7.8899999999999998E-2"/>
        </c:manualLayout>
      </c:layout>
      <c:overlay val="0"/>
      <c:txPr>
        <a:bodyPr/>
        <a:lstStyle/>
        <a:p>
          <a:pPr>
            <a:defRPr sz="750"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14350" y="266700"/>
            <a:ext cx="8191500" cy="4191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Legend reservation should not shrink plot area to 2/3 width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571500" y="914400"/>
          <a:ext cx="8001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/>
          <p:cNvGraphicFramePr>
            <a:graphicFrameLocks noGrp="1"/>
          </p:cNvGraphicFramePr>
          <p:nvPr/>
        </p:nvGraphicFramePr>
        <p:xfrm>
          <a:off x="457200" y="457200"/>
          <a:ext cx="3905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4686300" y="457200"/>
          <a:ext cx="3905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Liberation Sans</vt:lpstr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Heavy Corpus</dc:title>
  <dc:creator>Runstamp</dc:creator>
  <cp:lastModifiedBy>진용 김</cp:lastModifiedBy>
  <cp:revision>1</cp:revision>
  <dcterms:created xsi:type="dcterms:W3CDTF">1980-01-01T00:00:02Z</dcterms:created>
  <dcterms:modified xsi:type="dcterms:W3CDTF">2026-08-14T13:13:54Z</dcterms:modified>
</cp:coreProperties>
</file>