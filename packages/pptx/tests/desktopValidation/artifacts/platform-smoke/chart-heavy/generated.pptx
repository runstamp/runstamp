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webp" ContentType="image/webp"/>
  <Default Extension="tiff" ContentType="image/tiff"/>
  <Default Extension="bmp" ContentType="image/bmp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5" Type="http://schemas.openxmlformats.org/package/2006/relationships/metadata/thumbnail" Target="docProps/thumbnail.jpeg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  <p:sldId id="257" r:id="rId4"/>
  </p:sldIdLst>
  <p:sldSz cx="12192000" cy="6858000" type="custom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presProps" Target="presProps.xml"/>
  <Relationship Id="rId6" Type="http://schemas.openxmlformats.org/officeDocument/2006/relationships/viewProps" Target="viewProps.xml"/>
  <Relationship Id="rId7" Type="http://schemas.openxmlformats.org/officeDocument/2006/relationships/tableStyles" Target="tableStyles.xml"/>
</Relationships>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lsx"/>
</Relationships>
</file>

<file path=ppt/charts/_rels/chart2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2.xlsx"/>
</Relationships>
</file>

<file path=ppt/charts/_rels/chart3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3.xlsx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/>
          <a:lstStyle/>
          <a:p>
            <a:r>
              <a:rPr lang="en-US" sz="1350" b="1">
                <a:solidFill>
                  <a:srgbClr val="000000"/>
                </a:solidFill>
                <a:latin typeface="Calibri"/>
              </a:rPr>
              <a:t>Pipeline coverage by segment</a:t>
            </a:r>
          </a:p>
        </c:rich>
      </c:tx>
      <c:overlay val="0"/>
    </c:title>
    <c:plotArea>
      <c:layout>
        <c:manualLayout>
          <c:layoutTarget val="inner"/>
          <c:xMode val="edge"/>
          <c:yMode val="edge"/>
          <c:wMode val="factor"/>
          <c:hMode val="factor"/>
          <c:x val="0.0171"/>
          <c:y val="0.165"/>
          <c:w val="0.8193"/>
          <c:h val="0.79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Sheet1!$A$2:$A$6</c:f>
              <c:strCache>
                <c:ptCount val="5"/>
                <c:pt idx="0">
                  <c:v>SMB</c:v>
                </c:pt>
                <c:pt idx="1">
                  <c:v>Mid-market</c:v>
                </c:pt>
                <c:pt idx="2">
                  <c:v>Enterprise</c:v>
                </c:pt>
                <c:pt idx="3">
                  <c:v>Public Sector</c:v>
                </c:pt>
                <c:pt idx="4">
                  <c:v>Partners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2.1</c:v>
                </c:pt>
                <c:pt idx="1">
                  <c:v>2.7</c:v>
                </c:pt>
                <c:pt idx="2">
                  <c:v>3.4</c:v>
                </c:pt>
                <c:pt idx="3">
                  <c:v>2.8</c:v>
                </c:pt>
                <c:pt idx="4">
                  <c:v>2.3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16A34A"/>
            </a:solidFill>
          </c:spPr>
          <c:cat>
            <c:strRef>
              <c:f>Sheet1!$A$2:$A$6</c:f>
              <c:strCache>
                <c:ptCount val="5"/>
                <c:pt idx="0">
                  <c:v>SMB</c:v>
                </c:pt>
                <c:pt idx="1">
                  <c:v>Mid-market</c:v>
                </c:pt>
                <c:pt idx="2">
                  <c:v>Enterprise</c:v>
                </c:pt>
                <c:pt idx="3">
                  <c:v>Public Sector</c:v>
                </c:pt>
                <c:pt idx="4">
                  <c:v>Partners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2.5</c:v>
                </c:pt>
                <c:pt idx="1">
                  <c:v>2.8</c:v>
                </c:pt>
                <c:pt idx="2">
                  <c:v>3.1</c:v>
                </c:pt>
                <c:pt idx="3">
                  <c:v>2.9</c:v>
                </c:pt>
                <c:pt idx="4">
                  <c:v>2.4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Prior quarter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Sheet1!$A$2:$A$6</c:f>
              <c:strCache>
                <c:ptCount val="5"/>
                <c:pt idx="0">
                  <c:v>SMB</c:v>
                </c:pt>
                <c:pt idx="1">
                  <c:v>Mid-market</c:v>
                </c:pt>
                <c:pt idx="2">
                  <c:v>Enterprise</c:v>
                </c:pt>
                <c:pt idx="3">
                  <c:v>Public Sector</c:v>
                </c:pt>
                <c:pt idx="4">
                  <c:v>Partners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1.8</c:v>
                </c:pt>
                <c:pt idx="1">
                  <c:v>2.3</c:v>
                </c:pt>
                <c:pt idx="2">
                  <c:v>3</c:v>
                </c:pt>
                <c:pt idx="3">
                  <c:v>2.2</c:v>
                </c:pt>
                <c:pt idx="4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675">
                  <a:latin typeface="Calibri"/>
                </a:defRPr>
              </a:pPr>
              <a:endParaRPr lang="en-US" dirty="0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</c:dLbls>
        <c:marker val="0"/>
        <c:axId val="111111111"/>
        <c:axId val="222222222"/>
      </c:line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txPr>
          <a:bodyPr rot="-1200000"/>
          <a:lstStyle/>
          <a:p>
            <a:pPr>
              <a:defRPr sz="750">
                <a:latin typeface="Aptos"/>
              </a:defRPr>
            </a:pPr>
            <a:endParaRPr lang="en-US" dirty="0"/>
          </a:p>
        </c:tx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txPr>
          <a:bodyPr rot="0"/>
          <a:lstStyle/>
          <a:p>
            <a:pPr>
              <a:defRPr sz="750">
                <a:latin typeface="Calibri"/>
              </a:defRPr>
            </a:pPr>
            <a:endParaRPr lang="en-US" dirty="0"/>
          </a:p>
        </c:tx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r"/>
      <c:overlay val="0"/>
      <c:txPr>
        <a:bodyPr/>
        <a:lstStyle/>
        <a:p>
          <a:pPr>
            <a:defRPr sz="825">
              <a:latin typeface="Aptos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/>
          <a:lstStyle/>
          <a:p>
            <a:r>
              <a:rPr lang="en-US" sz="1200" b="1">
                <a:solidFill>
                  <a:srgbClr val="000000"/>
                </a:solidFill>
                <a:latin typeface="Calibri"/>
              </a:rPr>
              <a:t>Revenue mix</a:t>
            </a:r>
          </a:p>
        </c:rich>
      </c:tx>
      <c:overlay val="0"/>
    </c:title>
    <c:plotArea>
      <c:layout>
        <c:manualLayout>
          <c:layoutTarget val="inner"/>
          <c:xMode val="edge"/>
          <c:yMode val="edge"/>
          <c:wMode val="factor"/>
          <c:hMode val="factor"/>
          <c:x val="0.0371"/>
          <c:y val="0.1476"/>
          <c:w val="0.9259"/>
          <c:h val="0.7368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FY26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9D18E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cat>
            <c:strRef>
              <c:f>Sheet1!$A$2:$A$5</c:f>
              <c:strCache>
                <c:ptCount val="4"/>
                <c:pt idx="0">
                  <c:v>Platform</c:v>
                </c:pt>
                <c:pt idx="1">
                  <c:v>Services</c:v>
                </c:pt>
                <c:pt idx="2">
                  <c:v>Support</c:v>
                </c:pt>
                <c:pt idx="3">
                  <c:v>Usage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</c:v>
                </c:pt>
                <c:pt idx="1">
                  <c:v>21</c:v>
                </c:pt>
                <c:pt idx="2">
                  <c:v>14</c:v>
                </c:pt>
                <c:pt idx="3">
                  <c:v>13</c:v>
                </c:pt>
              </c:numCache>
            </c:numRef>
          </c:val>
        </c:ser>
        <c:dLbls>
          <c:txPr>
            <a:bodyPr/>
            <a:lstStyle/>
            <a:p>
              <a:pPr>
                <a:defRPr sz="675">
                  <a:latin typeface="Calibri"/>
                </a:defRPr>
              </a:pPr>
              <a:endParaRPr lang="en-US" dirty="0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</c:dLbls>
      </c:pieChart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750">
              <a:latin typeface="Calibri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/>
          <a:lstStyle/>
          <a:p>
            <a:r>
              <a:rPr lang="en-US" sz="1200" b="1">
                <a:solidFill>
                  <a:srgbClr val="000000"/>
                </a:solidFill>
                <a:latin typeface="Calibri"/>
              </a:rPr>
              <a:t>Expansion drivers</a:t>
            </a:r>
          </a:p>
        </c:rich>
      </c:tx>
      <c:overlay val="0"/>
    </c:title>
    <c:plotArea>
      <c:layout>
        <c:manualLayout>
          <c:layoutTarget val="inner"/>
          <c:xMode val="edge"/>
          <c:yMode val="edge"/>
          <c:wMode val="factor"/>
          <c:hMode val="factor"/>
          <c:x val="0.0371"/>
          <c:y val="0.1476"/>
          <c:w val="0.9259"/>
          <c:h val="0.7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 ($M)</c:v>
                </c:pt>
              </c:strCache>
            </c:strRef>
          </c:tx>
          <c:spPr>
            <a:solidFill>
              <a:srgbClr val="0EA5E9"/>
            </a:solidFill>
          </c:spPr>
          <c:cat>
            <c:strRef>
              <c:f>Sheet1!$A$2:$A$5</c:f>
              <c:strCache>
                <c:ptCount val="4"/>
                <c:pt idx="0">
                  <c:v>Seat growth</c:v>
                </c:pt>
                <c:pt idx="1">
                  <c:v>New SKUs</c:v>
                </c:pt>
                <c:pt idx="2">
                  <c:v>Price uplift</c:v>
                </c:pt>
                <c:pt idx="3">
                  <c:v>Renewal recovery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</c:v>
                </c:pt>
                <c:pt idx="1">
                  <c:v>4.4</c:v>
                </c:pt>
                <c:pt idx="2">
                  <c:v>3.2</c:v>
                </c:pt>
                <c:pt idx="3">
                  <c:v>2.7</c:v>
                </c:pt>
              </c:numCache>
            </c:numRef>
          </c:val>
        </c:ser>
        <c:dLbls>
          <c:txPr>
            <a:bodyPr/>
            <a:lstStyle/>
            <a:p>
              <a:pPr>
                <a:defRPr sz="675">
                  <a:latin typeface="Calibri"/>
                </a:defRPr>
              </a:pPr>
              <a:endParaRPr lang="en-US" dirty="0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750">
              <a:latin typeface="Calibri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2.xml"/>
  <Relationship Id="rId3" Type="http://schemas.openxmlformats.org/officeDocument/2006/relationships/chart" Target="../charts/chart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14350" y="266700"/>
            <a:ext cx="8191500" cy="4191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16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"/>
                <a:cs typeface=""/>
              </a:rPr>
              <a:t>Legend reservation should not shrink plot area to 2/3 width</a:t>
            </a:r>
            <a:endParaRPr lang="en-US" dirty="0"/>
          </a:p>
        </p:txBody>
      </p:sp>
      <p:graphicFrame>
        <p:nvGraphicFramePr>
          <p:cNvPr id="3" name="Chart 3"/>
          <p:cNvGraphicFramePr>
            <a:graphicFrameLocks noGrp="1"/>
          </p:cNvGraphicFramePr>
          <p:nvPr/>
        </p:nvGraphicFramePr>
        <p:xfrm>
          <a:off x="571500" y="914400"/>
          <a:ext cx="8001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2"/>
          <p:cNvGraphicFramePr>
            <a:graphicFrameLocks noGrp="1"/>
          </p:cNvGraphicFramePr>
          <p:nvPr/>
        </p:nvGraphicFramePr>
        <p:xfrm>
          <a:off x="457200" y="457200"/>
          <a:ext cx="39052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3"/>
          <p:cNvGraphicFramePr>
            <a:graphicFrameLocks noGrp="1"/>
          </p:cNvGraphicFramePr>
          <p:nvPr/>
        </p:nvGraphicFramePr>
        <p:xfrm>
          <a:off x="4686300" y="457200"/>
          <a:ext cx="39052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PaperJSX</Application>
  <PresentationFormat>On-screen Show (16:9)</PresentationFormat>
  <Slides>2</Slides>
  <HiddenSlides>0</Hidden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Calibri</vt:lpstr>
      <vt:lpstr>Calibri Light</vt:lpstr>
      <vt:lpstr>Office Theme</vt:lpstr>
      <vt:lpstr>Slide 1</vt:lpstr>
      <vt:lpstr>Slide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 Heavy Corpus</dc:title>
  <dc:creator>PaperJSX</dc:creator>
  <cp:lastModifiedBy>PaperJSX</cp:lastModifiedBy>
  <cp:revision>1</cp:revision>
  <dcterms:created xsi:type="dcterms:W3CDTF">2026-04-01T15:08:08Z</dcterms:created>
  <dcterms:modified xsi:type="dcterms:W3CDTF">2026-04-01T15:08:08Z</dcterms:modified>
</cp:coreProperties>
</file>