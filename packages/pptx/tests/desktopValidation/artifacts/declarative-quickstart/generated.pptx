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44"/>
          <c:y val="0.0436"/>
          <c:w val="0.9712"/>
          <c:h val="0.6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A0A0A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2.4</c:v>
                </c:pt>
                <c:pt idx="2">
                  <c:v>3.1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44"/>
          <c:y val="0.8473"/>
          <c:w val="0.9712"/>
          <c:h val="0.1091"/>
        </c:manualLayout>
      </c:layout>
      <c:overlay val="0"/>
      <c:txPr>
        <a:bodyPr/>
        <a:lstStyle/>
        <a:p>
          <a:pPr>
            <a:defRPr sz="750">
              <a:solidFill>
                <a:srgbClr val="6B6B6B"/>
              </a:solidFill>
              <a:latin typeface="Carlito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1-q3-board-review-composition.1"/>
          <p:cNvSpPr txBox="1"/>
          <p:nvPr/>
        </p:nvSpPr>
        <p:spPr>
          <a:xfrm>
            <a:off x="609600" y="1295400"/>
            <a:ext cx="79248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Q3 Board Review</a:t>
            </a:r>
            <a:endParaRPr lang="en-US" dirty="0"/>
          </a:p>
        </p:txBody>
      </p:sp>
      <p:sp>
        <p:nvSpPr>
          <p:cNvPr id="3" name="!!deck-q3-board-review-slide-1-q3-board-review-composition.2"/>
          <p:cNvSpPr txBox="1"/>
          <p:nvPr/>
        </p:nvSpPr>
        <p:spPr>
          <a:xfrm>
            <a:off x="609600" y="1809750"/>
            <a:ext cx="79248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2000"/>
              </a:lnSpc>
            </a:pPr>
            <a:r>
              <a:rPr lang="en-US" sz="14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October 2026</a:t>
            </a:r>
            <a:endParaRPr lang="en-US" dirty="0"/>
          </a:p>
        </p:txBody>
      </p:sp>
      <p:sp>
        <p:nvSpPr>
          <p:cNvPr id="4" name="!!deck-q3-board-review-slide-1-q3-board-review-composition.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ctr" lIns="0" tIns="0" rIns="0" bIns="0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1</a:t>
            </a:r>
            <a:endParaRPr lang="en-US" dirty="0"/>
          </a:p>
        </p:txBody>
      </p:sp>
    </p:spTree>
  </p:cSld>
  <p:clrMapOvr>
    <a:masterClrMapping/>
  </p:clrMapOvr>
  <p:transition spd="med" advClick="1"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2-operating-metrics-kpi-grid.1"/>
          <p:cNvSpPr txBox="1"/>
          <p:nvPr/>
        </p:nvSpPr>
        <p:spPr>
          <a:xfrm>
            <a:off x="533400" y="53340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Operating metrics</a:t>
            </a:r>
            <a:endParaRPr lang="en-US" dirty="0"/>
          </a:p>
        </p:txBody>
      </p:sp>
      <p:sp>
        <p:nvSpPr>
          <p:cNvPr id="3" name="!!deck-q3-board-review-slide-2-operating-metrics-kpi-grid.2"/>
          <p:cNvSpPr txBox="1"/>
          <p:nvPr/>
        </p:nvSpPr>
        <p:spPr>
          <a:xfrm>
            <a:off x="533400" y="1524000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ARR</a:t>
            </a:r>
            <a:endParaRPr lang="en-US" dirty="0"/>
          </a:p>
        </p:txBody>
      </p:sp>
      <p:sp>
        <p:nvSpPr>
          <p:cNvPr id="4" name="!!deck-q3-board-review-slide-2-operating-metrics-kpi-grid.3"/>
          <p:cNvSpPr txBox="1"/>
          <p:nvPr/>
        </p:nvSpPr>
        <p:spPr>
          <a:xfrm>
            <a:off x="533400" y="17335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$4.2M</a:t>
            </a:r>
            <a:endParaRPr lang="en-US" dirty="0"/>
          </a:p>
        </p:txBody>
      </p:sp>
      <p:sp>
        <p:nvSpPr>
          <p:cNvPr id="5" name="!!deck-q3-board-review-slide-2-operating-metrics-kpi-grid.4"/>
          <p:cNvSpPr txBox="1"/>
          <p:nvPr/>
        </p:nvSpPr>
        <p:spPr>
          <a:xfrm>
            <a:off x="533400" y="2209800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+18%</a:t>
            </a:r>
            <a:endParaRPr lang="en-US" dirty="0"/>
          </a:p>
        </p:txBody>
      </p:sp>
      <p:sp>
        <p:nvSpPr>
          <p:cNvPr id="6" name="!!deck-q3-board-review-slide-2-operating-metrics-kpi-grid.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" y="2466975"/>
            <a:ext cx="8077200" cy="4763"/>
          </a:xfrm>
          <a:prstGeom prst="rect">
            <a:avLst/>
          </a:prstGeom>
          <a:solidFill>
            <a:srgbClr val="E5E5E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!!deck-q3-board-review-slide-2-operating-metrics-kpi-grid.6"/>
          <p:cNvSpPr txBox="1"/>
          <p:nvPr/>
        </p:nvSpPr>
        <p:spPr>
          <a:xfrm>
            <a:off x="533400" y="2543175"/>
            <a:ext cx="8077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NRR</a:t>
            </a:r>
            <a:endParaRPr lang="en-US" dirty="0"/>
          </a:p>
        </p:txBody>
      </p:sp>
      <p:sp>
        <p:nvSpPr>
          <p:cNvPr id="8" name="!!deck-q3-board-review-slide-2-operating-metrics-kpi-grid.7"/>
          <p:cNvSpPr txBox="1"/>
          <p:nvPr/>
        </p:nvSpPr>
        <p:spPr>
          <a:xfrm>
            <a:off x="533400" y="27622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112%</a:t>
            </a:r>
            <a:endParaRPr lang="en-US" dirty="0"/>
          </a:p>
        </p:txBody>
      </p:sp>
      <p:sp>
        <p:nvSpPr>
          <p:cNvPr id="9" name="!!deck-q3-board-review-slide-2-operating-metrics-kpi-grid.8"/>
          <p:cNvSpPr txBox="1"/>
          <p:nvPr/>
        </p:nvSpPr>
        <p:spPr>
          <a:xfrm>
            <a:off x="533400" y="3228975"/>
            <a:ext cx="8077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+4pt</a:t>
            </a:r>
            <a:endParaRPr lang="en-US" dirty="0"/>
          </a:p>
        </p:txBody>
      </p:sp>
      <p:sp>
        <p:nvSpPr>
          <p:cNvPr id="10" name="!!deck-q3-board-review-slide-2-operating-metrics-kpi-grid.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" y="3486150"/>
            <a:ext cx="8077200" cy="4763"/>
          </a:xfrm>
          <a:prstGeom prst="rect">
            <a:avLst/>
          </a:prstGeom>
          <a:solidFill>
            <a:srgbClr val="E5E5E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!!deck-q3-board-review-slide-2-operating-metrics-kpi-grid.10"/>
          <p:cNvSpPr txBox="1"/>
          <p:nvPr/>
        </p:nvSpPr>
        <p:spPr>
          <a:xfrm>
            <a:off x="533400" y="3571875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Pipeline</a:t>
            </a:r>
            <a:endParaRPr lang="en-US" dirty="0"/>
          </a:p>
        </p:txBody>
      </p:sp>
      <p:sp>
        <p:nvSpPr>
          <p:cNvPr id="12" name="!!deck-q3-board-review-slide-2-operating-metrics-kpi-grid.11"/>
          <p:cNvSpPr txBox="1"/>
          <p:nvPr/>
        </p:nvSpPr>
        <p:spPr>
          <a:xfrm>
            <a:off x="533400" y="37909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$8.6M</a:t>
            </a:r>
            <a:endParaRPr lang="en-US" dirty="0"/>
          </a:p>
        </p:txBody>
      </p:sp>
      <p:sp>
        <p:nvSpPr>
          <p:cNvPr id="13" name="!!deck-q3-board-review-slide-2-operating-metrics-kpi-grid.12"/>
          <p:cNvSpPr txBox="1"/>
          <p:nvPr/>
        </p:nvSpPr>
        <p:spPr>
          <a:xfrm>
            <a:off x="533400" y="4257675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+12%</a:t>
            </a:r>
            <a:endParaRPr lang="en-US" dirty="0"/>
          </a:p>
        </p:txBody>
      </p:sp>
      <p:sp>
        <p:nvSpPr>
          <p:cNvPr id="14" name="!!deck-q3-board-review-slide-2-operating-metrics-kpi-grid.1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ctr" lIns="0" tIns="0" rIns="0" bIns="0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2</a:t>
            </a:r>
            <a:endParaRPr lang="en-US" dirty="0"/>
          </a:p>
        </p:txBody>
      </p:sp>
    </p:spTree>
  </p:cSld>
  <p:clrMapOvr>
    <a:masterClrMapping/>
  </p:clrMapOvr>
  <p:transition spd="med" advClick="1"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3-revenue-accelerated-through-q3-composition.1"/>
          <p:cNvSpPr txBox="1"/>
          <p:nvPr/>
        </p:nvSpPr>
        <p:spPr>
          <a:xfrm>
            <a:off x="609600" y="609600"/>
            <a:ext cx="79248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t" lIns="0" tIns="0" rIns="0" bIns="0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Revenue accelerated through Q3</a:t>
            </a:r>
            <a:endParaRPr lang="en-US" dirty="0"/>
          </a:p>
        </p:txBody>
      </p:sp>
      <p:graphicFrame>
        <p:nvGraphicFramePr>
          <p:cNvPr id="3" name="!!deck-q3-board-review-slide-3-revenue-accelerated-through-q3-composition.2" descr="Revenue accelerated through Q3"/>
          <p:cNvGraphicFramePr>
            <a:graphicFrameLocks noGrp="1"/>
          </p:cNvGraphicFramePr>
          <p:nvPr/>
        </p:nvGraphicFramePr>
        <p:xfrm>
          <a:off x="609600" y="1647825"/>
          <a:ext cx="792480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!!deck-q3-board-review-slide-3-revenue-accelerated-through-q3-composition.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anchor="ctr" lIns="0" tIns="0" rIns="0" bIns="0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3</a:t>
            </a:r>
            <a:endParaRPr lang="en-US" dirty="0"/>
          </a:p>
        </p:txBody>
      </p:sp>
    </p:spTree>
  </p:cSld>
  <p:clrMapOvr>
    <a:masterClrMapping/>
  </p:clrMapOvr>
  <p:transition spd="med" advClick="1"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theme/theme1.xml><?xml version="1.0" encoding="utf-8"?>
<a:theme xmlns:a="http://schemas.openxmlformats.org/drawingml/2006/main" name="Runstamp Protocol">
  <a:themeElements>
    <a:clrScheme name="Runstamp Protocol">
      <a:dk1>
        <a:srgbClr val="0A0A0A"/>
      </a:dk1>
      <a:lt1>
        <a:srgbClr val="FFFFFF"/>
      </a:lt1>
      <a:dk2>
        <a:srgbClr val="6B6B6B"/>
      </a:dk2>
      <a:lt2>
        <a:srgbClr val="E5E5E5"/>
      </a:lt2>
      <a:accent1>
        <a:srgbClr val="0A0A0A"/>
      </a:accent1>
      <a:accent2>
        <a:srgbClr val="A8A8A8"/>
      </a:accent2>
      <a:accent3>
        <a:srgbClr val="6B6B6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3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Carlito</vt:lpstr>
      <vt:lpstr>Carlito</vt:lpstr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Board Review</dc:title>
  <dc:creator>Runstamp Protocol Compiler</dc:creator>
  <cp:lastModifiedBy>Runstamp Protocol Compiler</cp:lastModifiedBy>
  <cp:revision>1</cp:revision>
  <dcterms:created xsi:type="dcterms:W3CDTF">1980-01-01T00:00:02Z</dcterms:created>
  <dcterms:modified xsi:type="dcterms:W3CDTF">1980-01-01T00:00:02Z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unstamp.deckId">
    <vt:lpwstr>deck-q3-board-review</vt:lpwstr>
  </property>
  <property fmtid="{D5CDD505-2E9C-101B-9397-08002B2CF9AE}" pid="3" name="runstamp.lineageManifest">
    <vt:lpwstr>{"deckId":"deck-q3-board-review","slides":[{"slideId":"deck-q3-board-review-slide-1-q3-board-review","componentId":"deck-q3-board-review-slide-1-q3-board-review-composition","title":"Q3 Board Review","slideType":"composition","componentIds":["deck-q3-board-review-slide-1-q3-board-review-composition.1","deck-q3-board-review-slide-1-q3-board-review-composition.2","deck-q3-board-review-slide-1-q3-board-review-composition.3"],"bindingKeys":[]},{"slideId":"deck-q3-board-review-slide-2-operating-metrics","componentId":"deck-q3-board-review-slide-2-operating-metrics-kpi-grid","title":"Operating metrics","slideType":"kpi-grid","componentIds":["deck-q3-board-review-slide-2-operating-metrics-kpi-grid.1","deck-q3-board-review-slide-2-operating-metrics-kpi-grid.2","deck-q3-board-review-slide-2-operating-metrics-kpi-grid.3","deck-q3-board-review-slide-2-operating-metrics-kpi-grid.4","deck-q3-board-review-slide-2-operating-metrics-kpi-grid.5","deck-q3-board-review-slide-2-operating-metrics-kpi-grid.6","deck-q3-board-review-slide-2-operating-metrics-kpi-grid.7","deck-q3-board-review-slide-2-operating-metrics-kpi-grid.8","deck-q3-board-review-slide-2-operating-metrics-kpi-grid.9","deck-q3-board-review-slide-2-operating-metrics-kpi-grid.10","deck-q3-board-review-slide-2-operating-metrics-kpi-grid.11","deck-q3-board-review-slide-2-operating-metrics-kpi-grid.12","deck-q3-board-review-slide-2-operating-metrics-kpi-grid.13"],"bindingKeys":[]},{"slideId":"deck-q3-board-review-slide-3-revenue-accelerated-through-q3","componentId":"deck-q3-board-review-slide-3-revenue-accelerated-through-q3-composition","title":"Revenue accelerated through Q3","slideType":"composition","componentIds":["deck-q3-board-review-slide-3-revenue-accelerated-through-q3-composition.1","deck-q3-board-review-slide-3-revenue-accelerated-through-q3-composition.2","deck-q3-board-review-slide-3-revenue-accelerated-through-q3-composition.3"],"bindingKeys":[]}]}</vt:lpwstr>
  </property>
  <property fmtid="{D5CDD505-2E9C-101B-9397-08002B2CF9AE}" pid="4" name="runstamp.layoutSafetyReport">
    <vt:lpwstr>[{"slideType":"composition","overflows":{"titleBlock_0":"fit"},"layoutDebug":{"slideIndex":0,"slideSize":{"width":960,"height":540},"nodes":[{"path":"slides[0].children[0]","nodeType":"Text","rect":{"left":64,"top":136.66666666666669,"width":832,"height":45.33333333333333},"decorative":false,"textFit":{"availableWidth":832,"availableHeight":45.33333333333333,"overflow":false,"nominalLineHeight":45.33333333333333,"lineHeightClips":false,"policy":"strict","lineCount":1,"unexpectedWrap":false,"tightWrap":false,"minReadableWidth":126.93333333333331,"fontScale":100000,"lnSpcReduction":0},"blockKey":"titleBlock_0"},{"path":"slides[0].children[1]","nodeType":"Text","rect":{"left":64,"top":190,"width":832,"height":26.666666666666664},"decorative":false,"textFit":{"availableWidth":832,"availableHeight":26.666666666666664,"overflow":false,"nominalLineHeight":26.666666666666664,"lineHeightClips":false,"policy":"strict","lineCount":1,"unexpectedWrap":false,"tightWrap":false,"minReadableWidth":63.466666666666654,"fontScale":100000,"lnSpcReduction":0},"blockKey":"titleBlock_0"},{"path":"slides[0].children[2]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,"blockKey":"footer_0"}],"issues":[]},"mode":"standard","validationIssueCount":0},{"slideType":"kpi-grid","overflows":{"title":"fit","kpi":"fit"},"layoutDebug":{"slideIndex":1,"slideSize":{"width":960,"height":540},"nodes":[{"path":"slides[1].children[0]","nodeType":"Text","rect":{"left":56,"top":56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[1]","nodeType":"Text","rect":{"left":56,"top":160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[2]","nodeType":"Text","rect":{"left":56,"top":182.66666666666666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[3]","nodeType":"Text","rect":{"left":56,"top":232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[4]","nodeType":"View","rect":{"left":56,"top":258.66666666666663,"width":848,"height":1},"decorative":true},{"path":"slides[1].children[5]","nodeType":"Text","rect":{"left":56,"top":267.66666666666663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[6]","nodeType":"Text","rect":{"left":56,"top":290.3333333333333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[7]","nodeType":"Text","rect":{"left":56,"top":339.66666666666663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[8]","nodeType":"View","rect":{"left":56,"top":366.3333333333333,"width":848,"height":1},"decorative":true},{"path":"slides[1].children[9]","nodeType":"Text","rect":{"left":56,"top":375.3333333333333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[10]","nodeType":"Text","rect":{"left":56,"top":398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[11]","nodeType":"Text","rect":{"left":56,"top":447.3333333333333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[12]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}],"issues":[]},"mode":"standard","validationIssueCount":0},{"slideType":"composition","overflows":{"titleBlock_0":"fit","chartBlock_1":"fit"},"layoutDebug":{"slideIndex":2,"slideSize":{"width":960,"height":540},"nodes":[{"path":"slides[2].children[0]","nodeType":"Text","rect":{"left":64,"top":64,"width":832,"height":45.33333333333333},"decorative":false,"textFit":{"availableWidth":832,"availableHeight":45.33333333333333,"overflow":false,"nominalLineHeight":45.33333333333333,"lineHeightClips":false,"policy":"strict","lineCount":1,"unexpectedWrap":false,"tightWrap":false,"minReadableWidth":126.93333333333331,"fontScale":100000,"lnSpcReduction":0},"blockKey":"titleBlock_0"},{"path":"slides[2].children[1]","nodeType":"Chart","rect":{"left":64,"top":173,"width":832,"height":274.6666666666667},"decorative":false,"chartFit":{"chartType":"bar","plotArea":{"left":75.9808,"top":185.0029,"width":808.0384,"height":185.812},"legendBox":{"left":76,"top":405.6666666666667,"width":808,"height":30},"categoryAxisBand":{"left":75.9808,"top":370.8149,"width":808.0384,"height":34.85176666666666},"annotationBoxes":[],"boxes":[{"kind":"plotArea","rect":{"left":75.9808,"top":185.0029,"width":808.0384,"height":185.812},"label":"plot"},{"kind":"legend","rect":{"left":76,"top":405.6666666666667,"width":808,"height":30},"label":"legend"},{"kind":"categoryAxisBand","rect":{"left":75.9808,"top":370.8149,"width":808.0384,"height":34.85176666666666},"label":"x-axis labels"}],"labelCollisionRisk":false,"legendMarginRisk":false,"annotationCollisionRisk":false,"issues":[]},"blockKey":"chartBlock_1"},{"path":"slides[2].children[2]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,"blockKey":"footer_0"}],"issues":[]},"mode":"standard","validationIssueCount":0}]</vt:lpwstr>
  </property>
  <property fmtid="{D5CDD505-2E9C-101B-9397-08002B2CF9AE}" pid="5" name="runstamp.slide.1.id">
    <vt:lpwstr>deck-q3-board-review-slide-1-q3-board-review</vt:lpwstr>
  </property>
  <property fmtid="{D5CDD505-2E9C-101B-9397-08002B2CF9AE}" pid="6" name="runstamp.slide.1.componentId">
    <vt:lpwstr>deck-q3-board-review-slide-1-q3-board-review-composition</vt:lpwstr>
  </property>
  <property fmtid="{D5CDD505-2E9C-101B-9397-08002B2CF9AE}" pid="7" name="runstamp.slide.2.id">
    <vt:lpwstr>deck-q3-board-review-slide-2-operating-metrics</vt:lpwstr>
  </property>
  <property fmtid="{D5CDD505-2E9C-101B-9397-08002B2CF9AE}" pid="8" name="runstamp.slide.2.componentId">
    <vt:lpwstr>deck-q3-board-review-slide-2-operating-metrics-kpi-grid</vt:lpwstr>
  </property>
  <property fmtid="{D5CDD505-2E9C-101B-9397-08002B2CF9AE}" pid="9" name="runstamp.slide.3.id">
    <vt:lpwstr>deck-q3-board-review-slide-3-revenue-accelerated-through-q3</vt:lpwstr>
  </property>
  <property fmtid="{D5CDD505-2E9C-101B-9397-08002B2CF9AE}" pid="10" name="runstamp.slide.3.componentId">
    <vt:lpwstr>deck-q3-board-review-slide-3-revenue-accelerated-through-q3-composition</vt:lpwstr>
  </property>
</Properties>
</file>