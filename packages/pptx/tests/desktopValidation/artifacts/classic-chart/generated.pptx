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webp" ContentType="image/webp"/>
  <Default Extension="tiff" ContentType="image/tiff"/>
  <Default Extension="bmp" ContentType="image/bmp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5" Type="http://schemas.openxmlformats.org/package/2006/relationships/metadata/thumbnail" Target="docProps/thumbnail.jpeg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3"/>
  </p:sldIdLst>
  <p:sldSz cx="12192000" cy="6858000" type="custom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presProps" Target="presProps.xml"/>
  <Relationship Id="rId5" Type="http://schemas.openxmlformats.org/officeDocument/2006/relationships/viewProps" Target="viewProps.xml"/>
  <Relationship Id="rId6" Type="http://schemas.openxmlformats.org/officeDocument/2006/relationships/tableStyles" Target="tableStyles.xml"/>
</Relationships>
</file>

<file path=ppt/charts/_rels/chart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.xlsx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/>
          <a:lstStyle/>
          <a:p>
            <a:r>
              <a:rPr lang="en-US" sz="1350" b="1">
                <a:solidFill>
                  <a:srgbClr val="000000"/>
                </a:solidFill>
                <a:latin typeface="Carlito"/>
              </a:rPr>
              <a:t>Bookings by region</a:t>
            </a:r>
          </a:p>
        </c:rich>
      </c:tx>
      <c:overlay val="0"/>
    </c:title>
    <c:plotArea>
      <c:layout>
        <c:manualLayout>
          <c:layoutTarget val="inner"/>
          <c:xMode val="edge"/>
          <c:yMode val="edge"/>
          <c:wMode val="factor"/>
          <c:hMode val="factor"/>
          <c:x val="0.017"/>
          <c:y val="0.1695"/>
          <c:w val="0.9661"/>
          <c:h val="0.581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FY25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Sheet1!$A$2:$A$5</c:f>
              <c:strCache>
                <c:ptCount val="4"/>
                <c:pt idx="0">
                  <c:v>North America</c:v>
                </c:pt>
                <c:pt idx="1">
                  <c:v>Europe</c:v>
                </c:pt>
                <c:pt idx="2">
                  <c:v>APAC</c:v>
                </c:pt>
                <c:pt idx="3">
                  <c:v>LATAM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28</c:v>
                </c:pt>
                <c:pt idx="2">
                  <c:v>31</c:v>
                </c:pt>
                <c:pt idx="3">
                  <c:v>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FY26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Sheet1!$A$2:$A$5</c:f>
              <c:strCache>
                <c:ptCount val="4"/>
                <c:pt idx="0">
                  <c:v>North America</c:v>
                </c:pt>
                <c:pt idx="1">
                  <c:v>Europe</c:v>
                </c:pt>
                <c:pt idx="2">
                  <c:v>APAC</c:v>
                </c:pt>
                <c:pt idx="3">
                  <c:v>LATAM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54</c:v>
                </c:pt>
                <c:pt idx="1">
                  <c:v>34</c:v>
                </c:pt>
                <c:pt idx="2">
                  <c:v>39</c:v>
                </c:pt>
                <c:pt idx="3">
                  <c:v>17</c:v>
                </c:pt>
              </c:numCache>
            </c:numRef>
          </c:val>
        </c:ser>
        <c:dLbls>
          <c:numFmt formatCode="General" sourceLinked="1"/>
          <c:txPr>
            <a:bodyPr/>
            <a:lstStyle/>
            <a:p>
              <a:pPr>
                <a:defRPr sz="750">
                  <a:latin typeface="Carlito"/>
                </a:defRPr>
              </a:pPr>
              <a:endParaRPr lang="en-US" dirty="0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txPr>
          <a:bodyPr rot="0"/>
          <a:lstStyle/>
          <a:p>
            <a:pPr>
              <a:defRPr sz="825">
                <a:latin typeface="Carlito"/>
              </a:defRPr>
            </a:pPr>
            <a:endParaRPr lang="en-US" dirty="0"/>
          </a:p>
        </c:tx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>
          <c:spPr>
            <a:ln>
              <a:solidFill>
                <a:srgbClr val="CBD5E1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txPr>
          <a:bodyPr rot="0"/>
          <a:lstStyle/>
          <a:p>
            <a:pPr>
              <a:defRPr sz="825">
                <a:latin typeface="Carlito"/>
              </a:defRPr>
            </a:pPr>
            <a:endParaRPr lang="en-US" dirty="0"/>
          </a:p>
        </c:txPr>
        <c:crossAx val="111111111"/>
        <c:crosses val="autoZero"/>
        <c:crossBetween val="between"/>
      </c:valAx>
      <c:spPr>
        <a:noFill/>
        <a:ln>
          <a:noFill/>
        </a:ln>
      </c:spPr>
    </c:plotArea>
    <c:legend>
      <c:legendPos val="b"/>
      <c:layout>
        <c:manualLayout>
          <c:xMode val="edge"/>
          <c:yMode val="edge"/>
          <c:wMode val="factor"/>
          <c:hMode val="factor"/>
          <c:x val="0.017"/>
          <c:y val="0.8646"/>
          <c:w val="0.9661"/>
          <c:h val="0.0954"/>
        </c:manualLayout>
      </c:layout>
      <c:overlay val="0"/>
      <c:txPr>
        <a:bodyPr/>
        <a:lstStyle/>
        <a:p>
          <a:pPr>
            <a:defRPr sz="825">
              <a:latin typeface="Carlito"/>
            </a:defRPr>
          </a:pPr>
          <a:endParaRPr lang="en-US" dirty="0"/>
        </a:p>
      </c:txPr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00050"/>
            <a:ext cx="8001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2563"/>
              </a:lnSpc>
            </a:pPr>
            <a:r>
              <a:rPr lang="en-US" sz="2100" b="1" dirty="0">
                <a:solidFill>
                  <a:srgbClr val="0F172A"/>
                </a:solidFill>
                <a:latin typeface="Carlito"/>
                <a:ea typeface=""/>
                <a:cs typeface=""/>
              </a:rPr>
              <a:t>Quarterly bookings expanded in every region</a:t>
            </a:r>
            <a:endParaRPr lang="en-US" dirty="0"/>
          </a:p>
        </p:txBody>
      </p:sp>
      <p:graphicFrame>
        <p:nvGraphicFramePr>
          <p:cNvPr id="3" name="Chart 3"/>
          <p:cNvGraphicFramePr>
            <a:graphicFrameLocks noGrp="1"/>
          </p:cNvGraphicFramePr>
          <p:nvPr/>
        </p:nvGraphicFramePr>
        <p:xfrm>
          <a:off x="685800" y="1123950"/>
          <a:ext cx="7772400" cy="3295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9D18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!-- Batch E will replace these script slots once matching assets are admitted. --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Deva" typeface="Mangal"/>
      </a:majorFont>
      <a:minorFont>
        <a:latin typeface="Carlito"/>
        <a:ea typeface=""/>
        <a:cs typeface=""/>
        <!-- Batch E will replace these script slots once matching assets are admitted. --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Deva" typeface="Mang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lumMod val="102000"/>
                <a:satMod val="130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Runstamp</Application>
  <PresentationFormat>On-screen Show (16:9)</PresentationFormat>
  <Slides>1</Slides>
  <HiddenSlides>0</HiddenSlide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Carlito</vt:lpstr>
      <vt:lpstr>Carlito</vt:lpstr>
      <vt:lpstr>Office Theme</vt:lpstr>
      <vt:lpstr>Slide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Classic Chart Baseline</dc:title>
  <dc:creator>Runstamp</dc:creator>
  <cp:lastModifiedBy>Runstamp</cp:lastModifiedBy>
  <cp:revision>1</cp:revision>
  <dcterms:created xsi:type="dcterms:W3CDTF">1980-01-01T00:00:02Z</dcterms:created>
  <dcterms:modified xsi:type="dcterms:W3CDTF">1980-01-01T00:00:02Z</dcterms:modified>
</cp:coreProperties>
</file>