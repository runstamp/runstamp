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TAM</c:v>
                </c:pt>
                <c:pt idx="1">
                  <c:v>SAM</c:v>
                </c:pt>
                <c:pt idx="2">
                  <c:v>SOM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24</c:v>
                </c:pt>
                <c:pt idx="2">
                  <c:v>3.2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Q1 '25</c:v>
                </c:pt>
                <c:pt idx="1">
                  <c:v>Q2 '25</c:v>
                </c:pt>
                <c:pt idx="2">
                  <c:v>Q3 '25</c:v>
                </c:pt>
                <c:pt idx="3">
                  <c:v>Q4 '25</c:v>
                </c:pt>
                <c:pt idx="4">
                  <c:v>Q1 '26</c:v>
                </c:pt>
                <c:pt idx="5">
                  <c:v>Q2 '26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280</c:v>
                </c:pt>
                <c:pt idx="2">
                  <c:v>520</c:v>
                </c:pt>
                <c:pt idx="3">
                  <c:v>890</c:v>
                </c:pt>
                <c:pt idx="4">
                  <c:v>1400</c:v>
                </c:pt>
                <c:pt idx="5">
                  <c:v>2100</c:v>
                </c:pt>
              </c:numCache>
            </c:numRef>
          </c:val>
          <c:smooth val="1"/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Q3 '26</c:v>
                </c:pt>
                <c:pt idx="1">
                  <c:v>Q4 '26</c:v>
                </c:pt>
                <c:pt idx="2">
                  <c:v>Q1 '27</c:v>
                </c:pt>
                <c:pt idx="3">
                  <c:v>Q2 '27</c:v>
                </c:pt>
                <c:pt idx="4">
                  <c:v>Q3 '27</c:v>
                </c:pt>
                <c:pt idx="5">
                  <c:v>Q4 '27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680</c:v>
                </c:pt>
                <c:pt idx="1">
                  <c:v>950</c:v>
                </c:pt>
                <c:pt idx="2">
                  <c:v>1300</c:v>
                </c:pt>
                <c:pt idx="3">
                  <c:v>1800</c:v>
                </c:pt>
                <c:pt idx="4">
                  <c:v>2400</c:v>
                </c:pt>
                <c:pt idx="5">
                  <c:v>3200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 ($K)</c:v>
                </c:pt>
              </c:strCache>
            </c:strRef>
          </c:tx>
          <c:spPr>
            <a:solidFill>
              <a:srgbClr val="F87171"/>
            </a:solidFill>
          </c:spPr>
          <c:cat>
            <c:strRef>
              <c:f>Sheet1!$A$2:$A$7</c:f>
              <c:strCache>
                <c:ptCount val="6"/>
                <c:pt idx="0">
                  <c:v>Q3 '26</c:v>
                </c:pt>
                <c:pt idx="1">
                  <c:v>Q4 '26</c:v>
                </c:pt>
                <c:pt idx="2">
                  <c:v>Q1 '27</c:v>
                </c:pt>
                <c:pt idx="3">
                  <c:v>Q2 '27</c:v>
                </c:pt>
                <c:pt idx="4">
                  <c:v>Q3 '27</c:v>
                </c:pt>
                <c:pt idx="5">
                  <c:v>Q4 '27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520</c:v>
                </c:pt>
                <c:pt idx="1">
                  <c:v>580</c:v>
                </c:pt>
                <c:pt idx="2">
                  <c:v>640</c:v>
                </c:pt>
                <c:pt idx="3">
                  <c:v>720</c:v>
                </c:pt>
                <c:pt idx="4">
                  <c:v>800</c:v>
                </c:pt>
                <c:pt idx="5">
                  <c:v>880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0F172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0" y="0"/>
            <a:ext cx="12192000" cy="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0" y="0"/>
            <a:ext cx="12192000" cy="504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795"/>
              </a:lnSpc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NovaTech AI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0" y="495300"/>
            <a:ext cx="121920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94A3B8"/>
                </a:solidFill>
                <a:latin typeface="Arial"/>
                <a:ea typeface=""/>
                <a:cs typeface=""/>
              </a:rPr>
              <a:t>Intelligent infrastructure for the next generation of SaaS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0" y="704850"/>
            <a:ext cx="12192000" cy="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0" y="704850"/>
            <a:ext cx="12192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Series A  |  $12M raise  |  June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The Problem</a:t>
            </a:r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pPr algn="ctr">
              <a:lnSpc>
                <a:spcPts val="3105"/>
              </a:lnSpc>
              <a:spcAft>
                <a:spcPts val="600"/>
              </a:spcAft>
            </a:pPr>
            <a:r>
              <a:rPr lang="en-US" sz="270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72%</a:t>
            </a:r>
            <a:endParaRPr lang="en-US" dirty="0"/>
          </a:p>
          <a:p>
            <a:pPr algn="ctr">
              <a:lnSpc>
                <a:spcPts val="1380"/>
              </a:lnSpc>
            </a:pPr>
            <a:r>
              <a:rPr lang="en-US" sz="900" dirty="0">
                <a:solidFill>
                  <a:srgbClr val="991B1B"/>
                </a:solidFill>
                <a:latin typeface="Arial"/>
                <a:ea typeface=""/>
                <a:cs typeface=""/>
              </a:rPr>
              <a:t>of engineering time spent on infrastructure, not product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pPr algn="ctr">
              <a:lnSpc>
                <a:spcPts val="3105"/>
              </a:lnSpc>
              <a:spcAft>
                <a:spcPts val="600"/>
              </a:spcAft>
            </a:pPr>
            <a:r>
              <a:rPr lang="en-US" sz="270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$4.2M</a:t>
            </a:r>
            <a:endParaRPr lang="en-US" dirty="0"/>
          </a:p>
          <a:p>
            <a:pPr algn="ctr">
              <a:lnSpc>
                <a:spcPts val="1380"/>
              </a:lnSpc>
            </a:pPr>
            <a:r>
              <a:rPr lang="en-US" sz="900" dirty="0">
                <a:solidFill>
                  <a:srgbClr val="991B1B"/>
                </a:solidFill>
                <a:latin typeface="Arial"/>
                <a:ea typeface=""/>
                <a:cs typeface=""/>
              </a:rPr>
              <a:t>avg annual cost of DIY infra for Series A startups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pPr algn="ctr">
              <a:lnSpc>
                <a:spcPts val="3105"/>
              </a:lnSpc>
              <a:spcAft>
                <a:spcPts val="600"/>
              </a:spcAft>
            </a:pPr>
            <a:r>
              <a:rPr lang="en-US" sz="270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18 mo</a:t>
            </a:r>
            <a:endParaRPr lang="en-US" dirty="0"/>
          </a:p>
          <a:p>
            <a:pPr algn="ctr">
              <a:lnSpc>
                <a:spcPts val="1380"/>
              </a:lnSpc>
            </a:pPr>
            <a:r>
              <a:rPr lang="en-US" sz="900" dirty="0">
                <a:solidFill>
                  <a:srgbClr val="991B1B"/>
                </a:solidFill>
                <a:latin typeface="Arial"/>
                <a:ea typeface=""/>
                <a:cs typeface=""/>
              </a:rPr>
              <a:t>avg time-to-market delayed by infrastructure debt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0" y="314325"/>
            <a:ext cx="12192000" cy="3333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050" dirty="0">
                <a:solidFill>
                  <a:srgbClr val="475569"/>
                </a:solidFill>
                <a:latin typeface="Arial"/>
                <a:ea typeface=""/>
                <a:cs typeface=""/>
              </a:rPr>
              <a:t>SaaS companies rebuild the same infrastructure over and over — auth, billing, observability, deployment pipelines. Each implementation is slightly different, slightly broken, and consumes senior engineering bandwidth that should be spent on product differentiation.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Our Solution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14325"/>
            <a:ext cx="121920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475569"/>
                </a:solidFill>
                <a:latin typeface="Arial"/>
                <a:ea typeface=""/>
                <a:cs typeface=""/>
              </a:rPr>
              <a:t>A managed infrastructure layer that ships with every SaaS primitive.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0" y="495300"/>
            <a:ext cx="12192000" cy="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0" y="495300"/>
            <a:ext cx="12192000" cy="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0" y="485775"/>
            <a:ext cx="121920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Auth &amp; Identity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0" y="657225"/>
            <a:ext cx="12192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64748B"/>
                </a:solidFill>
                <a:latin typeface="Arial"/>
                <a:ea typeface=""/>
                <a:cs typeface=""/>
              </a:rPr>
              <a:t>SSO, RBAC, MFA — production-ready in minutes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0" y="790575"/>
            <a:ext cx="12192000" cy="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0" y="790575"/>
            <a:ext cx="12192000" cy="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0" y="781050"/>
            <a:ext cx="121920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Billing Engine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0" y="952500"/>
            <a:ext cx="12192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64748B"/>
                </a:solidFill>
                <a:latin typeface="Arial"/>
                <a:ea typeface=""/>
                <a:cs typeface=""/>
              </a:rPr>
              <a:t>Usage-based, seat-based, hybrid — all billing models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0" y="1085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0" y="1085850"/>
            <a:ext cx="12192000" cy="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0" y="1085850"/>
            <a:ext cx="121920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Observability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0" y="1257300"/>
            <a:ext cx="12192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64748B"/>
                </a:solidFill>
                <a:latin typeface="Arial"/>
                <a:ea typeface=""/>
                <a:cs typeface=""/>
              </a:rPr>
              <a:t>Structured logging, metrics, traces — zero config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0" y="1381125"/>
            <a:ext cx="12192000" cy="0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9525">
            <a:solidFill>
              <a:srgbClr val="BAE6FD"/>
            </a:solidFill>
            <a:round/>
          </a:ln>
        </p:spPr>
        <p:txBody>
          <a:bodyPr rtlCol="0" lIns="0" tIns="0" rIns="0" bIns="0"/>
          <a:lstStyle/>
          <a:p>
            <a:pPr>
              <a:lnSpc>
                <a:spcPts val="1552"/>
              </a:lnSpc>
              <a:spcAft>
                <a:spcPts val="1000"/>
              </a:spcAft>
            </a:pPr>
            <a:r>
              <a:rPr lang="en-US" sz="1350" b="1" dirty="0">
                <a:solidFill>
                  <a:srgbClr val="0369A1"/>
                </a:solidFill>
                <a:latin typeface="Arial"/>
                <a:ea typeface=""/>
                <a:cs typeface=""/>
              </a:rPr>
              <a:t>One SDK. One dashboard. Every primitive.</a:t>
            </a:r>
            <a:endParaRPr lang="en-US" dirty="0"/>
          </a:p>
          <a:p>
            <a:pPr>
              <a:lnSpc>
                <a:spcPts val="1380"/>
              </a:lnSpc>
            </a:pPr>
            <a:r>
              <a:rPr lang="en-US" sz="975" dirty="0">
                <a:solidFill>
                  <a:srgbClr val="0C4A6E"/>
                </a:solidFill>
                <a:latin typeface="Arial"/>
                <a:ea typeface=""/>
                <a:cs typeface=""/>
              </a:rPr>
              <a:t>Teams integrate NovaTech in a single afternoon and ship their first feature the same week. Our median customer goes from zero to production in 4 hours.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Market Opportunity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0" y="323850"/>
          <a:ext cx="1219200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View 4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pPr>
              <a:lnSpc>
                <a:spcPts val="138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TAM: $86B</a:t>
            </a:r>
            <a:endParaRPr lang="en-US" dirty="0"/>
          </a:p>
          <a:p>
            <a:pPr>
              <a:lnSpc>
                <a:spcPts val="1380"/>
              </a:lnSpc>
              <a:spcAft>
                <a:spcPts val="1600"/>
              </a:spcAft>
            </a:pPr>
            <a:r>
              <a:rPr lang="en-US" sz="825" dirty="0">
                <a:solidFill>
                  <a:srgbClr val="64748B"/>
                </a:solidFill>
                <a:latin typeface="Arial"/>
                <a:ea typeface=""/>
                <a:cs typeface=""/>
              </a:rPr>
              <a:t>Global cloud infrastructure + DevTools market</a:t>
            </a:r>
            <a:endParaRPr lang="en-US" dirty="0"/>
          </a:p>
          <a:p>
            <a:pPr>
              <a:lnSpc>
                <a:spcPts val="138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SAM: $24B</a:t>
            </a:r>
            <a:endParaRPr lang="en-US" dirty="0"/>
          </a:p>
          <a:p>
            <a:pPr>
              <a:lnSpc>
                <a:spcPts val="1380"/>
              </a:lnSpc>
              <a:spcAft>
                <a:spcPts val="1600"/>
              </a:spcAft>
            </a:pPr>
            <a:r>
              <a:rPr lang="en-US" sz="825" dirty="0">
                <a:solidFill>
                  <a:srgbClr val="64748B"/>
                </a:solidFill>
                <a:latin typeface="Arial"/>
                <a:ea typeface=""/>
                <a:cs typeface=""/>
              </a:rPr>
              <a:t>SaaS backend-as-a-service for B2B startups</a:t>
            </a:r>
            <a:endParaRPr lang="en-US" dirty="0"/>
          </a:p>
          <a:p>
            <a:pPr>
              <a:lnSpc>
                <a:spcPts val="138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SOM: $3.2B</a:t>
            </a:r>
            <a:endParaRPr lang="en-US" dirty="0"/>
          </a:p>
          <a:p>
            <a:pPr>
              <a:lnSpc>
                <a:spcPts val="1380"/>
              </a:lnSpc>
            </a:pPr>
            <a:r>
              <a:rPr lang="en-US" sz="825" dirty="0">
                <a:solidFill>
                  <a:srgbClr val="64748B"/>
                </a:solidFill>
                <a:latin typeface="Arial"/>
                <a:ea typeface=""/>
                <a:cs typeface=""/>
              </a:rPr>
              <a:t>Seed-to-Series B companies in North America &amp; EMEA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Business Model</a:t>
            </a:r>
            <a:endParaRPr lang="en-US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0" y="323850"/>
          <a:ext cx="12192000" cy="0"/>
        </p:xfrm>
        <a:graphic>
          <a:graphicData uri="http://schemas.openxmlformats.org/drawingml/2006/table">
            <a:tbl>
              <a:tblPr firstRow="1" bandRow="1"/>
              <a:tblGrid>
                <a:gridCol w="2076450"/>
                <a:gridCol w="2076450"/>
                <a:gridCol w="2076450"/>
                <a:gridCol w="2076450"/>
              </a:tblGrid>
              <a:tr h="419100">
                <a:tc>
                  <a:txBody>
                    <a:bodyPr rtlCol="0" lIns="0" tIns="0" rIns="0" bIns="0"/>
                    <a:lstStyle/>
                    <a:p>
                      <a:r>
                        <a:rPr lang="en-US" sz="975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975" b="1" dirty="0">
                          <a:solidFill>
                            <a:srgbClr val="FFFFFF"/>
                          </a:solidFill>
                        </a:rPr>
                        <a:t>Starter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975" b="1" dirty="0">
                          <a:solidFill>
                            <a:srgbClr val="FFFFFF"/>
                          </a:solidFill>
                        </a:rPr>
                        <a:t>Growth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975" b="1" dirty="0">
                          <a:solidFill>
                            <a:srgbClr val="FFFFFF"/>
                          </a:solidFill>
                        </a:rPr>
                        <a:t>Enterprise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Price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$0/mo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$499/mo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Custom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MAUs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1,000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50,000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Unlimited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Auth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Billing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Observability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Basic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Full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Full + SLA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Support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Community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Email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Dedicated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Traction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0" y="323850"/>
          <a:ext cx="1219200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View 4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txBody>
          <a:bodyPr rtlCol="0" lIns="0" tIns="0" rIns="0" bIns="0"/>
          <a:lstStyle/>
          <a:p>
            <a:pPr>
              <a:lnSpc>
                <a:spcPts val="1380"/>
              </a:lnSpc>
              <a:spcAft>
                <a:spcPts val="400"/>
              </a:spcAft>
            </a:pPr>
            <a:r>
              <a:rPr lang="en-US" sz="750" dirty="0">
                <a:solidFill>
                  <a:srgbClr val="166534"/>
                </a:solidFill>
                <a:latin typeface="Arial"/>
                <a:ea typeface=""/>
                <a:cs typeface=""/>
              </a:rPr>
              <a:t>ARR</a:t>
            </a:r>
            <a:endParaRPr lang="en-US" dirty="0"/>
          </a:p>
          <a:p>
            <a:pPr>
              <a:lnSpc>
                <a:spcPts val="2415"/>
              </a:lnSpc>
              <a:spcAft>
                <a:spcPts val="200"/>
              </a:spcAft>
            </a:pPr>
            <a:r>
              <a:rPr lang="en-US" sz="2100" b="1" dirty="0">
                <a:solidFill>
                  <a:srgbClr val="14532D"/>
                </a:solidFill>
                <a:latin typeface="Arial"/>
                <a:ea typeface=""/>
                <a:cs typeface=""/>
              </a:rPr>
              <a:t>$2.1M</a:t>
            </a:r>
            <a:endParaRPr lang="en-US" dirty="0"/>
          </a:p>
          <a:p>
            <a:pPr>
              <a:lnSpc>
                <a:spcPts val="1380"/>
              </a:lnSpc>
            </a:pPr>
            <a:r>
              <a:rPr lang="en-US" sz="825" dirty="0">
                <a:solidFill>
                  <a:srgbClr val="15803D"/>
                </a:solidFill>
                <a:latin typeface="Arial"/>
                <a:ea typeface=""/>
                <a:cs typeface=""/>
              </a:rPr>
              <a:t>17x in 18 months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txBody>
          <a:bodyPr rtlCol="0" lIns="0" tIns="0" rIns="0" bIns="0"/>
          <a:lstStyle/>
          <a:p>
            <a:pPr>
              <a:lnSpc>
                <a:spcPts val="1380"/>
              </a:lnSpc>
              <a:spcAft>
                <a:spcPts val="400"/>
              </a:spcAft>
            </a:pPr>
            <a:r>
              <a:rPr lang="en-US" sz="750" dirty="0">
                <a:solidFill>
                  <a:srgbClr val="166534"/>
                </a:solidFill>
                <a:latin typeface="Arial"/>
                <a:ea typeface=""/>
                <a:cs typeface=""/>
              </a:rPr>
              <a:t>Customers</a:t>
            </a:r>
            <a:endParaRPr lang="en-US" dirty="0"/>
          </a:p>
          <a:p>
            <a:pPr>
              <a:lnSpc>
                <a:spcPts val="2415"/>
              </a:lnSpc>
              <a:spcAft>
                <a:spcPts val="200"/>
              </a:spcAft>
            </a:pPr>
            <a:r>
              <a:rPr lang="en-US" sz="2100" b="1" dirty="0">
                <a:solidFill>
                  <a:srgbClr val="14532D"/>
                </a:solidFill>
                <a:latin typeface="Arial"/>
                <a:ea typeface=""/>
                <a:cs typeface=""/>
              </a:rPr>
              <a:t>187</a:t>
            </a:r>
            <a:endParaRPr lang="en-US" dirty="0"/>
          </a:p>
          <a:p>
            <a:pPr>
              <a:lnSpc>
                <a:spcPts val="1380"/>
              </a:lnSpc>
            </a:pPr>
            <a:r>
              <a:rPr lang="en-US" sz="825" dirty="0">
                <a:solidFill>
                  <a:srgbClr val="15803D"/>
                </a:solidFill>
                <a:latin typeface="Arial"/>
                <a:ea typeface=""/>
                <a:cs typeface=""/>
              </a:rPr>
              <a:t>+34 last quarter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txBody>
          <a:bodyPr rtlCol="0" lIns="0" tIns="0" rIns="0" bIns="0"/>
          <a:lstStyle/>
          <a:p>
            <a:pPr>
              <a:lnSpc>
                <a:spcPts val="1380"/>
              </a:lnSpc>
              <a:spcAft>
                <a:spcPts val="400"/>
              </a:spcAft>
            </a:pPr>
            <a:r>
              <a:rPr lang="en-US" sz="750" dirty="0">
                <a:solidFill>
                  <a:srgbClr val="166534"/>
                </a:solidFill>
                <a:latin typeface="Arial"/>
                <a:ea typeface=""/>
                <a:cs typeface=""/>
              </a:rPr>
              <a:t>NRR</a:t>
            </a:r>
            <a:endParaRPr lang="en-US" dirty="0"/>
          </a:p>
          <a:p>
            <a:pPr>
              <a:lnSpc>
                <a:spcPts val="2415"/>
              </a:lnSpc>
              <a:spcAft>
                <a:spcPts val="200"/>
              </a:spcAft>
            </a:pPr>
            <a:r>
              <a:rPr lang="en-US" sz="2100" b="1" dirty="0">
                <a:solidFill>
                  <a:srgbClr val="14532D"/>
                </a:solidFill>
                <a:latin typeface="Arial"/>
                <a:ea typeface=""/>
                <a:cs typeface=""/>
              </a:rPr>
              <a:t>142%</a:t>
            </a:r>
            <a:endParaRPr lang="en-US" dirty="0"/>
          </a:p>
          <a:p>
            <a:pPr>
              <a:lnSpc>
                <a:spcPts val="1380"/>
              </a:lnSpc>
            </a:pPr>
            <a:r>
              <a:rPr lang="en-US" sz="825" dirty="0">
                <a:solidFill>
                  <a:srgbClr val="15803D"/>
                </a:solidFill>
                <a:latin typeface="Arial"/>
                <a:ea typeface=""/>
                <a:cs typeface=""/>
              </a:rPr>
              <a:t>Best-in-class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Team</a:t>
            </a:r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0" y="323850"/>
            <a:ext cx="12192000" cy="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0" y="323850"/>
            <a:ext cx="12192000" cy="0"/>
          </a:xfrm>
          <a:prstGeom prst="ellipse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PS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0" y="314325"/>
            <a:ext cx="121920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Priya Sharma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0" y="476250"/>
            <a:ext cx="12192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CEO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0" y="609600"/>
            <a:ext cx="12192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64748B"/>
                </a:solidFill>
                <a:latin typeface="Arial"/>
                <a:ea typeface=""/>
                <a:cs typeface=""/>
              </a:rPr>
              <a:t>Ex-Stripe, Stanford CS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0" y="733425"/>
            <a:ext cx="12192000" cy="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0" y="733425"/>
            <a:ext cx="12192000" cy="0"/>
          </a:xfrm>
          <a:prstGeom prst="ellipse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DC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0" y="723900"/>
            <a:ext cx="121920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David Chen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0" y="885825"/>
            <a:ext cx="12192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CTO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0" y="1028700"/>
            <a:ext cx="12192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64748B"/>
                </a:solidFill>
                <a:latin typeface="Arial"/>
                <a:ea typeface=""/>
                <a:cs typeface=""/>
              </a:rPr>
              <a:t>Ex-AWS, MIT EECS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0" y="1143000"/>
            <a:ext cx="12192000" cy="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0" y="1143000"/>
            <a:ext cx="12192000" cy="0"/>
          </a:xfrm>
          <a:prstGeom prst="ellipse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AM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0" y="1143000"/>
            <a:ext cx="12192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Ana Morales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0" y="1295400"/>
            <a:ext cx="121920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VP Eng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0" y="1438275"/>
            <a:ext cx="12192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64748B"/>
                </a:solidFill>
                <a:latin typeface="Arial"/>
                <a:ea typeface=""/>
                <a:cs typeface=""/>
              </a:rPr>
              <a:t>Ex-Datadog, 12 yrs infra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0" y="1552575"/>
            <a:ext cx="12192000" cy="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0" y="1552575"/>
            <a:ext cx="12192000" cy="0"/>
          </a:xfrm>
          <a:prstGeom prst="ellipse">
            <a:avLst/>
          </a:prstGeom>
          <a:solidFill>
            <a:srgbClr val="F59E0B"/>
          </a:solidFill>
          <a:ln>
            <a:noFill/>
            <a:round/>
          </a:ln>
        </p:spPr>
        <p:txBody>
          <a:bodyPr rtlCol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MK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0" y="1552575"/>
            <a:ext cx="12192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Marcus Kim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0" y="1714500"/>
            <a:ext cx="12192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VP Sales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0" y="1847850"/>
            <a:ext cx="12192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64748B"/>
                </a:solidFill>
                <a:latin typeface="Arial"/>
                <a:ea typeface=""/>
                <a:cs typeface=""/>
              </a:rPr>
              <a:t>Ex-Twilio, $50M quota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Competitive Landscape</a:t>
            </a:r>
            <a:endParaRPr lang="en-US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0" y="323850"/>
          <a:ext cx="12192000" cy="0"/>
        </p:xfrm>
        <a:graphic>
          <a:graphicData uri="http://schemas.openxmlformats.org/drawingml/2006/table">
            <a:tbl>
              <a:tblPr firstRow="1" bandRow="1"/>
              <a:tblGrid>
                <a:gridCol w="1666875"/>
                <a:gridCol w="1666875"/>
                <a:gridCol w="1666875"/>
                <a:gridCol w="1666875"/>
                <a:gridCol w="1638300"/>
              </a:tblGrid>
              <a:tr h="400050">
                <a:tc>
                  <a:txBody>
                    <a:bodyPr rtlCol="0" lIns="0" tIns="0" rIns="0" bIns="0"/>
                    <a:lstStyle/>
                    <a:p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NovaTech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Auth0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Firebase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Supabase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Auth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Billing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Observability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Basic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Deploy Pipeline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Edge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Unified SDK</a:t>
                      </a:r>
                      <a:endParaRPr lang="en-US" dirty="0"/>
                    </a:p>
                  </a:txBody>
                  <a:tcPr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—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Partial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>Partial</a:t>
                      </a:r>
                      <a:endParaRPr lang="en-US" dirty="0"/>
                    </a:p>
                  </a:txBody>
                  <a:tcPr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T w="4763" cap="flat" cmpd="sng">
                      <a:solidFill>
                        <a:srgbClr val="E2E8F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F172A"/>
                </a:solidFill>
                <a:latin typeface="Arial"/>
                <a:ea typeface=""/>
                <a:cs typeface=""/>
              </a:rPr>
              <a:t>Financial Projections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0" y="323850"/>
          <a:ext cx="12192000" cy="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0F172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0"/>
            <a:ext cx="121920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The Ask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0" y="409575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450"/>
              </a:lnSpc>
            </a:pPr>
            <a:r>
              <a:rPr lang="en-US" sz="30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$12M Series A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0" y="866775"/>
            <a:ext cx="12192000" cy="0"/>
          </a:xfrm>
          <a:prstGeom prst="rect">
            <a:avLst/>
          </a:prstGeom>
          <a:solidFill>
            <a:srgbClr val="33415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0" y="866775"/>
            <a:ext cx="121920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552"/>
              </a:lnSpc>
              <a:spcAft>
                <a:spcPts val="1600"/>
              </a:spcAft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Use of Funds</a:t>
            </a:r>
            <a:endParaRPr lang="en-US" dirty="0"/>
          </a:p>
          <a:p>
            <a:pPr>
              <a:lnSpc>
                <a:spcPts val="1380"/>
              </a:lnSpc>
              <a:spcAft>
                <a:spcPts val="800"/>
              </a:spcAft>
              <a:buClr>
                <a:srgbClr val="2563EB"/>
              </a:buClr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  <a:ea typeface=""/>
                <a:cs typeface=""/>
              </a:rPr>
              <a:t>Engineering (50%) — hire 15 engineers, accelerate product roadmap</a:t>
            </a:r>
            <a:endParaRPr lang="en-US" dirty="0"/>
          </a:p>
          <a:p>
            <a:pPr>
              <a:lnSpc>
                <a:spcPts val="1380"/>
              </a:lnSpc>
              <a:spcAft>
                <a:spcPts val="800"/>
              </a:spcAft>
              <a:buClr>
                <a:srgbClr val="2563EB"/>
              </a:buClr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  <a:ea typeface=""/>
                <a:cs typeface=""/>
              </a:rPr>
              <a:t>Go-to-Market (30%) — scale sales team, launch EMEA</a:t>
            </a:r>
            <a:endParaRPr lang="en-US" dirty="0"/>
          </a:p>
          <a:p>
            <a:pPr>
              <a:lnSpc>
                <a:spcPts val="1380"/>
              </a:lnSpc>
              <a:spcAft>
                <a:spcPts val="800"/>
              </a:spcAft>
              <a:buClr>
                <a:srgbClr val="2563EB"/>
              </a:buClr>
              <a:buChar char="•"/>
            </a:pPr>
            <a:r>
              <a:rPr lang="en-US" sz="1050" dirty="0">
                <a:solidFill>
                  <a:srgbClr val="CBD5E1"/>
                </a:solidFill>
                <a:latin typeface="Arial"/>
                <a:ea typeface=""/>
                <a:cs typeface=""/>
              </a:rPr>
              <a:t>Operations (20%) — SOC 2 Type II, ISO 27001, legal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0" y="1552575"/>
            <a:ext cx="12192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priya@novatech.ai  |  novatech.ai/investors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10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</dc:title>
  <dc:creator>PaperJSX</dc:creator>
  <cp:lastModifiedBy>PaperJSX</cp:lastModifiedBy>
  <cp:revision>1</cp:revision>
  <dcterms:created xsi:type="dcterms:W3CDTF">2026-04-03T02:22:45Z</dcterms:created>
  <dcterms:modified xsi:type="dcterms:W3CDTF">2026-04-03T02:22:45Z</dcterms:modified>
</cp:coreProperties>
</file>