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51435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slide" Target="slides/slide24.xml"/>
  <Relationship Id="rId27" Type="http://schemas.openxmlformats.org/officeDocument/2006/relationships/slide" Target="slides/slide25.xml"/>
  <Relationship Id="rId28" Type="http://schemas.openxmlformats.org/officeDocument/2006/relationships/presProps" Target="presProps.xml"/>
  <Relationship Id="rId29" Type="http://schemas.openxmlformats.org/officeDocument/2006/relationships/viewProps" Target="viewProps.xml"/>
  <Relationship Id="rId30" Type="http://schemas.openxmlformats.org/officeDocument/2006/relationships/tableStyles" Target="tableStyles.xml"/>
</Relationships>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lsx"/>
</Relationships>
</file>

<file path=ppt/charts/_rels/chart2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2.xlsx"/>
</Relationships>
</file>

<file path=ppt/charts/_rels/chart3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3.xlsx"/>
</Relationships>
</file>

<file path=ppt/charts/_rels/chart4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4.xlsx"/>
</Relationships>
</file>

<file path=ppt/charts/_rels/chart5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5.xlsx"/>
</Relationships>
</file>

<file path=ppt/charts/_rels/chart6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6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278"/>
          <c:y val="0.04"/>
          <c:w val="0.9443"/>
          <c:h val="0.729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In-Store</c:v>
                </c:pt>
              </c:strCache>
            </c:strRef>
          </c:tx>
          <c:spPr>
            <a:solidFill>
              <a:srgbClr val="1B3A5C"/>
            </a:solidFill>
          </c:spPr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3200</c:v>
                </c:pt>
                <c:pt idx="1">
                  <c:v>3150</c:v>
                </c:pt>
                <c:pt idx="2">
                  <c:v>3050</c:v>
                </c:pt>
                <c:pt idx="3">
                  <c:v>2980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E-Commerce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180</c:v>
                </c:pt>
                <c:pt idx="1">
                  <c:v>210</c:v>
                </c:pt>
                <c:pt idx="2">
                  <c:v>250</c:v>
                </c:pt>
                <c:pt idx="3">
                  <c:v>300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Wholesale</c:v>
                </c:pt>
              </c:strCache>
            </c:strRef>
          </c:tx>
          <c:spPr>
            <a:solidFill>
              <a:srgbClr val="94A3B8"/>
            </a:solidFill>
          </c:spPr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320</c:v>
                </c:pt>
                <c:pt idx="1">
                  <c:v>340</c:v>
                </c:pt>
                <c:pt idx="2">
                  <c:v>350</c:v>
                </c:pt>
                <c:pt idx="3">
                  <c:v>360</c:v>
                </c:pt>
              </c:numCache>
            </c:numRef>
          </c:val>
        </c:ser>
        <c:dLbls>
          <c:numFmt formatCode="General" sourceLinked="1"/>
          <c:txPr>
            <a:bodyPr/>
            <a:lstStyle/>
            <a:p>
              <a:pPr>
                <a:defRPr sz="600">
                  <a:solidFill>
                    <a:srgbClr val="FFFFFF"/>
                  </a:solidFill>
                  <a:latin typeface="Calibri"/>
                </a:defRPr>
              </a:pPr>
              <a:endParaRPr lang="en-US" dirty="0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75">
                    <a:solidFill>
                      <a:srgbClr val="000000"/>
                    </a:solidFill>
                    <a:latin typeface="Liberation Sans"/>
                  </a:rPr>
                  <a:t>Revenue ($M)</a:t>
                </a:r>
              </a:p>
            </c:rich>
          </c:tx>
          <c:overlay val="0"/>
        </c:title>
        <c:numFmt formatCode="$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layout>
        <c:manualLayout>
          <c:xMode val="edge"/>
          <c:yMode val="edge"/>
          <c:wMode val="factor"/>
          <c:hMode val="factor"/>
          <c:x val="0.0278"/>
          <c:y val="0.8756"/>
          <c:w val="0.9443"/>
          <c:h val="0.0844"/>
        </c:manualLayout>
      </c:layout>
      <c:overlay val="0"/>
      <c:txPr>
        <a:bodyPr/>
        <a:lstStyle/>
        <a:p>
          <a:pPr>
            <a:defRPr sz="675">
              <a:latin typeface="Liberation Sans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24"/>
          <c:y val="0.06"/>
          <c:w val="0.952"/>
          <c:h val="0.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In-Store Spend</c:v>
                </c:pt>
              </c:strCache>
            </c:strRef>
          </c:tx>
          <c:spPr>
            <a:solidFill>
              <a:srgbClr val="1B3A5C"/>
            </a:solidFill>
          </c:spPr>
          <c:cat>
            <c:strRef>
              <c:f>Sheet1!$A$2:$A$5</c:f>
              <c:strCache>
                <c:ptCount val="4"/>
                <c:pt idx="0">
                  <c:v>Digital Natives</c:v>
                </c:pt>
                <c:pt idx="1">
                  <c:v>Omnichannel</c:v>
                </c:pt>
                <c:pt idx="2">
                  <c:v>Traditional</c:v>
                </c:pt>
                <c:pt idx="3">
                  <c:v>Occasional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</c:v>
                </c:pt>
                <c:pt idx="1">
                  <c:v>720</c:v>
                </c:pt>
                <c:pt idx="2">
                  <c:v>1800</c:v>
                </c:pt>
                <c:pt idx="3">
                  <c:v>240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Online Spend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Digital Natives</c:v>
                </c:pt>
                <c:pt idx="1">
                  <c:v>Omnichannel</c:v>
                </c:pt>
                <c:pt idx="2">
                  <c:v>Traditional</c:v>
                </c:pt>
                <c:pt idx="3">
                  <c:v>Occasional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540</c:v>
                </c:pt>
                <c:pt idx="1">
                  <c:v>730</c:v>
                </c:pt>
                <c:pt idx="2">
                  <c:v>300</c:v>
                </c:pt>
                <c:pt idx="3">
                  <c:v>80</c:v>
                </c:pt>
              </c:numCache>
            </c:numRef>
          </c:val>
        </c:ser>
        <c:gapWidth val="6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00">
                    <a:solidFill>
                      <a:srgbClr val="000000"/>
                    </a:solidFill>
                    <a:latin typeface="Liberation Sans"/>
                  </a:rPr>
                  <a:t>Annual Spend ($)</a:t>
                </a:r>
              </a:p>
            </c:rich>
          </c:tx>
          <c:overlay val="0"/>
        </c:title>
        <c:numFmt formatCode="$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layout>
        <c:manualLayout>
          <c:xMode val="edge"/>
          <c:yMode val="edge"/>
          <c:wMode val="factor"/>
          <c:hMode val="factor"/>
          <c:x val="0.024"/>
          <c:y val="0.82"/>
          <c:w val="0.952"/>
          <c:h val="0.12"/>
        </c:manualLayout>
      </c:layout>
      <c:overlay val="0"/>
      <c:txPr>
        <a:bodyPr/>
        <a:lstStyle/>
        <a:p>
          <a:pPr>
            <a:defRPr sz="600">
              <a:latin typeface="Liberation Sans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324"/>
          <c:y val="0.04"/>
          <c:w val="0.9352"/>
          <c:h val="0.7391"/>
        </c:manualLayout>
      </c:layout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Meridian</c:v>
                </c:pt>
              </c:strCache>
            </c:strRef>
          </c:tx>
          <c:spPr>
            <a:solidFill>
              <a:srgbClr val="DC2626"/>
            </a:solidFill>
          </c:spPr>
          <c:cat>
            <c:strRef>
              <c:f>Sheet1!$A$2:$A$7</c:f>
              <c:strCache>
                <c:ptCount val="6"/>
                <c:pt idx="0">
                  <c:v>E-Commerce Platform</c:v>
                </c:pt>
                <c:pt idx="1">
                  <c:v>Data &amp; Analytics</c:v>
                </c:pt>
                <c:pt idx="2">
                  <c:v>Supply Chain Digital</c:v>
                </c:pt>
                <c:pt idx="3">
                  <c:v>Customer Experience</c:v>
                </c:pt>
                <c:pt idx="4">
                  <c:v>Technology Stack</c:v>
                </c:pt>
                <c:pt idx="5">
                  <c:v>Org &amp; Talent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1.5</c:v>
                </c:pt>
                <c:pt idx="1">
                  <c:v>2</c:v>
                </c:pt>
                <c:pt idx="2">
                  <c:v>2.5</c:v>
                </c:pt>
                <c:pt idx="3">
                  <c:v>1.8</c:v>
                </c:pt>
                <c:pt idx="4">
                  <c:v>2</c:v>
                </c:pt>
                <c:pt idx="5">
                  <c:v>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Industry Average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Sheet1!$A$2:$A$7</c:f>
              <c:strCache>
                <c:ptCount val="6"/>
                <c:pt idx="0">
                  <c:v>E-Commerce Platform</c:v>
                </c:pt>
                <c:pt idx="1">
                  <c:v>Data &amp; Analytics</c:v>
                </c:pt>
                <c:pt idx="2">
                  <c:v>Supply Chain Digital</c:v>
                </c:pt>
                <c:pt idx="3">
                  <c:v>Customer Experience</c:v>
                </c:pt>
                <c:pt idx="4">
                  <c:v>Technology Stack</c:v>
                </c:pt>
                <c:pt idx="5">
                  <c:v>Org &amp; Talent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3.8</c:v>
                </c:pt>
                <c:pt idx="1">
                  <c:v>3.5</c:v>
                </c:pt>
                <c:pt idx="2">
                  <c:v>3.2</c:v>
                </c:pt>
                <c:pt idx="3">
                  <c:v>4</c:v>
                </c:pt>
                <c:pt idx="4">
                  <c:v>3.6</c:v>
                </c:pt>
                <c:pt idx="5">
                  <c:v>3.4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Best-in-Class</c:v>
                </c:pt>
              </c:strCache>
            </c:strRef>
          </c:tx>
          <c:spPr>
            <a:solidFill>
              <a:srgbClr val="059669"/>
            </a:solidFill>
          </c:spPr>
          <c:cat>
            <c:strRef>
              <c:f>Sheet1!$A$2:$A$7</c:f>
              <c:strCache>
                <c:ptCount val="6"/>
                <c:pt idx="0">
                  <c:v>E-Commerce Platform</c:v>
                </c:pt>
                <c:pt idx="1">
                  <c:v>Data &amp; Analytics</c:v>
                </c:pt>
                <c:pt idx="2">
                  <c:v>Supply Chain Digital</c:v>
                </c:pt>
                <c:pt idx="3">
                  <c:v>Customer Experience</c:v>
                </c:pt>
                <c:pt idx="4">
                  <c:v>Technology Stack</c:v>
                </c:pt>
                <c:pt idx="5">
                  <c:v>Org &amp; Talent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4.8</c:v>
                </c:pt>
                <c:pt idx="1">
                  <c:v>4.5</c:v>
                </c:pt>
                <c:pt idx="2">
                  <c:v>4.2</c:v>
                </c:pt>
                <c:pt idx="3">
                  <c:v>4.7</c:v>
                </c:pt>
                <c:pt idx="4">
                  <c:v>4.6</c:v>
                </c:pt>
                <c:pt idx="5">
                  <c:v>4.3</c:v>
                </c:pt>
              </c:numCache>
            </c:numRef>
          </c:val>
        </c:ser>
        <c:axId val="111111111"/>
        <c:axId val="222222222"/>
      </c:radarChart>
      <c:catAx>
        <c:axId val="111111111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  <c:max val="5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wMode val="factor"/>
          <c:hMode val="factor"/>
          <c:x val="0.0324"/>
          <c:y val="0.8806"/>
          <c:w val="0.9352"/>
          <c:h val="0.0794"/>
        </c:manualLayout>
      </c:layout>
      <c:overlay val="0"/>
      <c:txPr>
        <a:bodyPr/>
        <a:lstStyle/>
        <a:p>
          <a:pPr>
            <a:defRPr sz="675">
              <a:latin typeface="Liberation Sans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262"/>
          <c:y val="0.04"/>
          <c:w val="0.9476"/>
          <c:h val="0.73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 1</c:v>
                </c:pt>
              </c:strCache>
            </c:strRef>
          </c:tx>
          <c:spPr>
            <a:solidFill>
              <a:srgbClr val="93C5FD"/>
            </a:solidFill>
          </c:spPr>
          <c:cat>
            <c:strRef>
              <c:f>Sheet1!$A$2:$A$6</c:f>
              <c:strCache>
                <c:ptCount val="5"/>
                <c:pt idx="0">
                  <c:v>Direct Web</c:v>
                </c:pt>
                <c:pt idx="1">
                  <c:v>Marketplace</c:v>
                </c:pt>
                <c:pt idx="2">
                  <c:v>Mobile App</c:v>
                </c:pt>
                <c:pt idx="3">
                  <c:v>Social Commerce</c:v>
                </c:pt>
                <c:pt idx="4">
                  <c:v>B2B Portal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12</c:v>
                </c:pt>
                <c:pt idx="2">
                  <c:v>8</c:v>
                </c:pt>
                <c:pt idx="3">
                  <c:v>4</c:v>
                </c:pt>
                <c:pt idx="4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Year 2</c:v>
                </c:pt>
              </c:strCache>
            </c:strRef>
          </c:tx>
          <c:spPr>
            <a:solidFill>
              <a:srgbClr val="3B82F6"/>
            </a:solidFill>
          </c:spPr>
          <c:cat>
            <c:strRef>
              <c:f>Sheet1!$A$2:$A$6</c:f>
              <c:strCache>
                <c:ptCount val="5"/>
                <c:pt idx="0">
                  <c:v>Direct Web</c:v>
                </c:pt>
                <c:pt idx="1">
                  <c:v>Marketplace</c:v>
                </c:pt>
                <c:pt idx="2">
                  <c:v>Mobile App</c:v>
                </c:pt>
                <c:pt idx="3">
                  <c:v>Social Commerce</c:v>
                </c:pt>
                <c:pt idx="4">
                  <c:v>B2B Portal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32</c:v>
                </c:pt>
                <c:pt idx="1">
                  <c:v>22</c:v>
                </c:pt>
                <c:pt idx="2">
                  <c:v>18</c:v>
                </c:pt>
                <c:pt idx="3">
                  <c:v>10</c:v>
                </c:pt>
                <c:pt idx="4">
                  <c:v>14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Year 3</c:v>
                </c:pt>
              </c:strCache>
            </c:strRef>
          </c:tx>
          <c:spPr>
            <a:solidFill>
              <a:srgbClr val="1D4ED8"/>
            </a:solidFill>
          </c:spPr>
          <c:cat>
            <c:strRef>
              <c:f>Sheet1!$A$2:$A$6</c:f>
              <c:strCache>
                <c:ptCount val="5"/>
                <c:pt idx="0">
                  <c:v>Direct Web</c:v>
                </c:pt>
                <c:pt idx="1">
                  <c:v>Marketplace</c:v>
                </c:pt>
                <c:pt idx="2">
                  <c:v>Mobile App</c:v>
                </c:pt>
                <c:pt idx="3">
                  <c:v>Social Commerce</c:v>
                </c:pt>
                <c:pt idx="4">
                  <c:v>B2B Portal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48</c:v>
                </c:pt>
                <c:pt idx="1">
                  <c:v>34</c:v>
                </c:pt>
                <c:pt idx="2">
                  <c:v>28</c:v>
                </c:pt>
                <c:pt idx="3">
                  <c:v>16</c:v>
                </c:pt>
                <c:pt idx="4">
                  <c:v>22</c:v>
                </c:pt>
              </c:numCache>
            </c:numRef>
          </c:val>
        </c:ser>
        <c:dLbls>
          <c:numFmt formatCode="General" sourceLinked="1"/>
          <c:txPr>
            <a:bodyPr/>
            <a:lstStyle/>
            <a:p>
              <a:pPr>
                <a:defRPr sz="525">
                  <a:solidFill>
                    <a:srgbClr val="475569"/>
                  </a:solidFill>
                  <a:latin typeface="Calibri"/>
                </a:defRPr>
              </a:pPr>
              <a:endParaRPr lang="en-US" dirty="0"/>
            </a:p>
          </c:txPr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75">
                    <a:solidFill>
                      <a:srgbClr val="000000"/>
                    </a:solidFill>
                    <a:latin typeface="Liberation Sans"/>
                  </a:rPr>
                  <a:t>Revenue ($M)</a:t>
                </a:r>
              </a:p>
            </c:rich>
          </c:tx>
          <c:overlay val="0"/>
        </c:title>
        <c:numFmt formatCode="$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layout>
        <c:manualLayout>
          <c:xMode val="edge"/>
          <c:yMode val="edge"/>
          <c:wMode val="factor"/>
          <c:hMode val="factor"/>
          <c:x val="0.0262"/>
          <c:y val="0.8806"/>
          <c:w val="0.9476"/>
          <c:h val="0.0794"/>
        </c:manualLayout>
      </c:layout>
      <c:overlay val="0"/>
      <c:txPr>
        <a:bodyPr/>
        <a:lstStyle/>
        <a:p>
          <a:pPr>
            <a:defRPr sz="675">
              <a:latin typeface="Liberation Sans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261"/>
          <c:y val="0.05"/>
          <c:w val="0.9478"/>
          <c:h val="0.666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Conservative ($M)</c:v>
                </c:pt>
              </c:strCache>
            </c:strRef>
          </c:tx>
          <c:spPr>
            <a:solidFill>
              <a:srgbClr val="93C5FD"/>
            </a:solidFill>
          </c:spPr>
          <c:cat>
            <c:strRef>
              <c:f>Sheet1!$A$2:$A$6</c:f>
              <c:strCache>
                <c:ptCount val="5"/>
                <c:pt idx="0">
                  <c:v>Bundled Offers</c:v>
                </c:pt>
                <c:pt idx="1">
                  <c:v>Recommendations</c:v>
                </c:pt>
                <c:pt idx="2">
                  <c:v>Loyalty Upgrades</c:v>
                </c:pt>
                <c:pt idx="3">
                  <c:v>Size/Color Variants</c:v>
                </c:pt>
                <c:pt idx="4">
                  <c:v>Warranty/Services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5.2</c:v>
                </c:pt>
                <c:pt idx="1">
                  <c:v>4.8</c:v>
                </c:pt>
                <c:pt idx="2">
                  <c:v>3.1</c:v>
                </c:pt>
                <c:pt idx="3">
                  <c:v>2.4</c:v>
                </c:pt>
                <c:pt idx="4">
                  <c:v>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Moderate ($M)</c:v>
                </c:pt>
              </c:strCache>
            </c:strRef>
          </c:tx>
          <c:spPr>
            <a:solidFill>
              <a:srgbClr val="3B82F6"/>
            </a:solidFill>
          </c:spPr>
          <c:cat>
            <c:strRef>
              <c:f>Sheet1!$A$2:$A$6</c:f>
              <c:strCache>
                <c:ptCount val="5"/>
                <c:pt idx="0">
                  <c:v>Bundled Offers</c:v>
                </c:pt>
                <c:pt idx="1">
                  <c:v>Recommendations</c:v>
                </c:pt>
                <c:pt idx="2">
                  <c:v>Loyalty Upgrades</c:v>
                </c:pt>
                <c:pt idx="3">
                  <c:v>Size/Color Variants</c:v>
                </c:pt>
                <c:pt idx="4">
                  <c:v>Warranty/Services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3.8</c:v>
                </c:pt>
                <c:pt idx="1">
                  <c:v>3.6</c:v>
                </c:pt>
                <c:pt idx="2">
                  <c:v>2.2</c:v>
                </c:pt>
                <c:pt idx="3">
                  <c:v>1.8</c:v>
                </c:pt>
                <c:pt idx="4">
                  <c:v>1.4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Aggressive ($M)</c:v>
                </c:pt>
              </c:strCache>
            </c:strRef>
          </c:tx>
          <c:spPr>
            <a:solidFill>
              <a:srgbClr val="1D4ED8"/>
            </a:solidFill>
          </c:spPr>
          <c:cat>
            <c:strRef>
              <c:f>Sheet1!$A$2:$A$6</c:f>
              <c:strCache>
                <c:ptCount val="5"/>
                <c:pt idx="0">
                  <c:v>Bundled Offers</c:v>
                </c:pt>
                <c:pt idx="1">
                  <c:v>Recommendations</c:v>
                </c:pt>
                <c:pt idx="2">
                  <c:v>Loyalty Upgrades</c:v>
                </c:pt>
                <c:pt idx="3">
                  <c:v>Size/Color Variants</c:v>
                </c:pt>
                <c:pt idx="4">
                  <c:v>Warranty/Services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2.6</c:v>
                </c:pt>
                <c:pt idx="1">
                  <c:v>2.4</c:v>
                </c:pt>
                <c:pt idx="2">
                  <c:v>1.5</c:v>
                </c:pt>
                <c:pt idx="3">
                  <c:v>1.2</c:v>
                </c:pt>
                <c:pt idx="4">
                  <c:v>0.9</c:v>
                </c:pt>
              </c:numCache>
            </c:numRef>
          </c:val>
        </c:ser>
        <c:gapWidth val="6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00">
                    <a:solidFill>
                      <a:srgbClr val="000000"/>
                    </a:solidFill>
                    <a:latin typeface="Liberation Sans"/>
                  </a:rPr>
                  <a:t>Revenue ($M)</a:t>
                </a:r>
              </a:p>
            </c:rich>
          </c:tx>
          <c:overlay val="0"/>
        </c:title>
        <c:numFmt formatCode="$#,##0.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layout>
        <c:manualLayout>
          <c:xMode val="edge"/>
          <c:yMode val="edge"/>
          <c:wMode val="factor"/>
          <c:hMode val="factor"/>
          <c:x val="0.0261"/>
          <c:y val="0.85"/>
          <c:w val="0.9478"/>
          <c:h val="0.1"/>
        </c:manualLayout>
      </c:layout>
      <c:overlay val="0"/>
      <c:txPr>
        <a:bodyPr/>
        <a:lstStyle/>
        <a:p>
          <a:pPr>
            <a:defRPr sz="600">
              <a:latin typeface="Liberation Sans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24"/>
          <c:y val="0.06"/>
          <c:w val="0.952"/>
          <c:h val="0.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Engineering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Sheet1!$A$2:$A$7</c:f>
              <c:strCache>
                <c:ptCount val="6"/>
                <c:pt idx="0">
                  <c:v>Month 1-2</c:v>
                </c:pt>
                <c:pt idx="1">
                  <c:v>Month 3-4</c:v>
                </c:pt>
                <c:pt idx="2">
                  <c:v>Month 5-6</c:v>
                </c:pt>
                <c:pt idx="3">
                  <c:v>Month 7-9</c:v>
                </c:pt>
                <c:pt idx="4">
                  <c:v>Month 10-12</c:v>
                </c:pt>
                <c:pt idx="5">
                  <c:v>Month 13-18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 &amp; Design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Sheet1!$A$2:$A$7</c:f>
              <c:strCache>
                <c:ptCount val="6"/>
                <c:pt idx="0">
                  <c:v>Month 1-2</c:v>
                </c:pt>
                <c:pt idx="1">
                  <c:v>Month 3-4</c:v>
                </c:pt>
                <c:pt idx="2">
                  <c:v>Month 5-6</c:v>
                </c:pt>
                <c:pt idx="3">
                  <c:v>Month 7-9</c:v>
                </c:pt>
                <c:pt idx="4">
                  <c:v>Month 10-12</c:v>
                </c:pt>
                <c:pt idx="5">
                  <c:v>Month 13-18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Data Science</c:v>
                </c:pt>
              </c:strCache>
            </c:strRef>
          </c:tx>
          <c:spPr>
            <a:solidFill>
              <a:srgbClr val="059669"/>
            </a:solidFill>
          </c:spPr>
          <c:cat>
            <c:strRef>
              <c:f>Sheet1!$A$2:$A$7</c:f>
              <c:strCache>
                <c:ptCount val="6"/>
                <c:pt idx="0">
                  <c:v>Month 1-2</c:v>
                </c:pt>
                <c:pt idx="1">
                  <c:v>Month 3-4</c:v>
                </c:pt>
                <c:pt idx="2">
                  <c:v>Month 5-6</c:v>
                </c:pt>
                <c:pt idx="3">
                  <c:v>Month 7-9</c:v>
                </c:pt>
                <c:pt idx="4">
                  <c:v>Month 10-12</c:v>
                </c:pt>
                <c:pt idx="5">
                  <c:v>Month 13-18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Marketing</c:v>
                </c:pt>
              </c:strCache>
            </c:strRef>
          </c:tx>
          <c:spPr>
            <a:solidFill>
              <a:srgbClr val="EA580C"/>
            </a:solidFill>
          </c:spPr>
          <c:cat>
            <c:strRef>
              <c:f>Sheet1!$A$2:$A$7</c:f>
              <c:strCache>
                <c:ptCount val="6"/>
                <c:pt idx="0">
                  <c:v>Month 1-2</c:v>
                </c:pt>
                <c:pt idx="1">
                  <c:v>Month 3-4</c:v>
                </c:pt>
                <c:pt idx="2">
                  <c:v>Month 5-6</c:v>
                </c:pt>
                <c:pt idx="3">
                  <c:v>Month 7-9</c:v>
                </c:pt>
                <c:pt idx="4">
                  <c:v>Month 10-12</c:v>
                </c:pt>
                <c:pt idx="5">
                  <c:v>Month 13-18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Operations</c:v>
                </c:pt>
              </c:strCache>
            </c:strRef>
          </c:tx>
          <c:spPr>
            <a:solidFill>
              <a:srgbClr val="94A3B8"/>
            </a:solidFill>
          </c:spPr>
          <c:cat>
            <c:strRef>
              <c:f>Sheet1!$A$2:$A$7</c:f>
              <c:strCache>
                <c:ptCount val="6"/>
                <c:pt idx="0">
                  <c:v>Month 1-2</c:v>
                </c:pt>
                <c:pt idx="1">
                  <c:v>Month 3-4</c:v>
                </c:pt>
                <c:pt idx="2">
                  <c:v>Month 5-6</c:v>
                </c:pt>
                <c:pt idx="3">
                  <c:v>Month 7-9</c:v>
                </c:pt>
                <c:pt idx="4">
                  <c:v>Month 10-12</c:v>
                </c:pt>
                <c:pt idx="5">
                  <c:v>Month 13-18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1</c:v>
                </c:pt>
              </c:numCache>
            </c:numRef>
          </c:val>
        </c:ser>
        <c:gapWidth val="4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00">
                    <a:solidFill>
                      <a:srgbClr val="000000"/>
                    </a:solidFill>
                    <a:latin typeface="Liberation Sans"/>
                  </a:rPr>
                  <a:t>New Hires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layout>
        <c:manualLayout>
          <c:xMode val="edge"/>
          <c:yMode val="edge"/>
          <c:wMode val="factor"/>
          <c:hMode val="factor"/>
          <c:x val="0.024"/>
          <c:y val="0.82"/>
          <c:w val="0.952"/>
          <c:h val="0.12"/>
        </c:manualLayout>
      </c:layout>
      <c:overlay val="0"/>
      <c:txPr>
        <a:bodyPr/>
        <a:lstStyle/>
        <a:p>
          <a:pPr>
            <a:defRPr sz="525">
              <a:latin typeface="Liberation Sans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2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3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4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5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6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466850"/>
            <a:ext cx="885825" cy="14287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CONFIDENTIAL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1752600"/>
            <a:ext cx="3086100" cy="838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3277"/>
              </a:lnSpc>
            </a:pPr>
            <a:r>
              <a:rPr lang="en-US" sz="285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Digital Commerce</a:t>
            </a:r>
            <a:endParaRPr lang="en-US" dirty="0"/>
          </a:p>
          <a:p>
            <a:pPr>
              <a:lnSpc>
                <a:spcPts val="3277"/>
              </a:lnSpc>
            </a:pPr>
            <a:r>
              <a:rPr lang="en-US" sz="285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Transformation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762000" y="2695575"/>
            <a:ext cx="3952875" cy="2095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552"/>
              </a:lnSpc>
            </a:pPr>
            <a:r>
              <a:rPr lang="en-US" sz="1350" dirty="0">
                <a:solidFill>
                  <a:srgbClr val="E2E8F0"/>
                </a:solidFill>
                <a:latin typeface="Liberation Sans"/>
                <a:ea typeface=""/>
                <a:cs typeface=""/>
              </a:rPr>
              <a:t>Strategic Assessment &amp; Implementation Roadmap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762000" y="3209925"/>
            <a:ext cx="571500" cy="28575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762000" y="3533775"/>
            <a:ext cx="2990850" cy="1524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121"/>
              </a:lnSpc>
            </a:pPr>
            <a:r>
              <a:rPr lang="en-US" sz="9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Prepared for Meridian Retail Group  |  February 2026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762000" y="3733800"/>
            <a:ext cx="148590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Strategy &amp; Operations Practice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800100" cy="2476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Agenda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47662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Four workstreams structured around a hypothesis-driven approach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62000"/>
            <a:ext cx="800100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742950" y="93345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857250" y="1047750"/>
            <a:ext cx="219075" cy="2286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01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1390650" y="1009650"/>
            <a:ext cx="6610350" cy="18573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1380"/>
              </a:lnSpc>
            </a:pPr>
            <a:r>
              <a:rPr lang="en-US" sz="120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Situation Assessment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1390650" y="1214438"/>
            <a:ext cx="66103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Current state, customer segments, digital maturity, competitive position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8001000" y="1104900"/>
            <a:ext cx="400050" cy="1143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Slides 3-8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571500" y="1657350"/>
            <a:ext cx="800100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742950" y="1828800"/>
            <a:ext cx="457200" cy="457200"/>
          </a:xfrm>
          <a:prstGeom prst="round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857250" y="1943100"/>
            <a:ext cx="219075" cy="2286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02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1390650" y="1905000"/>
            <a:ext cx="6562725" cy="18573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1380"/>
              </a:lnSpc>
            </a:pPr>
            <a:r>
              <a:rPr lang="en-US" sz="120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Opportunity Analysis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1390650" y="2109788"/>
            <a:ext cx="656272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Revenue by channel, customer journey, SKU demand, cross-sell potential</a:t>
            </a:r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7953375" y="2000250"/>
            <a:ext cx="447675" cy="1143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Slides 9-13</a:t>
            </a:r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571500" y="2552700"/>
            <a:ext cx="800100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View 18"/>
          <p:cNvSpPr/>
          <p:nvPr/>
        </p:nvSpPr>
        <p:spPr>
          <a:xfrm>
            <a:off x="742950" y="2724150"/>
            <a:ext cx="457200" cy="457200"/>
          </a:xfrm>
          <a:prstGeom prst="round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857250" y="2838450"/>
            <a:ext cx="219075" cy="2286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03</a:t>
            </a:r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1390650" y="2800350"/>
            <a:ext cx="6515100" cy="18573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1380"/>
              </a:lnSpc>
            </a:pPr>
            <a:r>
              <a:rPr lang="en-US" sz="120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Strategic Recommendation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1390650" y="3005138"/>
            <a:ext cx="65151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Options assessment, roadmap, technology, organization design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7905750" y="2895600"/>
            <a:ext cx="495300" cy="1143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Slides 14-19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571500" y="3448050"/>
            <a:ext cx="800100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4" name="View 24"/>
          <p:cNvSpPr/>
          <p:nvPr/>
        </p:nvSpPr>
        <p:spPr>
          <a:xfrm>
            <a:off x="742950" y="3619500"/>
            <a:ext cx="457200" cy="457200"/>
          </a:xfrm>
          <a:prstGeom prst="round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857250" y="3733800"/>
            <a:ext cx="219075" cy="2286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04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1390650" y="3695700"/>
            <a:ext cx="6515100" cy="18573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1380"/>
              </a:lnSpc>
            </a:pPr>
            <a:r>
              <a:rPr lang="en-US" sz="120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Financial Case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1390650" y="3900488"/>
            <a:ext cx="65151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Investment, projections, sensitivity, risk mitigation, next steps</a:t>
            </a:r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7905750" y="3790950"/>
            <a:ext cx="495300" cy="1143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Slides 20-25</a:t>
            </a:r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571500" y="4924425"/>
            <a:ext cx="2886075" cy="10477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Meridian Retail Group  |  Digital Commerce Transformation  |  Confidential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952625"/>
            <a:ext cx="809625" cy="1619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2563EB"/>
                </a:solidFill>
                <a:latin typeface="Liberation Sans"/>
                <a:ea typeface=""/>
                <a:cs typeface=""/>
              </a:rPr>
              <a:t>SECTION 01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2219325"/>
            <a:ext cx="3695700" cy="4000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Situation Assessment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762000" y="2809875"/>
            <a:ext cx="571500" cy="28575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62000" y="3019425"/>
            <a:ext cx="5591175" cy="1714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294"/>
              </a:lnSpc>
            </a:pPr>
            <a:r>
              <a:rPr lang="en-US" sz="1125" dirty="0">
                <a:solidFill>
                  <a:srgbClr val="E2E8F0"/>
                </a:solidFill>
                <a:latin typeface="Liberation Sans"/>
                <a:ea typeface=""/>
                <a:cs typeface=""/>
              </a:rPr>
              <a:t>Understanding Meridian's current position, customer base, and competitive landscape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057400" cy="2476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Executive Summary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61950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Three key findings point to a $140M addressable revenue opportunity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14375"/>
            <a:ext cx="49530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wrap="square" rtlCol="0" spcFirstLastPara="0" anchor="t" lIns="152400" tIns="152400" rIns="152400" bIns="15240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2563EB"/>
                </a:solidFill>
                <a:latin typeface="Liberation Sans"/>
                <a:ea typeface=""/>
                <a:cs typeface=""/>
              </a:rPr>
              <a:t>FINDING 1</a:t>
            </a:r>
            <a:endParaRPr lang="en-US" dirty="0"/>
          </a:p>
          <a:p>
            <a:pPr>
              <a:lnSpc>
                <a:spcPts val="1207"/>
              </a:lnSpc>
              <a:spcBef>
                <a:spcPts val="375"/>
              </a:spcBef>
            </a:pPr>
            <a:r>
              <a:rPr lang="en-US" sz="10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Online penetration at 8% vs. 23% industry average</a:t>
            </a:r>
            <a:endParaRPr lang="en-US" dirty="0"/>
          </a:p>
          <a:p>
            <a:pPr>
              <a:lnSpc>
                <a:spcPts val="949"/>
              </a:lnSpc>
              <a:spcBef>
                <a:spcPts val="225"/>
              </a:spcBef>
            </a:pPr>
            <a:r>
              <a:rPr lang="en-US" sz="82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Meridian's digital channel lags peers by 15pp, representing significant untapped demand from existing customer base and new digital-native segments.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571500" y="1743075"/>
            <a:ext cx="49530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wrap="square" rtlCol="0" spcFirstLastPara="0" anchor="t" lIns="152400" tIns="152400" rIns="152400" bIns="15240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FINDING 2</a:t>
            </a:r>
            <a:endParaRPr lang="en-US" dirty="0"/>
          </a:p>
          <a:p>
            <a:pPr>
              <a:lnSpc>
                <a:spcPts val="1207"/>
              </a:lnSpc>
              <a:spcBef>
                <a:spcPts val="375"/>
              </a:spcBef>
            </a:pPr>
            <a:r>
              <a:rPr lang="en-US" sz="10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$140M addressable revenue gap identified</a:t>
            </a:r>
            <a:endParaRPr lang="en-US" dirty="0"/>
          </a:p>
          <a:p>
            <a:pPr>
              <a:lnSpc>
                <a:spcPts val="949"/>
              </a:lnSpc>
              <a:spcBef>
                <a:spcPts val="225"/>
              </a:spcBef>
            </a:pPr>
            <a:r>
              <a:rPr lang="en-US" sz="82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Bottom-up analysis of SKU-level demand, cross-sell uplift, and category expansion yields a conservative $140M incremental revenue opportunity over 3 years.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571500" y="2771775"/>
            <a:ext cx="49530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wrap="square" rtlCol="0" spcFirstLastPara="0" anchor="t" lIns="152400" tIns="152400" rIns="152400" bIns="15240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7C3AED"/>
                </a:solidFill>
                <a:latin typeface="Liberation Sans"/>
                <a:ea typeface=""/>
                <a:cs typeface=""/>
              </a:rPr>
              <a:t>FINDING 3</a:t>
            </a:r>
            <a:endParaRPr lang="en-US" dirty="0"/>
          </a:p>
          <a:p>
            <a:pPr>
              <a:lnSpc>
                <a:spcPts val="1207"/>
              </a:lnSpc>
              <a:spcBef>
                <a:spcPts val="375"/>
              </a:spcBef>
            </a:pPr>
            <a:r>
              <a:rPr lang="en-US" sz="10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18-month payback on $12M platform investment</a:t>
            </a:r>
            <a:endParaRPr lang="en-US" dirty="0"/>
          </a:p>
          <a:p>
            <a:pPr>
              <a:lnSpc>
                <a:spcPts val="949"/>
              </a:lnSpc>
              <a:spcBef>
                <a:spcPts val="225"/>
              </a:spcBef>
            </a:pPr>
            <a:r>
              <a:rPr lang="en-US" sz="82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Phased investment approach mitigates risk while accelerating time-to-value through iterative releases and early revenue capture from high-margin digital channels.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5715000" y="714375"/>
            <a:ext cx="2857500" cy="1524000"/>
          </a:xfrm>
          <a:prstGeom prst="roundRect">
            <a:avLst/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2700000" scaled="1"/>
          </a:gradFill>
          <a:ln>
            <a:noFill/>
            <a:round/>
          </a:ln>
          <a:effectLst>
            <a:outerShdw blurRad="190500" dist="38100" dir="5400000" algn="ctr" rotWithShape="0">
              <a:srgbClr val="2563EB">
                <a:alpha val="30000"/>
              </a:srgbClr>
            </a:outerShdw>
          </a:effectLst>
        </p:spPr>
        <p:txBody>
          <a:bodyPr wrap="square" rtlCol="0" spcFirstLastPara="0" anchor="ctr" lIns="0" tIns="0" rIns="0" bIns="0">
            <a:normAutofit fontScale="100000"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93C5FD"/>
                </a:solidFill>
                <a:latin typeface="Liberation Sans"/>
                <a:ea typeface=""/>
                <a:cs typeface=""/>
              </a:rPr>
              <a:t>REVENUE OPPORTUNITY</a:t>
            </a:r>
            <a:endParaRPr lang="en-US" dirty="0"/>
          </a:p>
          <a:p>
            <a:pPr algn="ctr">
              <a:lnSpc>
                <a:spcPts val="3795"/>
              </a:lnSpc>
              <a:spcBef>
                <a:spcPts val="225"/>
              </a:spcBef>
            </a:pPr>
            <a:r>
              <a:rPr lang="en-US" sz="33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$140M</a:t>
            </a:r>
            <a:endParaRPr lang="en-US" dirty="0"/>
          </a:p>
          <a:p>
            <a:pPr algn="ctr">
              <a:lnSpc>
                <a:spcPts val="949"/>
              </a:lnSpc>
              <a:spcBef>
                <a:spcPts val="225"/>
              </a:spcBef>
            </a:pPr>
            <a:r>
              <a:rPr lang="en-US" sz="825" b="1" dirty="0">
                <a:solidFill>
                  <a:srgbClr val="BFDBFE"/>
                </a:solidFill>
                <a:latin typeface="Liberation Sans"/>
                <a:ea typeface=""/>
                <a:cs typeface=""/>
              </a:rPr>
              <a:t>3-year addressable gap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5715000" y="2352675"/>
            <a:ext cx="2857500" cy="838200"/>
          </a:xfrm>
          <a:prstGeom prst="roundRect">
            <a:avLst/>
          </a:prstGeom>
          <a:solidFill>
            <a:srgbClr val="0F2540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ctr" lIns="152400" tIns="152400" rIns="152400" bIns="152400">
            <a:normAutofit fontScale="100000"/>
          </a:bodyPr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$12.0M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Total Investment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10B981"/>
                </a:solidFill>
                <a:latin typeface="Liberation Sans"/>
                <a:ea typeface=""/>
                <a:cs typeface=""/>
              </a:rPr>
              <a:t>340% expected ROI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5715000" y="3305175"/>
            <a:ext cx="2857500" cy="838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ctr" lIns="152400" tIns="152400" rIns="152400" bIns="152400">
            <a:normAutofit fontScale="100000"/>
          </a:bodyPr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18 mo.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Payback Period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2563EB"/>
                </a:solidFill>
                <a:latin typeface="Liberation Sans"/>
                <a:ea typeface=""/>
                <a:cs typeface=""/>
              </a:rPr>
              <a:t>Phased approach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571500" y="4924425"/>
            <a:ext cx="3476625" cy="10477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Management interviews, industry benchmarks (Forrester 2025), internal analysis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705100" cy="2476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Current State Assessment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17195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Revenue concentration in physical retail creates vulnerability to digital disruption</a:t>
            </a:r>
            <a:endParaRPr lang="en-US" dirty="0"/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81000" y="762000"/>
          <a:ext cx="43815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6"/>
          <p:cNvSpPr txBox="1"/>
          <p:nvPr/>
        </p:nvSpPr>
        <p:spPr>
          <a:xfrm>
            <a:off x="4953000" y="762000"/>
            <a:ext cx="36195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Key Challenges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4953000" y="1009650"/>
            <a:ext cx="3619500" cy="4476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5048250" y="1138238"/>
            <a:ext cx="57150" cy="57150"/>
          </a:xfrm>
          <a:prstGeom prst="rect">
            <a:avLst/>
          </a:prstGeom>
          <a:solidFill>
            <a:srgbClr val="DC2626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5181600" y="1104900"/>
            <a:ext cx="1104900" cy="128588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Declining Foot Traffic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5048250" y="1247775"/>
            <a:ext cx="34290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Same-store visits down 12% YoY; suburban malls underperforming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4953000" y="1552575"/>
            <a:ext cx="3619500" cy="4476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5048250" y="1681163"/>
            <a:ext cx="57150" cy="5715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5181600" y="1647825"/>
            <a:ext cx="1000125" cy="128588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Legacy Technology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048250" y="1790700"/>
            <a:ext cx="34290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20-year-old POS system; no unified inventory; manual fulfillment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4953000" y="2095500"/>
            <a:ext cx="36195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5048250" y="2224088"/>
            <a:ext cx="57150" cy="5715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5181600" y="2190750"/>
            <a:ext cx="107632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Customer Data Gaps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5048250" y="2333625"/>
            <a:ext cx="3429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No single customer view; CRM covers only 34% of transactions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4953000" y="2647950"/>
            <a:ext cx="3619500" cy="4476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5048250" y="2771775"/>
            <a:ext cx="57150" cy="57150"/>
          </a:xfrm>
          <a:prstGeom prst="rect">
            <a:avLst/>
          </a:prstGeom>
          <a:solidFill>
            <a:srgbClr val="DC2626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5181600" y="2743200"/>
            <a:ext cx="676275" cy="128588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Talent Deficit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5048250" y="2886075"/>
            <a:ext cx="3429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Zero in-house digital product or engineering capability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4953000" y="3190875"/>
            <a:ext cx="3619500" cy="4476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4" name="View 24"/>
          <p:cNvSpPr/>
          <p:nvPr/>
        </p:nvSpPr>
        <p:spPr>
          <a:xfrm>
            <a:off x="5048250" y="3314700"/>
            <a:ext cx="57150" cy="5715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5181600" y="3286125"/>
            <a:ext cx="847725" cy="128588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Margin Pressure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5048250" y="3429000"/>
            <a:ext cx="3429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Occupancy costs rising 3% annually; digital margin 2x physical</a:t>
            </a:r>
            <a:endParaRPr lang="en-US" dirty="0"/>
          </a:p>
        </p:txBody>
      </p:sp>
      <p:sp>
        <p:nvSpPr>
          <p:cNvPr id="27" name="View 27"/>
          <p:cNvSpPr/>
          <p:nvPr/>
        </p:nvSpPr>
        <p:spPr>
          <a:xfrm>
            <a:off x="381000" y="4000500"/>
            <a:ext cx="4762500" cy="38100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FECACA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1033463" y="4124325"/>
            <a:ext cx="345757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DC2626"/>
                </a:solidFill>
                <a:latin typeface="Liberation Sans"/>
                <a:ea typeface=""/>
                <a:cs typeface=""/>
              </a:rPr>
              <a:t>E-commerce at 8% of revenue vs. 23% industry average = 15pp gap</a:t>
            </a:r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571500" y="4924425"/>
            <a:ext cx="2733675" cy="10477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Meridian FY2025 10-K, management data room, Euromonitor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448050" cy="2476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Customer Segmentation Analysis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01002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Four distinct segments with differentiated digital propensity and lifetime value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62000"/>
            <a:ext cx="1885950" cy="17145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04850" y="895350"/>
            <a:ext cx="16192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2563EB"/>
                </a:solidFill>
                <a:latin typeface="Liberation Sans"/>
                <a:ea typeface=""/>
                <a:cs typeface=""/>
              </a:rPr>
              <a:t>Digital Natives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704850" y="1038225"/>
            <a:ext cx="16192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18-34 yrs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704850" y="1219200"/>
            <a:ext cx="161925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704850" y="1304925"/>
            <a:ext cx="161925" cy="1238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LTV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2076450" y="1304925"/>
            <a:ext cx="247650" cy="1238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$820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704850" y="14668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Revenue %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2105025" y="1466850"/>
            <a:ext cx="21907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42%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704850" y="1619250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Digital Propensity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2076450" y="1619250"/>
            <a:ext cx="24765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2563EB"/>
                </a:solidFill>
                <a:latin typeface="Liberation Sans"/>
                <a:ea typeface=""/>
                <a:cs typeface=""/>
              </a:rPr>
              <a:t>High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2590800" y="762000"/>
            <a:ext cx="1885950" cy="17145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2724150" y="895350"/>
            <a:ext cx="16192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Omnichannel Shoppers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2724150" y="1038225"/>
            <a:ext cx="16192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25-50 yrs</a:t>
            </a:r>
            <a:endParaRPr lang="en-US" dirty="0"/>
          </a:p>
        </p:txBody>
      </p:sp>
      <p:sp>
        <p:nvSpPr>
          <p:cNvPr id="18" name="View 18"/>
          <p:cNvSpPr/>
          <p:nvPr/>
        </p:nvSpPr>
        <p:spPr>
          <a:xfrm>
            <a:off x="2724150" y="1219200"/>
            <a:ext cx="161925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2724150" y="1304925"/>
            <a:ext cx="161925" cy="1238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LTV</a:t>
            </a:r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4010025" y="1304925"/>
            <a:ext cx="333375" cy="1238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$1,450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2724150" y="14668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Revenue %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4124325" y="1466850"/>
            <a:ext cx="21907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31%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2724150" y="1619250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Digital Propensity</a:t>
            </a:r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4095750" y="1619250"/>
            <a:ext cx="24765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High</a:t>
            </a:r>
            <a:endParaRPr lang="en-US" dirty="0"/>
          </a:p>
        </p:txBody>
      </p:sp>
      <p:sp>
        <p:nvSpPr>
          <p:cNvPr id="25" name="View 25"/>
          <p:cNvSpPr/>
          <p:nvPr/>
        </p:nvSpPr>
        <p:spPr>
          <a:xfrm>
            <a:off x="4610100" y="762000"/>
            <a:ext cx="1885950" cy="171450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4743450" y="895350"/>
            <a:ext cx="16192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EA580C"/>
                </a:solidFill>
                <a:latin typeface="Liberation Sans"/>
                <a:ea typeface=""/>
                <a:cs typeface=""/>
              </a:rPr>
              <a:t>Traditional Loyalists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4743450" y="1038225"/>
            <a:ext cx="16192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45-65 yrs</a:t>
            </a:r>
            <a:endParaRPr lang="en-US" dirty="0"/>
          </a:p>
        </p:txBody>
      </p:sp>
      <p:sp>
        <p:nvSpPr>
          <p:cNvPr id="28" name="View 28"/>
          <p:cNvSpPr/>
          <p:nvPr/>
        </p:nvSpPr>
        <p:spPr>
          <a:xfrm>
            <a:off x="4743450" y="1219200"/>
            <a:ext cx="161925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4743450" y="1304925"/>
            <a:ext cx="161925" cy="1238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LTV</a:t>
            </a:r>
            <a:endParaRPr lang="en-US" dirty="0"/>
          </a:p>
        </p:txBody>
      </p:sp>
      <p:sp>
        <p:nvSpPr>
          <p:cNvPr id="30" name="Text 30"/>
          <p:cNvSpPr txBox="1"/>
          <p:nvPr/>
        </p:nvSpPr>
        <p:spPr>
          <a:xfrm>
            <a:off x="6029325" y="1304925"/>
            <a:ext cx="333375" cy="1238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$2,100</a:t>
            </a:r>
            <a:endParaRPr lang="en-US" dirty="0"/>
          </a:p>
        </p:txBody>
      </p:sp>
      <p:sp>
        <p:nvSpPr>
          <p:cNvPr id="31" name="Text 31"/>
          <p:cNvSpPr txBox="1"/>
          <p:nvPr/>
        </p:nvSpPr>
        <p:spPr>
          <a:xfrm>
            <a:off x="4743450" y="14668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Revenue %</a:t>
            </a:r>
            <a:endParaRPr lang="en-US" dirty="0"/>
          </a:p>
        </p:txBody>
      </p:sp>
      <p:sp>
        <p:nvSpPr>
          <p:cNvPr id="32" name="Text 32"/>
          <p:cNvSpPr txBox="1"/>
          <p:nvPr/>
        </p:nvSpPr>
        <p:spPr>
          <a:xfrm>
            <a:off x="6143625" y="1466850"/>
            <a:ext cx="21907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18%</a:t>
            </a:r>
            <a:endParaRPr lang="en-US" dirty="0"/>
          </a:p>
        </p:txBody>
      </p:sp>
      <p:sp>
        <p:nvSpPr>
          <p:cNvPr id="33" name="Text 33"/>
          <p:cNvSpPr txBox="1"/>
          <p:nvPr/>
        </p:nvSpPr>
        <p:spPr>
          <a:xfrm>
            <a:off x="4743450" y="1619250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Digital Propensity</a:t>
            </a:r>
            <a:endParaRPr lang="en-US" dirty="0"/>
          </a:p>
        </p:txBody>
      </p:sp>
      <p:sp>
        <p:nvSpPr>
          <p:cNvPr id="34" name="Text 34"/>
          <p:cNvSpPr txBox="1"/>
          <p:nvPr/>
        </p:nvSpPr>
        <p:spPr>
          <a:xfrm>
            <a:off x="5953125" y="1619250"/>
            <a:ext cx="40957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EA580C"/>
                </a:solidFill>
                <a:latin typeface="Liberation Sans"/>
                <a:ea typeface=""/>
                <a:cs typeface=""/>
              </a:rPr>
              <a:t>Medium</a:t>
            </a:r>
            <a:endParaRPr lang="en-US" dirty="0"/>
          </a:p>
        </p:txBody>
      </p:sp>
      <p:sp>
        <p:nvSpPr>
          <p:cNvPr id="35" name="View 35"/>
          <p:cNvSpPr/>
          <p:nvPr/>
        </p:nvSpPr>
        <p:spPr>
          <a:xfrm>
            <a:off x="6629400" y="762000"/>
            <a:ext cx="1885950" cy="17145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6" name="Text 36"/>
          <p:cNvSpPr txBox="1"/>
          <p:nvPr/>
        </p:nvSpPr>
        <p:spPr>
          <a:xfrm>
            <a:off x="6762750" y="895350"/>
            <a:ext cx="16192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Occasional Browsers</a:t>
            </a:r>
            <a:endParaRPr lang="en-US" dirty="0"/>
          </a:p>
        </p:txBody>
      </p:sp>
      <p:sp>
        <p:nvSpPr>
          <p:cNvPr id="37" name="Text 37"/>
          <p:cNvSpPr txBox="1"/>
          <p:nvPr/>
        </p:nvSpPr>
        <p:spPr>
          <a:xfrm>
            <a:off x="6762750" y="1038225"/>
            <a:ext cx="16192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All ages</a:t>
            </a:r>
            <a:endParaRPr lang="en-US" dirty="0"/>
          </a:p>
        </p:txBody>
      </p:sp>
      <p:sp>
        <p:nvSpPr>
          <p:cNvPr id="38" name="View 38"/>
          <p:cNvSpPr/>
          <p:nvPr/>
        </p:nvSpPr>
        <p:spPr>
          <a:xfrm>
            <a:off x="6762750" y="1219200"/>
            <a:ext cx="161925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9" name="Text 39"/>
          <p:cNvSpPr txBox="1"/>
          <p:nvPr/>
        </p:nvSpPr>
        <p:spPr>
          <a:xfrm>
            <a:off x="6762750" y="1304925"/>
            <a:ext cx="161925" cy="1238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LTV</a:t>
            </a:r>
            <a:endParaRPr lang="en-US" dirty="0"/>
          </a:p>
        </p:txBody>
      </p:sp>
      <p:sp>
        <p:nvSpPr>
          <p:cNvPr id="40" name="Text 40"/>
          <p:cNvSpPr txBox="1"/>
          <p:nvPr/>
        </p:nvSpPr>
        <p:spPr>
          <a:xfrm>
            <a:off x="8134350" y="1304925"/>
            <a:ext cx="247650" cy="1238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$320</a:t>
            </a:r>
            <a:endParaRPr lang="en-US" dirty="0"/>
          </a:p>
        </p:txBody>
      </p:sp>
      <p:sp>
        <p:nvSpPr>
          <p:cNvPr id="41" name="Text 41"/>
          <p:cNvSpPr txBox="1"/>
          <p:nvPr/>
        </p:nvSpPr>
        <p:spPr>
          <a:xfrm>
            <a:off x="6762750" y="14668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Revenue %</a:t>
            </a:r>
            <a:endParaRPr lang="en-US" dirty="0"/>
          </a:p>
        </p:txBody>
      </p:sp>
      <p:sp>
        <p:nvSpPr>
          <p:cNvPr id="42" name="Text 42"/>
          <p:cNvSpPr txBox="1"/>
          <p:nvPr/>
        </p:nvSpPr>
        <p:spPr>
          <a:xfrm>
            <a:off x="8220075" y="1466850"/>
            <a:ext cx="16192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9%</a:t>
            </a:r>
            <a:endParaRPr lang="en-US" dirty="0"/>
          </a:p>
        </p:txBody>
      </p:sp>
      <p:sp>
        <p:nvSpPr>
          <p:cNvPr id="43" name="Text 43"/>
          <p:cNvSpPr txBox="1"/>
          <p:nvPr/>
        </p:nvSpPr>
        <p:spPr>
          <a:xfrm>
            <a:off x="6762750" y="1619250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Digital Propensity</a:t>
            </a:r>
            <a:endParaRPr lang="en-US" dirty="0"/>
          </a:p>
        </p:txBody>
      </p:sp>
      <p:sp>
        <p:nvSpPr>
          <p:cNvPr id="44" name="Text 44"/>
          <p:cNvSpPr txBox="1"/>
          <p:nvPr/>
        </p:nvSpPr>
        <p:spPr>
          <a:xfrm>
            <a:off x="8162925" y="1619250"/>
            <a:ext cx="21907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Low</a:t>
            </a:r>
            <a:endParaRPr lang="en-US" dirty="0"/>
          </a:p>
        </p:txBody>
      </p:sp>
      <p:graphicFrame>
        <p:nvGraphicFramePr>
          <p:cNvPr id="45" name="Chart 45"/>
          <p:cNvGraphicFramePr>
            <a:graphicFrameLocks noGrp="1"/>
          </p:cNvGraphicFramePr>
          <p:nvPr/>
        </p:nvGraphicFramePr>
        <p:xfrm>
          <a:off x="381000" y="2619375"/>
          <a:ext cx="47625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6" name="Text 46"/>
          <p:cNvSpPr txBox="1"/>
          <p:nvPr/>
        </p:nvSpPr>
        <p:spPr>
          <a:xfrm>
            <a:off x="5334000" y="2619375"/>
            <a:ext cx="32385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Key Insight</a:t>
            </a:r>
            <a:endParaRPr lang="en-US" dirty="0"/>
          </a:p>
        </p:txBody>
      </p:sp>
      <p:sp>
        <p:nvSpPr>
          <p:cNvPr id="47" name="View 47"/>
          <p:cNvSpPr/>
          <p:nvPr/>
        </p:nvSpPr>
        <p:spPr>
          <a:xfrm>
            <a:off x="5334000" y="2857500"/>
            <a:ext cx="3238500" cy="7048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48" name="Text 48"/>
          <p:cNvSpPr txBox="1"/>
          <p:nvPr/>
        </p:nvSpPr>
        <p:spPr>
          <a:xfrm>
            <a:off x="5467350" y="2986088"/>
            <a:ext cx="2971800" cy="447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73% of Digital Natives and Omnichannel Shoppers express willingness to increase spend through a quality e-commerce experience. Combined, these segments represent $68M in addressable annual online revenue.</a:t>
            </a:r>
            <a:endParaRPr lang="en-US" dirty="0"/>
          </a:p>
        </p:txBody>
      </p:sp>
      <p:sp>
        <p:nvSpPr>
          <p:cNvPr id="49" name="View 49"/>
          <p:cNvSpPr/>
          <p:nvPr/>
        </p:nvSpPr>
        <p:spPr>
          <a:xfrm>
            <a:off x="5334000" y="3657600"/>
            <a:ext cx="3238500" cy="4857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0" name="Text 50"/>
          <p:cNvSpPr txBox="1"/>
          <p:nvPr/>
        </p:nvSpPr>
        <p:spPr>
          <a:xfrm>
            <a:off x="5467350" y="3786188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Traditional Loyalists show 2.6x higher LTV — converting even 15% to omnichannel would yield $9.5M incremental annual revenue.</a:t>
            </a:r>
            <a:endParaRPr lang="en-US" dirty="0"/>
          </a:p>
        </p:txBody>
      </p:sp>
      <p:sp>
        <p:nvSpPr>
          <p:cNvPr id="51" name="Text 51"/>
          <p:cNvSpPr txBox="1"/>
          <p:nvPr/>
        </p:nvSpPr>
        <p:spPr>
          <a:xfrm>
            <a:off x="571500" y="4924425"/>
            <a:ext cx="3314700" cy="10477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Customer survey (n=4,200), transaction data analysis, third-party panel data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676525" cy="2476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Digital Maturity Scorecard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63855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Meridian scores 2.1/5.0 across six critical digital capability dimensions</a:t>
            </a:r>
            <a:endParaRPr lang="en-US" dirty="0"/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81000" y="762000"/>
          <a:ext cx="40005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4572000" y="762000"/>
          <a:ext cx="4000500" cy="3048000"/>
        </p:xfrm>
        <a:graphic>
          <a:graphicData uri="http://schemas.openxmlformats.org/drawingml/2006/table">
            <a:tbl>
              <a:tblPr firstRow="1" bandRow="1"/>
              <a:tblGrid>
                <a:gridCol w="1333500"/>
                <a:gridCol w="666750"/>
                <a:gridCol w="666750"/>
                <a:gridCol w="666750"/>
                <a:gridCol w="666750"/>
              </a:tblGrid>
              <a:tr h="395288"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Dimension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Meridian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Industry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Best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Gap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376238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E-Commerce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1.5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3.8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4.8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-2.3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76238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Data &amp; Analytics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2.0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-1.5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76238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Supply Chain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2.5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3.2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4.2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-0.7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76238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Customer Exp.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1.8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4.0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4.7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-2.2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76238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Technology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2.0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3.6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4.6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-1.6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76238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Org &amp; Talent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2.8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3.4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4.3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-0.6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95288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F2540"/>
                          </a:solidFill>
                          <a:latin typeface="Liberation Sans"/>
                          <a:ea typeface=""/>
                          <a:cs typeface=""/>
                        </a:rPr>
                        <a:t>Overall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2.1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3.6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-1.5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View 7"/>
          <p:cNvSpPr/>
          <p:nvPr/>
        </p:nvSpPr>
        <p:spPr>
          <a:xfrm>
            <a:off x="571500" y="4095750"/>
            <a:ext cx="8001000" cy="38100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FECACA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1895475" y="4219575"/>
            <a:ext cx="535305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DC2626"/>
                </a:solidFill>
                <a:latin typeface="Liberation Sans"/>
                <a:ea typeface=""/>
                <a:cs typeface=""/>
              </a:rPr>
              <a:t>Largest gaps in E-Commerce Platform (-2.3) and Customer Experience (-2.2) — priority investment areas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571500" y="4924425"/>
            <a:ext cx="4572000" cy="10477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Digital Maturity Assessment Framework (McKinsey DMI), management self-assessment, peer benchmarking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371850" cy="2476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Competitive Landscape Analysis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79095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Meridian significantly trails peers across all digital commerce dimensions</a:t>
            </a:r>
            <a:endParaRPr lang="en-US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71500" y="762000"/>
          <a:ext cx="8001000" cy="2952750"/>
        </p:xfrm>
        <a:graphic>
          <a:graphicData uri="http://schemas.openxmlformats.org/drawingml/2006/table">
            <a:tbl>
              <a:tblPr firstRow="1" bandRow="1"/>
              <a:tblGrid>
                <a:gridCol w="1238250"/>
                <a:gridCol w="952500"/>
                <a:gridCol w="762000"/>
                <a:gridCol w="762000"/>
                <a:gridCol w="762000"/>
                <a:gridCol w="762000"/>
                <a:gridCol w="762000"/>
                <a:gridCol w="762000"/>
                <a:gridCol w="1238250"/>
              </a:tblGrid>
              <a:tr h="449036"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Company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Revenue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Digital 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YoY Growth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Mobile 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NPS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CSAT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Delivery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Position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410936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Nordstrom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$14.9B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+18%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62%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72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4.2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2-day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Leader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410936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Macy's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$23.1B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33%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+15%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58%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65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3.9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2-day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Leader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10936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Kohl's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$16.6B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28%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+12%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51%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58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3.7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3-day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2563EB"/>
                          </a:solidFill>
                          <a:latin typeface="Liberation Sans"/>
                          <a:ea typeface=""/>
                          <a:cs typeface=""/>
                        </a:rPr>
                        <a:t>Challenger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410936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Dillard's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$6.8B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15%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52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5-day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Follower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10936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JCPenney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$7.6B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22%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+10%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44%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3.4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4-day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Follower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449036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Meridian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$3.6B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+2%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22%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38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3.1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7-day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Laggard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View 6"/>
          <p:cNvSpPr/>
          <p:nvPr/>
        </p:nvSpPr>
        <p:spPr>
          <a:xfrm>
            <a:off x="571500" y="3905250"/>
            <a:ext cx="2571750" cy="571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666750" y="4000500"/>
            <a:ext cx="238125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Meridian ranks last in digital penetration (8%) — 25pp below peer median of 33%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3276600" y="3905250"/>
            <a:ext cx="2571750" cy="571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371850" y="4000500"/>
            <a:ext cx="238125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NPS of 38 is 24 points below peer average — primary driver is poor online experience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5981700" y="3905250"/>
            <a:ext cx="2571750" cy="571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6076950" y="4000500"/>
            <a:ext cx="238125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7-day delivery vs. 2-day peer standard creates 3.5x higher cart abandonment rate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71500" y="4924425"/>
            <a:ext cx="3429000" cy="10477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Company filings, eMarketer (2025), Forrester Digital Maturity Index, J.D. Power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952625"/>
            <a:ext cx="809625" cy="1619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SECTION 02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2219325"/>
            <a:ext cx="3571875" cy="4000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Opportunity Analysis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762000" y="2809875"/>
            <a:ext cx="571500" cy="28575"/>
          </a:xfrm>
          <a:prstGeom prst="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62000" y="3019425"/>
            <a:ext cx="6305550" cy="1714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294"/>
              </a:lnSpc>
            </a:pPr>
            <a:r>
              <a:rPr lang="en-US" sz="1125" dirty="0">
                <a:solidFill>
                  <a:srgbClr val="E2E8F0"/>
                </a:solidFill>
                <a:latin typeface="Liberation Sans"/>
                <a:ea typeface=""/>
                <a:cs typeface=""/>
              </a:rPr>
              <a:t>Quantifying the revenue opportunity across channels, customer journeys, and product categories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419475" cy="2476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Revenue Opportunity by Channel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56247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E-commerce platform expected to capture $140M in incremental revenue within 3 years</a:t>
            </a:r>
            <a:endParaRPr lang="en-US" dirty="0"/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81000" y="762000"/>
          <a:ext cx="4948238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6"/>
          <p:cNvSpPr txBox="1"/>
          <p:nvPr/>
        </p:nvSpPr>
        <p:spPr>
          <a:xfrm>
            <a:off x="5524500" y="762000"/>
            <a:ext cx="30480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Channel Economics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5524500" y="981075"/>
            <a:ext cx="30480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5619750" y="1076325"/>
            <a:ext cx="56197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Direct Web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7867650" y="1076325"/>
            <a:ext cx="60960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68% margin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5619750" y="1219200"/>
            <a:ext cx="2857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Highest margin, owned channel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5524500" y="1495425"/>
            <a:ext cx="30480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619750" y="1590675"/>
            <a:ext cx="62865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Marketplace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7867650" y="1590675"/>
            <a:ext cx="60960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42% margin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619750" y="1733550"/>
            <a:ext cx="2857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Volume driver, lower margin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5524500" y="2009775"/>
            <a:ext cx="30480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5619750" y="2105025"/>
            <a:ext cx="59055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Mobile App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7867650" y="2105025"/>
            <a:ext cx="60960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71% margin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5619750" y="2247900"/>
            <a:ext cx="2857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Best engagement, highest LTV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5524500" y="2524125"/>
            <a:ext cx="30480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5619750" y="2619375"/>
            <a:ext cx="91440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Social Commerce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7867650" y="2619375"/>
            <a:ext cx="60960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38% margin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5619750" y="2762250"/>
            <a:ext cx="2857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Emerging, brand-building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5524500" y="3038475"/>
            <a:ext cx="30480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5619750" y="3133725"/>
            <a:ext cx="557213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B2B Portal</a:t>
            </a:r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7867650" y="3133725"/>
            <a:ext cx="60960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55% margin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5619750" y="3276600"/>
            <a:ext cx="2857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Enterprise client focus</a:t>
            </a:r>
            <a:endParaRPr lang="en-US" dirty="0"/>
          </a:p>
        </p:txBody>
      </p:sp>
      <p:sp>
        <p:nvSpPr>
          <p:cNvPr id="27" name="View 27"/>
          <p:cNvSpPr/>
          <p:nvPr/>
        </p:nvSpPr>
        <p:spPr>
          <a:xfrm>
            <a:off x="381000" y="4191000"/>
            <a:ext cx="5334000" cy="342900"/>
          </a:xfrm>
          <a:prstGeom prst="roundRect">
            <a:avLst/>
          </a:prstGeom>
          <a:solidFill>
            <a:srgbClr val="0F2540"/>
          </a:solidFill>
          <a:ln>
            <a:noFill/>
            <a:round/>
          </a:ln>
        </p:spPr>
        <p:txBody>
          <a:bodyPr wrap="square" rtlCol="0" spcFirstLastPara="0" anchor="ctr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93C5FD"/>
                </a:solidFill>
                <a:latin typeface="Liberation Sans"/>
                <a:ea typeface=""/>
                <a:cs typeface=""/>
              </a:rPr>
              <a:t>Year 1: $48M</a:t>
            </a:r>
            <a:endParaRPr lang="en-US" dirty="0"/>
          </a:p>
          <a:p>
            <a:pPr>
              <a:lnSpc>
                <a:spcPts val="949"/>
              </a:lnSpc>
              <a:spcBef>
                <a:spcPts val="0"/>
              </a:spcBef>
            </a:pPr>
            <a:r>
              <a:rPr lang="en-US" sz="825" b="1" dirty="0">
                <a:solidFill>
                  <a:srgbClr val="3B82F6"/>
                </a:solidFill>
                <a:latin typeface="Liberation Sans"/>
                <a:ea typeface=""/>
                <a:cs typeface=""/>
              </a:rPr>
              <a:t>Year 2: $96M</a:t>
            </a:r>
            <a:endParaRPr lang="en-US" dirty="0"/>
          </a:p>
          <a:p>
            <a:pPr>
              <a:lnSpc>
                <a:spcPts val="949"/>
              </a:lnSpc>
              <a:spcBef>
                <a:spcPts val="0"/>
              </a:spcBef>
            </a:pPr>
            <a:r>
              <a:rPr lang="en-US" sz="825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Year 3: $148M</a:t>
            </a:r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571500" y="4924425"/>
            <a:ext cx="3609975" cy="10477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Internal financial model, comparable company benchmarks, management estimates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943225" cy="2476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Cross-sell &amp; Upsell Potential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91477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Personalization engine could drive 18-24% increase in average order value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62000"/>
            <a:ext cx="1905000" cy="838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ctr" lIns="152400" tIns="152400" rIns="152400" bIns="152400">
            <a:normAutofit fontScale="100000"/>
          </a:bodyPr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$127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Current AOV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DC2626"/>
                </a:solidFill>
                <a:latin typeface="Liberation Sans"/>
                <a:ea typeface=""/>
                <a:cs typeface=""/>
              </a:rPr>
              <a:t>vs. $168 peer avg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2609850" y="762000"/>
            <a:ext cx="1905000" cy="838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ctr" lIns="152400" tIns="152400" rIns="152400" bIns="152400">
            <a:normAutofit fontScale="100000"/>
          </a:bodyPr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+24%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AOV Uplift Target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With personalization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4648200" y="762000"/>
            <a:ext cx="1905000" cy="838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ctr" lIns="152400" tIns="152400" rIns="152400" bIns="152400">
            <a:normAutofit fontScale="100000"/>
          </a:bodyPr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$22M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Annual Revenue Impact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2563EB"/>
                </a:solidFill>
                <a:latin typeface="Liberation Sans"/>
                <a:ea typeface=""/>
                <a:cs typeface=""/>
              </a:rPr>
              <a:t>From AOV increase alone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6686550" y="762000"/>
            <a:ext cx="1905000" cy="838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ctr" lIns="152400" tIns="152400" rIns="152400" bIns="152400">
            <a:normAutofit fontScale="100000"/>
          </a:bodyPr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2.1x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Cross-sell Ratio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EA580C"/>
                </a:solidFill>
                <a:latin typeface="Liberation Sans"/>
                <a:ea typeface=""/>
                <a:cs typeface=""/>
              </a:rPr>
              <a:t>vs. 3.4x industry avg</a:t>
            </a:r>
            <a:endParaRPr lang="en-US" dirty="0"/>
          </a:p>
        </p:txBody>
      </p:sp>
      <p:graphicFrame>
        <p:nvGraphicFramePr>
          <p:cNvPr id="9" name="Chart 9"/>
          <p:cNvGraphicFramePr>
            <a:graphicFrameLocks noGrp="1"/>
          </p:cNvGraphicFramePr>
          <p:nvPr/>
        </p:nvGraphicFramePr>
        <p:xfrm>
          <a:off x="381000" y="1762125"/>
          <a:ext cx="43815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 10"/>
          <p:cNvSpPr txBox="1"/>
          <p:nvPr/>
        </p:nvSpPr>
        <p:spPr>
          <a:xfrm>
            <a:off x="4953000" y="1762125"/>
            <a:ext cx="36195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Personalization Strategy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4953000" y="1981200"/>
            <a:ext cx="361950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048250" y="2076450"/>
            <a:ext cx="1038225" cy="119063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Collaborative Filtering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8201025" y="2076450"/>
            <a:ext cx="276225" cy="119063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$8.4M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048250" y="2209800"/>
            <a:ext cx="34290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"Customers who bought X also bought Y" — drives 35% of Amazon revenue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4953000" y="2486025"/>
            <a:ext cx="361950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5048250" y="2581275"/>
            <a:ext cx="866775" cy="119063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Dynamic Bundling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8201025" y="2581275"/>
            <a:ext cx="276225" cy="119063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$6.2M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5048250" y="2714625"/>
            <a:ext cx="34290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AI-powered bundle creation based on basket analysis and margin optimization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4953000" y="2990850"/>
            <a:ext cx="3619500" cy="419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5048250" y="3086100"/>
            <a:ext cx="923925" cy="1238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Behavioral Triggers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8201025" y="3086100"/>
            <a:ext cx="276225" cy="1238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$4.1M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5048250" y="3219450"/>
            <a:ext cx="34290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Browse abandonment, wishlist reminders, price drop alerts via email/push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4953000" y="3486150"/>
            <a:ext cx="361950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5048250" y="3581400"/>
            <a:ext cx="704850" cy="119063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Loyalty Tiering</a:t>
            </a:r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8201025" y="3581400"/>
            <a:ext cx="276225" cy="119063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$3.5M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5048250" y="3714750"/>
            <a:ext cx="3429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Spend-based tiers with exclusive access, early drops, and personalized offers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571500" y="4924425"/>
            <a:ext cx="3676650" cy="10477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Basket analysis (18 months data), McKinsey Personalization Index, peer case studies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952625"/>
            <a:ext cx="809625" cy="1619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7C3AED"/>
                </a:solidFill>
                <a:latin typeface="Liberation Sans"/>
                <a:ea typeface=""/>
                <a:cs typeface=""/>
              </a:rPr>
              <a:t>SECTION 03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2219325"/>
            <a:ext cx="4581525" cy="4000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Strategic Recommendation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762000" y="2809875"/>
            <a:ext cx="571500" cy="28575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62000" y="3019425"/>
            <a:ext cx="5372100" cy="1714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294"/>
              </a:lnSpc>
            </a:pPr>
            <a:r>
              <a:rPr lang="en-US" sz="1125" dirty="0">
                <a:solidFill>
                  <a:srgbClr val="E2E8F0"/>
                </a:solidFill>
                <a:latin typeface="Liberation Sans"/>
                <a:ea typeface=""/>
                <a:cs typeface=""/>
              </a:rPr>
              <a:t>Defining the optimal path forward: strategy, roadmap, technology, and organization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133725" cy="2476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Strategic Options Assessment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43865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Three options evaluated on NPV, risk, speed-to-market, and organizational readiness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62000"/>
            <a:ext cx="2514600" cy="304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723900" y="914400"/>
            <a:ext cx="2209800" cy="266700"/>
          </a:xfrm>
          <a:prstGeom prst="roundRect">
            <a:avLst/>
          </a:prstGeom>
          <a:solidFill>
            <a:srgbClr val="94A3B8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366838" y="981075"/>
            <a:ext cx="92392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OPTION A: BUILD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723900" y="1276350"/>
            <a:ext cx="220980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Custom-built e-commerce platform on microservices architecture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723900" y="159067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723900" y="1685925"/>
            <a:ext cx="2209800" cy="561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Full control &amp; differentiation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18-24 month build time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Higher ongoing cost ($4M/yr)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Significant talent risk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Best long-term flexibility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723900" y="233362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723900" y="2438400"/>
            <a:ext cx="39052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NPV (3yr)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2652713" y="2438400"/>
            <a:ext cx="280988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$42M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723900" y="2600325"/>
            <a:ext cx="180975" cy="1238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Risk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2686050" y="2600325"/>
            <a:ext cx="247650" cy="1238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DC2626"/>
                </a:solidFill>
                <a:latin typeface="Liberation Sans"/>
                <a:ea typeface=""/>
                <a:cs typeface=""/>
              </a:rPr>
              <a:t>High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3238500" y="762000"/>
            <a:ext cx="2514600" cy="30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  <a:round/>
          </a:ln>
          <a:effectLst>
            <a:outerShdw blurRad="152400" dist="38100" dir="5400000" algn="ctr" rotWithShape="0">
              <a:srgbClr val="7C3AED">
                <a:alpha val="1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3390900" y="914400"/>
            <a:ext cx="2209800" cy="266700"/>
          </a:xfrm>
          <a:prstGeom prst="roundRect">
            <a:avLst/>
          </a:prstGeom>
          <a:gradFill>
            <a:gsLst>
              <a:gs pos="0">
                <a:srgbClr val="7C3AED"/>
              </a:gs>
              <a:gs pos="100000">
                <a:srgbClr val="6D28D9"/>
              </a:gs>
            </a:gsLst>
            <a:lin ang="0" scaled="1"/>
          </a:gra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3871913" y="981075"/>
            <a:ext cx="124777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OPTION B: PLATFORM+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3390900" y="1276350"/>
            <a:ext cx="220980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Composable platform (Shopify Plus + headless CMS) with custom integrations</a:t>
            </a:r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3390900" y="159067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3390900" y="1685925"/>
            <a:ext cx="2209800" cy="561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6-month time to MVP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Balanced cost ($2.1M/yr)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Lower execution risk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Proven at scale (peers)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Extensible architecture</a:t>
            </a:r>
            <a:endParaRPr lang="en-US" dirty="0"/>
          </a:p>
        </p:txBody>
      </p:sp>
      <p:sp>
        <p:nvSpPr>
          <p:cNvPr id="22" name="View 22"/>
          <p:cNvSpPr/>
          <p:nvPr/>
        </p:nvSpPr>
        <p:spPr>
          <a:xfrm>
            <a:off x="3390900" y="233362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3390900" y="2438400"/>
            <a:ext cx="390525" cy="14287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NPV (3yr)</a:t>
            </a:r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5305425" y="2438400"/>
            <a:ext cx="295275" cy="14287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$68M</a:t>
            </a:r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3390900" y="2609850"/>
            <a:ext cx="180975" cy="1238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Risk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5191125" y="2609850"/>
            <a:ext cx="409575" cy="1238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EA580C"/>
                </a:solidFill>
                <a:latin typeface="Liberation Sans"/>
                <a:ea typeface=""/>
                <a:cs typeface=""/>
              </a:rPr>
              <a:t>Medium</a:t>
            </a:r>
            <a:endParaRPr lang="en-US" dirty="0"/>
          </a:p>
        </p:txBody>
      </p:sp>
      <p:sp>
        <p:nvSpPr>
          <p:cNvPr id="27" name="View 27"/>
          <p:cNvSpPr/>
          <p:nvPr/>
        </p:nvSpPr>
        <p:spPr>
          <a:xfrm>
            <a:off x="3390900" y="2828925"/>
            <a:ext cx="2209800" cy="228600"/>
          </a:xfrm>
          <a:prstGeom prst="roundRect">
            <a:avLst/>
          </a:prstGeom>
          <a:solidFill>
            <a:srgbClr val="F3E8FF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4100513" y="2886075"/>
            <a:ext cx="790575" cy="1143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7C3AED"/>
                </a:solidFill>
                <a:latin typeface="Liberation Sans"/>
                <a:ea typeface=""/>
                <a:cs typeface=""/>
              </a:rPr>
              <a:t>RECOMMENDED</a:t>
            </a:r>
            <a:endParaRPr lang="en-US" dirty="0"/>
          </a:p>
        </p:txBody>
      </p:sp>
      <p:sp>
        <p:nvSpPr>
          <p:cNvPr id="29" name="View 29"/>
          <p:cNvSpPr/>
          <p:nvPr/>
        </p:nvSpPr>
        <p:spPr>
          <a:xfrm>
            <a:off x="5905500" y="762000"/>
            <a:ext cx="2514600" cy="304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0" name="View 30"/>
          <p:cNvSpPr/>
          <p:nvPr/>
        </p:nvSpPr>
        <p:spPr>
          <a:xfrm>
            <a:off x="6057900" y="914400"/>
            <a:ext cx="2209800" cy="266700"/>
          </a:xfrm>
          <a:prstGeom prst="roundRect">
            <a:avLst/>
          </a:prstGeom>
          <a:solidFill>
            <a:srgbClr val="94A3B8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1" name="Text 31"/>
          <p:cNvSpPr txBox="1"/>
          <p:nvPr/>
        </p:nvSpPr>
        <p:spPr>
          <a:xfrm>
            <a:off x="6519863" y="981075"/>
            <a:ext cx="128587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OPTION C: OUTSOURCE</a:t>
            </a:r>
            <a:endParaRPr lang="en-US" dirty="0"/>
          </a:p>
        </p:txBody>
      </p:sp>
      <p:sp>
        <p:nvSpPr>
          <p:cNvPr id="32" name="Text 32"/>
          <p:cNvSpPr txBox="1"/>
          <p:nvPr/>
        </p:nvSpPr>
        <p:spPr>
          <a:xfrm>
            <a:off x="6057900" y="1276350"/>
            <a:ext cx="220980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Fully managed marketplace solution via third-party operator</a:t>
            </a:r>
            <a:endParaRPr lang="en-US" dirty="0"/>
          </a:p>
        </p:txBody>
      </p:sp>
      <p:sp>
        <p:nvSpPr>
          <p:cNvPr id="33" name="View 33"/>
          <p:cNvSpPr/>
          <p:nvPr/>
        </p:nvSpPr>
        <p:spPr>
          <a:xfrm>
            <a:off x="6057900" y="159067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4" name="Text 34"/>
          <p:cNvSpPr txBox="1"/>
          <p:nvPr/>
        </p:nvSpPr>
        <p:spPr>
          <a:xfrm>
            <a:off x="6057900" y="1685925"/>
            <a:ext cx="2209800" cy="561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Fastest launch (3 months)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Lowest upfront cost ($1.2M/yr)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Limited customization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Revenue share drag (12-18%)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No data ownership</a:t>
            </a:r>
            <a:endParaRPr lang="en-US" dirty="0"/>
          </a:p>
        </p:txBody>
      </p:sp>
      <p:sp>
        <p:nvSpPr>
          <p:cNvPr id="35" name="View 35"/>
          <p:cNvSpPr/>
          <p:nvPr/>
        </p:nvSpPr>
        <p:spPr>
          <a:xfrm>
            <a:off x="6057900" y="233362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6" name="Text 36"/>
          <p:cNvSpPr txBox="1"/>
          <p:nvPr/>
        </p:nvSpPr>
        <p:spPr>
          <a:xfrm>
            <a:off x="6057900" y="2438400"/>
            <a:ext cx="39052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NPV (3yr)</a:t>
            </a:r>
            <a:endParaRPr lang="en-US" dirty="0"/>
          </a:p>
        </p:txBody>
      </p:sp>
      <p:sp>
        <p:nvSpPr>
          <p:cNvPr id="37" name="Text 37"/>
          <p:cNvSpPr txBox="1"/>
          <p:nvPr/>
        </p:nvSpPr>
        <p:spPr>
          <a:xfrm>
            <a:off x="7991475" y="2438400"/>
            <a:ext cx="27622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$28M</a:t>
            </a:r>
            <a:endParaRPr lang="en-US" dirty="0"/>
          </a:p>
        </p:txBody>
      </p:sp>
      <p:sp>
        <p:nvSpPr>
          <p:cNvPr id="38" name="Text 38"/>
          <p:cNvSpPr txBox="1"/>
          <p:nvPr/>
        </p:nvSpPr>
        <p:spPr>
          <a:xfrm>
            <a:off x="6057900" y="2600325"/>
            <a:ext cx="180975" cy="1238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Risk</a:t>
            </a:r>
            <a:endParaRPr lang="en-US" dirty="0"/>
          </a:p>
        </p:txBody>
      </p:sp>
      <p:sp>
        <p:nvSpPr>
          <p:cNvPr id="39" name="Text 39"/>
          <p:cNvSpPr txBox="1"/>
          <p:nvPr/>
        </p:nvSpPr>
        <p:spPr>
          <a:xfrm>
            <a:off x="8048625" y="2600325"/>
            <a:ext cx="219075" cy="1238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Low</a:t>
            </a:r>
            <a:endParaRPr lang="en-US" dirty="0"/>
          </a:p>
        </p:txBody>
      </p:sp>
      <p:sp>
        <p:nvSpPr>
          <p:cNvPr id="40" name="View 40"/>
          <p:cNvSpPr/>
          <p:nvPr/>
        </p:nvSpPr>
        <p:spPr>
          <a:xfrm>
            <a:off x="571500" y="4000500"/>
            <a:ext cx="8001000" cy="476250"/>
          </a:xfrm>
          <a:prstGeom prst="roundRect">
            <a:avLst/>
          </a:prstGeom>
          <a:solidFill>
            <a:srgbClr val="0F254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41" name="Text 41"/>
          <p:cNvSpPr txBox="1"/>
          <p:nvPr/>
        </p:nvSpPr>
        <p:spPr>
          <a:xfrm>
            <a:off x="2371725" y="4171950"/>
            <a:ext cx="440055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Option B delivers highest risk-adjusted NPV ($68M) with 6-month time to first revenue</a:t>
            </a:r>
            <a:endParaRPr lang="en-US" dirty="0"/>
          </a:p>
        </p:txBody>
      </p:sp>
      <p:sp>
        <p:nvSpPr>
          <p:cNvPr id="42" name="Text 42"/>
          <p:cNvSpPr txBox="1"/>
          <p:nvPr/>
        </p:nvSpPr>
        <p:spPr>
          <a:xfrm>
            <a:off x="571500" y="4924425"/>
            <a:ext cx="3333750" cy="10477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Vendor evaluations, comparable implementations, internal financial modeling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6010275" cy="2476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Recommended Strategy: Composable Commerce Platform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62915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Phased approach balances speed-to-market with long-term flexibility and data ownership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62000"/>
            <a:ext cx="1885950" cy="13335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133350" tIns="133350" rIns="133350" bIns="133350">
            <a:normAutofit fontScale="100000"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2563EB"/>
                </a:solidFill>
                <a:latin typeface="Liberation Sans"/>
                <a:ea typeface=""/>
                <a:cs typeface=""/>
              </a:rPr>
              <a:t>Platform Foundation</a:t>
            </a:r>
            <a:endParaRPr lang="en-US" dirty="0"/>
          </a:p>
          <a:p>
            <a:pPr>
              <a:lnSpc>
                <a:spcPts val="1035"/>
              </a:lnSpc>
              <a:spcBef>
                <a:spcPts val="375"/>
              </a:spcBef>
            </a:pPr>
            <a:r>
              <a:rPr lang="en-US" sz="750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Shopify Plus headless with custom React storefront and composable microservices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2590800" y="762000"/>
            <a:ext cx="1885950" cy="13335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133350" tIns="133350" rIns="133350" bIns="133350">
            <a:normAutofit fontScale="100000"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Data-Led Growth</a:t>
            </a:r>
            <a:endParaRPr lang="en-US" dirty="0"/>
          </a:p>
          <a:p>
            <a:pPr>
              <a:lnSpc>
                <a:spcPts val="1035"/>
              </a:lnSpc>
              <a:spcBef>
                <a:spcPts val="375"/>
              </a:spcBef>
            </a:pPr>
            <a:r>
              <a:rPr lang="en-US" sz="750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CDP integration, real-time personalization, ML-driven product recommendations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4610100" y="762000"/>
            <a:ext cx="1885950" cy="1333500"/>
          </a:xfrm>
          <a:prstGeom prst="roundRect">
            <a:avLst/>
          </a:prstGeom>
          <a:solidFill>
            <a:srgbClr val="F3E8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133350" tIns="133350" rIns="133350" bIns="133350">
            <a:normAutofit fontScale="100000"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7C3AED"/>
                </a:solidFill>
                <a:latin typeface="Liberation Sans"/>
                <a:ea typeface=""/>
                <a:cs typeface=""/>
              </a:rPr>
              <a:t>Omnichannel Integration</a:t>
            </a:r>
            <a:endParaRPr lang="en-US" dirty="0"/>
          </a:p>
          <a:p>
            <a:pPr>
              <a:lnSpc>
                <a:spcPts val="1035"/>
              </a:lnSpc>
              <a:spcBef>
                <a:spcPts val="375"/>
              </a:spcBef>
            </a:pPr>
            <a:r>
              <a:rPr lang="en-US" sz="750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Unified inventory, BOPIS, ship-from-store, and same-day delivery capabilities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6629400" y="762000"/>
            <a:ext cx="1885950" cy="133350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133350" tIns="133350" rIns="133350" bIns="133350">
            <a:normAutofit fontScale="100000"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EA580C"/>
                </a:solidFill>
                <a:latin typeface="Liberation Sans"/>
                <a:ea typeface=""/>
                <a:cs typeface=""/>
              </a:rPr>
              <a:t>Org Transformation</a:t>
            </a:r>
            <a:endParaRPr lang="en-US" dirty="0"/>
          </a:p>
          <a:p>
            <a:pPr>
              <a:lnSpc>
                <a:spcPts val="1035"/>
              </a:lnSpc>
              <a:spcBef>
                <a:spcPts val="375"/>
              </a:spcBef>
            </a:pPr>
            <a:r>
              <a:rPr lang="en-US" sz="750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Dedicated digital BU with product, engineering, data science, and growth teams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571500" y="2238375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Strategic Rationale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571500" y="2447925"/>
            <a:ext cx="3810000" cy="10001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 marL="190500" indent="-190500">
              <a:lnSpc>
                <a:spcPts val="862"/>
              </a:lnSpc>
              <a:spcBef>
                <a:spcPts val="600"/>
              </a:spcBef>
              <a:buAutoNum type="arabicPeriod" startAt="1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Speed-to-market: MVP in 6 months captures $18M Year 1 revenue that Build option would miss entirely</a:t>
            </a:r>
            <a:endParaRPr lang="en-US" dirty="0"/>
          </a:p>
          <a:p>
            <a:pPr marL="190500" indent="-190500">
              <a:lnSpc>
                <a:spcPts val="862"/>
              </a:lnSpc>
              <a:spcBef>
                <a:spcPts val="600"/>
              </a:spcBef>
              <a:buAutoNum type="arabicPeriod" startAt="2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Data ownership: Unlike Outsource, Meridian retains full customer data and analytics capability</a:t>
            </a:r>
            <a:endParaRPr lang="en-US" dirty="0"/>
          </a:p>
          <a:p>
            <a:pPr marL="190500" indent="-190500">
              <a:lnSpc>
                <a:spcPts val="862"/>
              </a:lnSpc>
              <a:spcBef>
                <a:spcPts val="600"/>
              </a:spcBef>
              <a:buAutoNum type="arabicPeriod" startAt="3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Cost efficiency: $2.1M/yr run rate vs. $4M (Build) while maintaining 90% of customization capability</a:t>
            </a:r>
            <a:endParaRPr lang="en-US" dirty="0"/>
          </a:p>
          <a:p>
            <a:pPr marL="190500" indent="-190500">
              <a:lnSpc>
                <a:spcPts val="862"/>
              </a:lnSpc>
              <a:spcBef>
                <a:spcPts val="600"/>
              </a:spcBef>
              <a:buAutoNum type="arabicPeriod" startAt="4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Proven model: Nordstrom, Allbirds, and Glossier all use composable architecture at comparable scale</a:t>
            </a:r>
            <a:endParaRPr lang="en-US" dirty="0"/>
          </a:p>
          <a:p>
            <a:pPr marL="190500" indent="-190500">
              <a:lnSpc>
                <a:spcPts val="862"/>
              </a:lnSpc>
              <a:spcBef>
                <a:spcPts val="600"/>
              </a:spcBef>
              <a:buAutoNum type="arabicPeriod" startAt="5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Risk mitigation: Phased rollout allows course correction; no big-bang deployment risk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4572000" y="2238375"/>
            <a:ext cx="40005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Success Metrics (18-month targets)</a:t>
            </a:r>
            <a:endParaRPr lang="en-US" dirty="0"/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4572000" y="2533650"/>
          <a:ext cx="4000500" cy="1809750"/>
        </p:xfrm>
        <a:graphic>
          <a:graphicData uri="http://schemas.openxmlformats.org/drawingml/2006/table">
            <a:tbl>
              <a:tblPr firstRow="1" bandRow="1"/>
              <a:tblGrid>
                <a:gridCol w="1524000"/>
                <a:gridCol w="952500"/>
                <a:gridCol w="952500"/>
                <a:gridCol w="571500"/>
              </a:tblGrid>
              <a:tr h="317500"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Metric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Current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Target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Delta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98450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Online Revenue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$300M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$440M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+47%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98450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Digital Penetration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14%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+6pp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98450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Conversion Rate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1.1%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2.8%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+1.7pp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98450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Average Order Value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$127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$158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+24%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98450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NPS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58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+20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 13"/>
          <p:cNvSpPr txBox="1"/>
          <p:nvPr/>
        </p:nvSpPr>
        <p:spPr>
          <a:xfrm>
            <a:off x="571500" y="4924425"/>
            <a:ext cx="3352800" cy="10477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Vendor evaluation scorecards, comparable case studies, financial model v3.2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638425" cy="2476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Implementation Roadmap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19100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Three-phase approach delivers incremental value while managing execution risk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14375"/>
            <a:ext cx="2514600" cy="2952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704850" y="847725"/>
            <a:ext cx="2209800" cy="266700"/>
          </a:xfrm>
          <a:prstGeom prst="roundRect">
            <a:avLst/>
          </a:prstGeom>
          <a:gradFill>
            <a:gsLst>
              <a:gs pos="0">
                <a:srgbClr val="93C5FD"/>
              </a:gs>
              <a:gs pos="100000">
                <a:srgbClr val="3B82F6"/>
              </a:gs>
            </a:gsLst>
            <a:lin ang="0" scaled="1"/>
          </a:gra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185863" y="914400"/>
            <a:ext cx="124777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PHASE 1: FOUNDATION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704850" y="1171575"/>
            <a:ext cx="22479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Months 0-6  |  $3.2M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704850" y="1352550"/>
            <a:ext cx="2247900" cy="6667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Platform selection &amp; procurement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Core team hiring (12 FTEs)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Data migration &amp; API architecture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Payment gateway integration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Fulfillment partner onboarding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QA environment &amp; CI/CD setup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704850" y="2124075"/>
            <a:ext cx="2209800" cy="304800"/>
          </a:xfrm>
          <a:prstGeom prst="roundRect">
            <a:avLst/>
          </a:prstGeom>
          <a:solidFill>
            <a:srgbClr val="EFF6FF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1176338" y="2209800"/>
            <a:ext cx="1266825" cy="1238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2563EB"/>
                </a:solidFill>
                <a:latin typeface="Liberation Sans"/>
                <a:ea typeface=""/>
                <a:cs typeface=""/>
              </a:rPr>
              <a:t>MVP: Top 500 SKUs Live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3238500" y="714375"/>
            <a:ext cx="2514600" cy="2952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3371850" y="847725"/>
            <a:ext cx="2209800" cy="266700"/>
          </a:xfrm>
          <a:prstGeom prst="roundRect">
            <a:avLst/>
          </a:prstGeom>
          <a:gradFill>
            <a:gsLst>
              <a:gs pos="0">
                <a:srgbClr val="3B82F6"/>
              </a:gs>
              <a:gs pos="100000">
                <a:srgbClr val="2563EB"/>
              </a:gs>
            </a:gsLst>
            <a:lin ang="0" scaled="1"/>
          </a:gra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3738563" y="914400"/>
            <a:ext cx="147637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PHASE 2: LAUNCH &amp; GROW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3371850" y="1171575"/>
            <a:ext cx="22479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Months 6-12  |  $5.1M</a:t>
            </a:r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3371850" y="1352550"/>
            <a:ext cx="2247900" cy="6667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Full catalog (5,000+ SKUs)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Digital marketing ramp ($1.2M)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Marketplace integration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Mobile app launch (iOS + Android)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Customer analytics platform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A/B testing infrastructure</a:t>
            </a:r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3371850" y="2124075"/>
            <a:ext cx="2209800" cy="304800"/>
          </a:xfrm>
          <a:prstGeom prst="roundRect">
            <a:avLst/>
          </a:prstGeom>
          <a:solidFill>
            <a:srgbClr val="EFF6FF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3895725" y="2209800"/>
            <a:ext cx="1162050" cy="1238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2563EB"/>
                </a:solidFill>
                <a:latin typeface="Liberation Sans"/>
                <a:ea typeface=""/>
                <a:cs typeface=""/>
              </a:rPr>
              <a:t>Target: $48M Run Rate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5905500" y="714375"/>
            <a:ext cx="2514600" cy="2952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6038850" y="847725"/>
            <a:ext cx="2209800" cy="266700"/>
          </a:xfrm>
          <a:prstGeom prst="roundRect">
            <a:avLst/>
          </a:prstGeom>
          <a:gradFill>
            <a:gsLst>
              <a:gs pos="0">
                <a:srgbClr val="2563EB"/>
              </a:gs>
              <a:gs pos="100000">
                <a:srgbClr val="1E40AF"/>
              </a:gs>
            </a:gsLst>
            <a:lin ang="0" scaled="1"/>
          </a:gra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6696075" y="914400"/>
            <a:ext cx="89535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PHASE 3: SCALE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6038850" y="1171575"/>
            <a:ext cx="22479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Months 12-18  |  $3.7M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6038850" y="1352550"/>
            <a:ext cx="2247900" cy="6667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B2B portal launch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Social commerce integration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International expansion (CA, UK)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Advanced personalization (ML)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Same-day/BOPIS fulfillment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Loyalty program 2.0</a:t>
            </a:r>
            <a:endParaRPr lang="en-US" dirty="0"/>
          </a:p>
        </p:txBody>
      </p:sp>
      <p:sp>
        <p:nvSpPr>
          <p:cNvPr id="24" name="View 24"/>
          <p:cNvSpPr/>
          <p:nvPr/>
        </p:nvSpPr>
        <p:spPr>
          <a:xfrm>
            <a:off x="6038850" y="2124075"/>
            <a:ext cx="2209800" cy="304800"/>
          </a:xfrm>
          <a:prstGeom prst="roundRect">
            <a:avLst/>
          </a:prstGeom>
          <a:solidFill>
            <a:srgbClr val="EFF6FF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6500813" y="2209800"/>
            <a:ext cx="1285875" cy="1238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2563EB"/>
                </a:solidFill>
                <a:latin typeface="Liberation Sans"/>
                <a:ea typeface=""/>
                <a:cs typeface=""/>
              </a:rPr>
              <a:t>Target: $140M+ Run Rate</a:t>
            </a:r>
            <a:endParaRPr lang="en-US" dirty="0"/>
          </a:p>
        </p:txBody>
      </p:sp>
      <p:sp>
        <p:nvSpPr>
          <p:cNvPr id="26" name="View 26"/>
          <p:cNvSpPr/>
          <p:nvPr/>
        </p:nvSpPr>
        <p:spPr>
          <a:xfrm>
            <a:off x="571500" y="3810000"/>
            <a:ext cx="8001000" cy="419100"/>
          </a:xfrm>
          <a:prstGeom prst="roundRect">
            <a:avLst/>
          </a:prstGeom>
          <a:solidFill>
            <a:srgbClr val="0F2540"/>
          </a:solidFill>
          <a:ln>
            <a:noFill/>
            <a:round/>
          </a:ln>
        </p:spPr>
        <p:txBody>
          <a:bodyPr wrap="square" rtlCol="0" spcFirstLastPara="0" anchor="ctr" lIns="0" tIns="0" rIns="0" bIns="0">
            <a:normAutofit fontScale="100000"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Total Investment: </a:t>
            </a:r>
            <a:r>
              <a:rPr lang="en-US" sz="9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$12.0M</a:t>
            </a:r>
            <a:endParaRPr lang="en-US" dirty="0"/>
          </a:p>
          <a:p>
            <a:pPr>
              <a:lnSpc>
                <a:spcPts val="1035"/>
              </a:lnSpc>
              <a:spcBef>
                <a:spcPts val="0"/>
              </a:spcBef>
            </a:pPr>
            <a:r>
              <a:rPr lang="en-US" sz="900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Expected ROI: </a:t>
            </a:r>
            <a:r>
              <a:rPr lang="en-US" sz="900" b="1" dirty="0">
                <a:solidFill>
                  <a:srgbClr val="10B981"/>
                </a:solidFill>
                <a:latin typeface="Liberation Sans"/>
                <a:ea typeface=""/>
                <a:cs typeface=""/>
              </a:rPr>
              <a:t>340% over 3 years</a:t>
            </a:r>
            <a:endParaRPr lang="en-US" dirty="0"/>
          </a:p>
          <a:p>
            <a:pPr>
              <a:lnSpc>
                <a:spcPts val="1035"/>
              </a:lnSpc>
              <a:spcBef>
                <a:spcPts val="0"/>
              </a:spcBef>
            </a:pPr>
            <a:r>
              <a:rPr lang="en-US" sz="900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Break-even: </a:t>
            </a:r>
            <a:r>
              <a:rPr lang="en-US" sz="9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Month 18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571500" y="4924425"/>
            <a:ext cx="2381250" cy="10477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Project plan v2.1, vendor SOWs, HR capacity model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533650" cy="2476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Technology Architecture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19100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Composable, API-first architecture enables rapid iteration and future extensibility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71500" y="762000"/>
            <a:ext cx="8001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2563EB"/>
                </a:solidFill>
                <a:latin typeface="Liberation Sans"/>
                <a:ea typeface=""/>
                <a:cs typeface=""/>
              </a:rPr>
              <a:t>PRESENTATION LAYER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571500" y="962025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React Storefront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Next.js SSR, headless CMS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2552700" y="962025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Mobile Apps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React Native, shared components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4533900" y="962025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POS Integration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In-store kiosks, clienteling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6515100" y="962025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Marketplace Feeds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Amazon, eBay, Google Shopping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571500" y="1485900"/>
            <a:ext cx="8001000" cy="266700"/>
          </a:xfrm>
          <a:prstGeom prst="roundRect">
            <a:avLst/>
          </a:prstGeom>
          <a:gradFill>
            <a:gsLst>
              <a:gs pos="0">
                <a:srgbClr val="7C3AED"/>
              </a:gs>
              <a:gs pos="100000">
                <a:srgbClr val="6D28D9"/>
              </a:gs>
            </a:gsLst>
            <a:lin ang="0" scaled="1"/>
          </a:gra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2676525" y="1557338"/>
            <a:ext cx="3790950" cy="1238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API GATEWAY  |  GraphQL Federation  |  Rate Limiting  |  Auth (OAuth 2.0 + OIDC)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71500" y="1885950"/>
            <a:ext cx="8001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COMMERCE SERVICES</a:t>
            </a:r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571500" y="209550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Shopify Plus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Catalog, cart, checkout</a:t>
            </a:r>
            <a:endParaRPr lang="en-US" dirty="0"/>
          </a:p>
        </p:txBody>
      </p:sp>
      <p:sp>
        <p:nvSpPr>
          <p:cNvPr id="14" name="View 14"/>
          <p:cNvSpPr/>
          <p:nvPr/>
        </p:nvSpPr>
        <p:spPr>
          <a:xfrm>
            <a:off x="2552700" y="209550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OMS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Order routing, fulfillment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4533900" y="209550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Search &amp; Discovery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Algolia, faceted search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6515100" y="209550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Personalization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CDP + ML recommendations</a:t>
            </a:r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571500" y="2619375"/>
            <a:ext cx="8001000" cy="266700"/>
          </a:xfrm>
          <a:prstGeom prst="roundRect">
            <a:avLst/>
          </a:prstGeom>
          <a:solidFill>
            <a:srgbClr val="0F254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2605088" y="2690813"/>
            <a:ext cx="3933825" cy="1238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DATA PLATFORM  |  Snowflake DWH  |  Segment CDP  |  dbt Transforms  |  Looker BI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571500" y="3009900"/>
            <a:ext cx="80010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EA580C"/>
                </a:solidFill>
                <a:latin typeface="Liberation Sans"/>
                <a:ea typeface=""/>
                <a:cs typeface=""/>
              </a:rPr>
              <a:t>INFRASTRUCTURE</a:t>
            </a:r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571500" y="321945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AWS (Primary)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ECS, RDS, ElastiCache, S3</a:t>
            </a:r>
            <a:endParaRPr lang="en-US" dirty="0"/>
          </a:p>
        </p:txBody>
      </p:sp>
      <p:sp>
        <p:nvSpPr>
          <p:cNvPr id="21" name="View 21"/>
          <p:cNvSpPr/>
          <p:nvPr/>
        </p:nvSpPr>
        <p:spPr>
          <a:xfrm>
            <a:off x="2552700" y="321945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Vercel Edge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CDN, SSR, edge functions</a:t>
            </a:r>
            <a:endParaRPr lang="en-US" dirty="0"/>
          </a:p>
        </p:txBody>
      </p:sp>
      <p:sp>
        <p:nvSpPr>
          <p:cNvPr id="22" name="View 22"/>
          <p:cNvSpPr/>
          <p:nvPr/>
        </p:nvSpPr>
        <p:spPr>
          <a:xfrm>
            <a:off x="4533900" y="321945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Monitoring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Datadog APM, PagerDuty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6515100" y="321945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 fontScale="100000"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Security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WAF, DDoS, PCI DSS L1</a:t>
            </a:r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571500" y="4924425"/>
            <a:ext cx="3209925" cy="10477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Solution architecture review, vendor technical assessments, security audit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695700" cy="2476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Organizational Design &amp; Talent Plan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56235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Dedicated Digital Commerce business unit with 42 FTEs at full scale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3333750" y="762000"/>
            <a:ext cx="2476500" cy="438150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  <a:round/>
          </a:ln>
        </p:spPr>
        <p:txBody>
          <a:bodyPr wrap="square" rtlCol="0" spcFirstLastPara="0" anchor="t" lIns="95250" tIns="95250" rIns="95250" bIns="95250">
            <a:normAutofit fontScale="100000"/>
          </a:bodyPr>
          <a:lstStyle/>
          <a:p>
            <a:pPr algn="ctr">
              <a:lnSpc>
                <a:spcPts val="1035"/>
              </a:lnSpc>
            </a:pPr>
            <a:r>
              <a:rPr lang="en-US" sz="9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VP, Digital Commerce</a:t>
            </a:r>
            <a:endParaRPr lang="en-US" dirty="0"/>
          </a:p>
          <a:p>
            <a:pPr algn="ctr">
              <a:lnSpc>
                <a:spcPts val="1035"/>
              </a:lnSpc>
              <a:spcBef>
                <a:spcPts val="75"/>
              </a:spcBef>
            </a:pPr>
            <a:r>
              <a:rPr lang="en-US" sz="675" b="1" dirty="0">
                <a:solidFill>
                  <a:srgbClr val="93C5FD"/>
                </a:solidFill>
                <a:latin typeface="Liberation Sans"/>
                <a:ea typeface=""/>
                <a:cs typeface=""/>
              </a:rPr>
              <a:t>Reports to CEO  |  Hired Month 1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628650" y="1314450"/>
            <a:ext cx="14859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 fontScale="100000"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Engineering</a:t>
            </a:r>
            <a:endParaRPr lang="en-US" dirty="0"/>
          </a:p>
          <a:p>
            <a:pPr algn="ctr">
              <a:lnSpc>
                <a:spcPts val="862"/>
              </a:lnSpc>
              <a:spcBef>
                <a:spcPts val="150"/>
              </a:spcBef>
            </a:pPr>
            <a:r>
              <a:rPr lang="en-US" sz="750" b="1" dirty="0">
                <a:solidFill>
                  <a:srgbClr val="2563EB"/>
                </a:solidFill>
                <a:latin typeface="Liberation Sans"/>
                <a:ea typeface=""/>
                <a:cs typeface=""/>
              </a:rPr>
              <a:t>14 FTEs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2228850" y="1314450"/>
            <a:ext cx="14859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 fontScale="100000"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Product &amp; Design</a:t>
            </a:r>
            <a:endParaRPr lang="en-US" dirty="0"/>
          </a:p>
          <a:p>
            <a:pPr algn="ctr">
              <a:lnSpc>
                <a:spcPts val="862"/>
              </a:lnSpc>
              <a:spcBef>
                <a:spcPts val="150"/>
              </a:spcBef>
            </a:pPr>
            <a:r>
              <a:rPr lang="en-US" sz="750" b="1" dirty="0">
                <a:solidFill>
                  <a:srgbClr val="7C3AED"/>
                </a:solidFill>
                <a:latin typeface="Liberation Sans"/>
                <a:ea typeface=""/>
                <a:cs typeface=""/>
              </a:rPr>
              <a:t>8 FTEs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3829050" y="1314450"/>
            <a:ext cx="14859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 fontScale="100000"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Data Science</a:t>
            </a:r>
            <a:endParaRPr lang="en-US" dirty="0"/>
          </a:p>
          <a:p>
            <a:pPr algn="ctr">
              <a:lnSpc>
                <a:spcPts val="862"/>
              </a:lnSpc>
              <a:spcBef>
                <a:spcPts val="150"/>
              </a:spcBef>
            </a:pPr>
            <a:r>
              <a:rPr lang="en-US" sz="750" b="1" dirty="0">
                <a:solidFill>
                  <a:srgbClr val="059669"/>
                </a:solidFill>
                <a:latin typeface="Liberation Sans"/>
                <a:ea typeface=""/>
                <a:cs typeface=""/>
              </a:rPr>
              <a:t>6 FTEs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5429250" y="1314450"/>
            <a:ext cx="14859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 fontScale="100000"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Growth Marketing</a:t>
            </a:r>
            <a:endParaRPr lang="en-US" dirty="0"/>
          </a:p>
          <a:p>
            <a:pPr algn="ctr">
              <a:lnSpc>
                <a:spcPts val="862"/>
              </a:lnSpc>
              <a:spcBef>
                <a:spcPts val="150"/>
              </a:spcBef>
            </a:pPr>
            <a:r>
              <a:rPr lang="en-US" sz="750" b="1" dirty="0">
                <a:solidFill>
                  <a:srgbClr val="EA580C"/>
                </a:solidFill>
                <a:latin typeface="Liberation Sans"/>
                <a:ea typeface=""/>
                <a:cs typeface=""/>
              </a:rPr>
              <a:t>10 FTEs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7029450" y="1314450"/>
            <a:ext cx="14859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 fontScale="100000"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Operations</a:t>
            </a:r>
            <a:endParaRPr lang="en-US" dirty="0"/>
          </a:p>
          <a:p>
            <a:pPr algn="ctr">
              <a:lnSpc>
                <a:spcPts val="862"/>
              </a:lnSpc>
              <a:spcBef>
                <a:spcPts val="150"/>
              </a:spcBef>
            </a:pPr>
            <a:r>
              <a:rPr lang="en-US" sz="750" b="1" dirty="0">
                <a:solidFill>
                  <a:srgbClr val="1B3A5C"/>
                </a:solidFill>
                <a:latin typeface="Liberation Sans"/>
                <a:ea typeface=""/>
                <a:cs typeface=""/>
              </a:rPr>
              <a:t>4 FTEs</a:t>
            </a:r>
            <a:endParaRPr lang="en-US" dirty="0"/>
          </a:p>
        </p:txBody>
      </p:sp>
      <p:graphicFrame>
        <p:nvGraphicFramePr>
          <p:cNvPr id="11" name="Chart 11"/>
          <p:cNvGraphicFramePr>
            <a:graphicFrameLocks noGrp="1"/>
          </p:cNvGraphicFramePr>
          <p:nvPr/>
        </p:nvGraphicFramePr>
        <p:xfrm>
          <a:off x="381000" y="2476500"/>
          <a:ext cx="47625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 12"/>
          <p:cNvSpPr txBox="1"/>
          <p:nvPr/>
        </p:nvSpPr>
        <p:spPr>
          <a:xfrm>
            <a:off x="5334000" y="2476500"/>
            <a:ext cx="32385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Annual Talent Cost at Scale</a:t>
            </a:r>
            <a:endParaRPr lang="en-US" dirty="0"/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5334000" y="2733675"/>
          <a:ext cx="3238500" cy="1524000"/>
        </p:xfrm>
        <a:graphic>
          <a:graphicData uri="http://schemas.openxmlformats.org/drawingml/2006/table">
            <a:tbl>
              <a:tblPr firstRow="1" bandRow="1"/>
              <a:tblGrid>
                <a:gridCol w="1333500"/>
                <a:gridCol w="571500"/>
                <a:gridCol w="666750"/>
                <a:gridCol w="666750"/>
              </a:tblGrid>
              <a:tr h="257977"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Function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FTEs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Avg Comp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Total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53205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Engineering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14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$185K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$2.6M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53205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Product &amp; Design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$160K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$1.3M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53205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Data Science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6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$175K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$1.1M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53205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Marketing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10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$130K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$1.3M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53205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Operations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$120K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$0.5M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Text 14"/>
          <p:cNvSpPr txBox="1"/>
          <p:nvPr/>
        </p:nvSpPr>
        <p:spPr>
          <a:xfrm>
            <a:off x="571500" y="4924425"/>
            <a:ext cx="2876550" cy="10477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Glassdoor comp data, Meridian HR, comparable org benchmarks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952625"/>
            <a:ext cx="809625" cy="1619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EA580C"/>
                </a:solidFill>
                <a:latin typeface="Liberation Sans"/>
                <a:ea typeface=""/>
                <a:cs typeface=""/>
              </a:rPr>
              <a:t>SECTION 04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2219325"/>
            <a:ext cx="2476500" cy="4000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Financial Case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762000" y="2809875"/>
            <a:ext cx="571500" cy="28575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62000" y="3019425"/>
            <a:ext cx="5553075" cy="1714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294"/>
              </a:lnSpc>
            </a:pPr>
            <a:r>
              <a:rPr lang="en-US" sz="1125" dirty="0">
                <a:solidFill>
                  <a:srgbClr val="E2E8F0"/>
                </a:solidFill>
                <a:latin typeface="Liberation Sans"/>
                <a:ea typeface=""/>
                <a:cs typeface=""/>
              </a:rPr>
              <a:t>Investment requirements, revenue projections, sensitivity analysis, and risk mitigation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028825" cy="2476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Sensitivity Analysis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535305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Investment remains NPV-positive across all scenarios; downside case still achieves 18-month payback</a:t>
            </a:r>
            <a:endParaRPr lang="en-US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71500" y="762000"/>
          <a:ext cx="8001000" cy="2381250"/>
        </p:xfrm>
        <a:graphic>
          <a:graphicData uri="http://schemas.openxmlformats.org/drawingml/2006/table">
            <a:tbl>
              <a:tblPr firstRow="1" bandRow="1"/>
              <a:tblGrid>
                <a:gridCol w="1333500"/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</a:tblGrid>
              <a:tr h="461010"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Scenario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Y3 Revenue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Y3 EBITDA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NPV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IRR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Payback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ROI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Probability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480060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Bull Case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$185M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$58M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$94M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82%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14 mo.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480%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20%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480060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Base Case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$148M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$42M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$68M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64%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18 mo.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340%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55%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Bear Case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$105M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$24M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$38M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22 mo.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180%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20%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480060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Worst Case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$72M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$8M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$12M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18%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28 mo.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65%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5%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 txBox="1"/>
          <p:nvPr/>
        </p:nvSpPr>
        <p:spPr>
          <a:xfrm>
            <a:off x="571500" y="3286125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Key Assumptions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71500" y="3476625"/>
            <a:ext cx="3810000" cy="504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  <a:spcBef>
                <a:spcPts val="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Base case conversion: 2.8% (vs. 1.1% current)</a:t>
            </a:r>
            <a:endParaRPr lang="en-US" dirty="0"/>
          </a:p>
          <a:p>
            <a:pPr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Base case AOV: $158 (vs. $127 current)</a:t>
            </a:r>
            <a:endParaRPr lang="en-US" dirty="0"/>
          </a:p>
          <a:p>
            <a:pPr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Customer acquisition cost: $32 (industry: $38)</a:t>
            </a:r>
            <a:endParaRPr lang="en-US" dirty="0"/>
          </a:p>
          <a:p>
            <a:pPr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Annual digital marketing spend: $2.4M at scale</a:t>
            </a:r>
            <a:endParaRPr lang="en-US" dirty="0"/>
          </a:p>
          <a:p>
            <a:pPr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Gross margin: 60% blended across channels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4572000" y="3286125"/>
            <a:ext cx="40005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Sensitivity Drivers (Impact on NPV)</a:t>
            </a:r>
            <a:endParaRPr lang="en-US" dirty="0"/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4572000" y="3486150"/>
          <a:ext cx="4000500" cy="952500"/>
        </p:xfrm>
        <a:graphic>
          <a:graphicData uri="http://schemas.openxmlformats.org/drawingml/2006/table">
            <a:tbl>
              <a:tblPr firstRow="1" bandRow="1"/>
              <a:tblGrid>
                <a:gridCol w="1333500"/>
                <a:gridCol w="666750"/>
                <a:gridCol w="666750"/>
                <a:gridCol w="666750"/>
                <a:gridCol w="666750"/>
              </a:tblGrid>
              <a:tr h="256696"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Driver</a:t>
                      </a:r>
                      <a:endParaRPr lang="en-US" dirty="0"/>
                    </a:p>
                  </a:txBody>
                  <a:tcPr anchor="ctr" marL="38100" marR="38100" marT="38100" marB="3810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-20%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-10%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+10%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+20%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31935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690"/>
                        </a:lnSpc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Conversion Rate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-$22M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-$11M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+$11M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+$22M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31935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690"/>
                        </a:lnSpc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AOV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-$16M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-$8M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+$8M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+$16M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31935"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690"/>
                        </a:lnSpc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CAC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-$8M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-$4M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+$4M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lang="en-US" sz="600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+$8M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 10"/>
          <p:cNvSpPr txBox="1"/>
          <p:nvPr/>
        </p:nvSpPr>
        <p:spPr>
          <a:xfrm>
            <a:off x="571500" y="4924425"/>
            <a:ext cx="3524250" cy="10477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Monte Carlo simulation (10,000 iterations), peer benchmarks, management inputs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600450" cy="2476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Liberation Sans"/>
                <a:ea typeface=""/>
                <a:cs typeface=""/>
              </a:rPr>
              <a:t>Risk Assessment &amp; Mitigation Plan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86715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Liberation Sans"/>
                <a:ea typeface=""/>
                <a:cs typeface=""/>
              </a:rPr>
              <a:t>Eight key risks identified with specific mitigation strategies and risk owners</a:t>
            </a:r>
            <a:endParaRPr lang="en-US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71500" y="762000"/>
          <a:ext cx="8001000" cy="3619500"/>
        </p:xfrm>
        <a:graphic>
          <a:graphicData uri="http://schemas.openxmlformats.org/drawingml/2006/table">
            <a:tbl>
              <a:tblPr firstRow="1" bandRow="1"/>
              <a:tblGrid>
                <a:gridCol w="285750"/>
                <a:gridCol w="1238250"/>
                <a:gridCol w="571500"/>
                <a:gridCol w="571500"/>
                <a:gridCol w="3048000"/>
                <a:gridCol w="1047750"/>
                <a:gridCol w="1238250"/>
              </a:tblGrid>
              <a:tr h="334433"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#</a:t>
                      </a:r>
                      <a:endParaRPr lang="en-US" dirty="0"/>
                    </a:p>
                  </a:txBody>
                  <a:tcPr anchor="ctr" marL="38100" marR="38100" marT="38100" marB="3810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Risk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Impact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Prob.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Mitigation Strategy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Owner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Liberation Sans"/>
                          <a:ea typeface=""/>
                          <a:cs typeface=""/>
                        </a:rPr>
                        <a:t>Status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410633"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1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Platform Delivery Delay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Agile methodology, 2-week sprints, vendor SLA with penalties, parallel workstreams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VP Digital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Mitigating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410633"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2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Talent Acquisition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Retained search firms, competitive comp (75th pctile), remote-first policy, signing bonuses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CHRO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Active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10633"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3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Legacy Integration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API-first architecture, middleware layer, phased migration, parallel run period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CTO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2563EB"/>
                          </a:solidFill>
                          <a:latin typeface="Liberation Sans"/>
                          <a:ea typeface=""/>
                          <a:cs typeface=""/>
                        </a:rPr>
                        <a:t>Planning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410633"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4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Customer Adoption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Soft launch with loyalty members, incentive migration offers, UX testing (200+ users)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CMO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2563EB"/>
                          </a:solidFill>
                          <a:latin typeface="Liberation Sans"/>
                          <a:ea typeface=""/>
                          <a:cs typeface=""/>
                        </a:rPr>
                        <a:t>Planning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10633"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5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Competitive Response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Differentiated CX, exclusive brands, loyalty moat, first-mover in underserved segments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CSO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94A3B8"/>
                          </a:solidFill>
                          <a:latin typeface="Liberation Sans"/>
                          <a:ea typeface=""/>
                          <a:cs typeface=""/>
                        </a:rPr>
                        <a:t>Monitoring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410633"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6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Data Security Breach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DC2626"/>
                          </a:solidFill>
                          <a:latin typeface="Liberation Sans"/>
                          <a:ea typeface=""/>
                          <a:cs typeface=""/>
                        </a:rPr>
                        <a:t>Critical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Low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PCI DSS L1 compliance, SOC 2 Type II, penetration testing, incident response plan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CISO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Mitigating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10633"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7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Budget Overrun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5% contingency reserve, monthly financial reviews, phase-gate approvals, vendor fixed pricing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CFO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059669"/>
                          </a:solidFill>
                          <a:latin typeface="Liberation Sans"/>
                          <a:ea typeface=""/>
                          <a:cs typeface=""/>
                        </a:rPr>
                        <a:t>Mitigating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410633"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862"/>
                        </a:lnSpc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8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Change Management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EA580C"/>
                          </a:solidFill>
                          <a:latin typeface="Liberation Sans"/>
                          <a:ea typeface=""/>
                          <a:cs typeface="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Executive sponsor, dedicated change lead, training program, internal comms campaign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dirty="0">
                          <a:solidFill>
                            <a:srgbClr val="000000"/>
                          </a:solidFill>
                          <a:latin typeface="Liberation Sans"/>
                          <a:ea typeface=""/>
                          <a:cs typeface=""/>
                        </a:rPr>
                        <a:t>COO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>
                        <a:lnSpc>
                          <a:spcPts val="776"/>
                        </a:lnSpc>
                      </a:pPr>
                      <a:r>
                        <a:rPr lang="en-US" sz="675" b="1" dirty="0">
                          <a:solidFill>
                            <a:srgbClr val="2563EB"/>
                          </a:solidFill>
                          <a:latin typeface="Liberation Sans"/>
                          <a:ea typeface=""/>
                          <a:cs typeface=""/>
                        </a:rPr>
                        <a:t>Planning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 txBox="1"/>
          <p:nvPr/>
        </p:nvSpPr>
        <p:spPr>
          <a:xfrm>
            <a:off x="571500" y="4924425"/>
            <a:ext cx="3476625" cy="10477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Source: Risk workshop (Feb 2026), comparable project post-mortems, COSO framework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757613" y="1257300"/>
            <a:ext cx="1628775" cy="3619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 algn="ctr">
              <a:lnSpc>
                <a:spcPts val="2760"/>
              </a:lnSpc>
            </a:pPr>
            <a:r>
              <a:rPr lang="en-US" sz="24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Next Steps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4286250" y="1838325"/>
            <a:ext cx="571500" cy="28575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2305050" y="2095500"/>
            <a:ext cx="4533900" cy="7715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 algn="ctr">
              <a:lnSpc>
                <a:spcPts val="1207"/>
              </a:lnSpc>
              <a:spcBef>
                <a:spcPts val="1000"/>
              </a:spcBef>
            </a:pPr>
            <a:r>
              <a:rPr lang="en-US" sz="1050" dirty="0">
                <a:solidFill>
                  <a:srgbClr val="E2E8F0"/>
                </a:solidFill>
                <a:latin typeface="Liberation Sans"/>
                <a:ea typeface=""/>
                <a:cs typeface=""/>
              </a:rPr>
              <a:t>1.  Board alignment on strategic direction and investment approval (March 7)</a:t>
            </a:r>
            <a:endParaRPr lang="en-US" dirty="0"/>
          </a:p>
          <a:p>
            <a:pPr algn="ctr">
              <a:lnSpc>
                <a:spcPts val="1207"/>
              </a:lnSpc>
              <a:spcBef>
                <a:spcPts val="1000"/>
              </a:spcBef>
            </a:pPr>
            <a:r>
              <a:rPr lang="en-US" sz="1050" dirty="0">
                <a:solidFill>
                  <a:srgbClr val="E2E8F0"/>
                </a:solidFill>
                <a:latin typeface="Liberation Sans"/>
                <a:ea typeface=""/>
                <a:cs typeface=""/>
              </a:rPr>
              <a:t>2.  VP, Digital Commerce search kick-off with retained firm (March 15)</a:t>
            </a:r>
            <a:endParaRPr lang="en-US" dirty="0"/>
          </a:p>
          <a:p>
            <a:pPr algn="ctr">
              <a:lnSpc>
                <a:spcPts val="1207"/>
              </a:lnSpc>
              <a:spcBef>
                <a:spcPts val="1000"/>
              </a:spcBef>
            </a:pPr>
            <a:r>
              <a:rPr lang="en-US" sz="1050" dirty="0">
                <a:solidFill>
                  <a:srgbClr val="E2E8F0"/>
                </a:solidFill>
                <a:latin typeface="Liberation Sans"/>
                <a:ea typeface=""/>
                <a:cs typeface=""/>
              </a:rPr>
              <a:t>3.  Platform vendor shortlist and RFP issuance (April 1)</a:t>
            </a:r>
            <a:endParaRPr lang="en-US" dirty="0"/>
          </a:p>
          <a:p>
            <a:pPr algn="ctr">
              <a:lnSpc>
                <a:spcPts val="1207"/>
              </a:lnSpc>
              <a:spcBef>
                <a:spcPts val="1000"/>
              </a:spcBef>
            </a:pPr>
            <a:r>
              <a:rPr lang="en-US" sz="1050" dirty="0">
                <a:solidFill>
                  <a:srgbClr val="E2E8F0"/>
                </a:solidFill>
                <a:latin typeface="Liberation Sans"/>
                <a:ea typeface=""/>
                <a:cs typeface=""/>
              </a:rPr>
              <a:t>4.  Detailed Phase 1 project plan and budget sign-off (April 15)</a:t>
            </a:r>
            <a:endParaRPr lang="en-US" dirty="0"/>
          </a:p>
          <a:p>
            <a:pPr algn="ctr">
              <a:lnSpc>
                <a:spcPts val="1207"/>
              </a:lnSpc>
              <a:spcBef>
                <a:spcPts val="1000"/>
              </a:spcBef>
            </a:pPr>
            <a:r>
              <a:rPr lang="en-US" sz="1050" dirty="0">
                <a:solidFill>
                  <a:srgbClr val="E2E8F0"/>
                </a:solidFill>
                <a:latin typeface="Liberation Sans"/>
                <a:ea typeface=""/>
                <a:cs typeface=""/>
              </a:rPr>
              <a:t>5.  Program kick-off and weekly SteerCo cadence begins (May 1)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4286250" y="3171825"/>
            <a:ext cx="571500" cy="28575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3976688" y="3381375"/>
            <a:ext cx="1190625" cy="2762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 algn="ctr">
              <a:lnSpc>
                <a:spcPts val="2070"/>
              </a:lnSpc>
            </a:pPr>
            <a:r>
              <a:rPr lang="en-US" sz="180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Thank You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2619375" y="3762375"/>
            <a:ext cx="3905250" cy="1238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 fontScale="100000"/>
          </a:bodyPr>
          <a:lstStyle/>
          <a:p>
            <a:pPr algn="ctr">
              <a:lnSpc>
                <a:spcPts val="949"/>
              </a:lnSpc>
            </a:pPr>
            <a:r>
              <a:rPr lang="en-US" sz="825" dirty="0">
                <a:solidFill>
                  <a:srgbClr val="94A3B8"/>
                </a:solidFill>
                <a:latin typeface="Liberation Sans"/>
                <a:ea typeface=""/>
                <a:cs typeface=""/>
              </a:rPr>
              <a:t>Questions? Contact the project team at digital-transformation@meridianretail.com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BBStrategy">
  <a:themeElements>
    <a:clrScheme name="MBBStrategy">
      <a:dk1>
        <a:srgbClr val="0F2540"/>
      </a:dk1>
      <a:lt1>
        <a:srgbClr val="FFFFFF"/>
      </a:lt1>
      <a:dk2>
        <a:srgbClr val="1B3A5C"/>
      </a:dk2>
      <a:lt2>
        <a:srgbClr val="F8FAFC"/>
      </a:lt2>
      <a:accent1>
        <a:srgbClr val="2563EB"/>
      </a:accent1>
      <a:accent2>
        <a:srgbClr val="059669"/>
      </a:accent2>
      <a:accent3>
        <a:srgbClr val="7C3AED"/>
      </a:accent3>
      <a:accent4>
        <a:srgbClr val="EA580C"/>
      </a:accent4>
      <a:accent5>
        <a:srgbClr val="DC2626"/>
      </a:accent5>
      <a:accent6>
        <a:srgbClr val="0891B2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!-- Batch E will replace these script slots once matching assets are admitted. --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Liberation Sans"/>
        <a:ea typeface=""/>
        <a:cs typeface=""/>
        <!-- Batch E will replace these script slots once matching assets are admitted. --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Runstamp</Application>
  <PresentationFormat>On-screen Show (16:9)</PresentationFormat>
  <Slides>25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Liberation Sans</vt:lpstr>
      <vt:lpstr>Liberation Sans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Commerce Transformation — Meridian Retail Group</dc:title>
  <dc:creator>Strategy &amp; Operations Practice</dc:creator>
  <cp:lastModifiedBy>Strategy &amp; Operations Practice</cp:lastModifiedBy>
  <cp:revision>1</cp:revision>
  <dcterms:created xsi:type="dcterms:W3CDTF">1980-01-01T00:00:02Z</dcterms:created>
  <dcterms:modified xsi:type="dcterms:W3CDTF">1980-01-01T00:00:02Z</dcterms:modified>
</cp:coreProperties>
</file>