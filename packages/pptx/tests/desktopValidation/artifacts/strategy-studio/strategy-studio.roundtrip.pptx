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799999999999998E-2"/>
          <c:y val="0.04"/>
          <c:w val="0.94430000000000003"/>
          <c:h val="0.729400000000000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1B3A5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3150</c:v>
                </c:pt>
                <c:pt idx="2">
                  <c:v>3050</c:v>
                </c:pt>
                <c:pt idx="3">
                  <c:v>2980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ED-6349-99C0-9063453B32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250</c:v>
                </c:pt>
                <c:pt idx="3">
                  <c:v>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FED-6349-99C0-9063453B32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320</c:v>
                </c:pt>
                <c:pt idx="1">
                  <c:v>340</c:v>
                </c:pt>
                <c:pt idx="2">
                  <c:v>350</c:v>
                </c:pt>
                <c:pt idx="3">
                  <c:v>360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FED-6349-99C0-9063453B32E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Liberation Sans"/>
                  </a:rPr>
                  <a:t>Revenue ($M)</a:t>
                </a:r>
              </a:p>
            </c:rich>
          </c:tx>
          <c:overlay val="0"/>
        </c:title>
        <c:numFmt formatCode="\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x val="2.7799999999999998E-2"/>
          <c:y val="0.87560000000000004"/>
          <c:w val="0.94430000000000003"/>
          <c:h val="8.4400000000000003E-2"/>
        </c:manualLayout>
      </c:layout>
      <c:overlay val="0"/>
      <c:txPr>
        <a:bodyPr/>
        <a:lstStyle/>
        <a:p>
          <a:pPr>
            <a:defRPr sz="675">
              <a:latin typeface="Liberation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4E-2"/>
          <c:y val="0.06"/>
          <c:w val="0.95199999999999996"/>
          <c:h val="0.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 Spend</c:v>
                </c:pt>
              </c:strCache>
            </c:strRef>
          </c:tx>
          <c:spPr>
            <a:solidFill>
              <a:srgbClr val="1B3A5C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720</c:v>
                </c:pt>
                <c:pt idx="2">
                  <c:v>1800</c:v>
                </c:pt>
                <c:pt idx="3">
                  <c:v>240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73E-E540-9116-E7A0733890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Spend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540</c:v>
                </c:pt>
                <c:pt idx="1">
                  <c:v>730</c:v>
                </c:pt>
                <c:pt idx="2">
                  <c:v>300</c:v>
                </c:pt>
                <c:pt idx="3">
                  <c:v>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73E-E540-9116-E7A0733890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Liberation Sans"/>
                  </a:rPr>
                  <a:t>Annual Spend ($)</a:t>
                </a:r>
              </a:p>
            </c:rich>
          </c:tx>
          <c:overlay val="0"/>
        </c:title>
        <c:numFmt formatCode="\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x val="2.4E-2"/>
          <c:y val="0.82"/>
          <c:w val="0.95199999999999996"/>
          <c:h val="0.12"/>
        </c:manualLayout>
      </c:layout>
      <c:overlay val="0"/>
      <c:txPr>
        <a:bodyPr/>
        <a:lstStyle/>
        <a:p>
          <a:pPr>
            <a:defRPr sz="600">
              <a:latin typeface="Liberation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2399999999999998E-2"/>
          <c:y val="0.04"/>
          <c:w val="0.93520000000000003"/>
          <c:h val="0.73909999999999998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Meridian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</c:v>
                </c:pt>
                <c:pt idx="2">
                  <c:v>2.5</c:v>
                </c:pt>
                <c:pt idx="3">
                  <c:v>1.8</c:v>
                </c:pt>
                <c:pt idx="4">
                  <c:v>2</c:v>
                </c:pt>
                <c:pt idx="5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93-4646-9515-7E036E60A7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Average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3.8</c:v>
                </c:pt>
                <c:pt idx="1">
                  <c:v>3.5</c:v>
                </c:pt>
                <c:pt idx="2">
                  <c:v>3.2</c:v>
                </c:pt>
                <c:pt idx="3">
                  <c:v>4</c:v>
                </c:pt>
                <c:pt idx="4">
                  <c:v>3.6</c:v>
                </c:pt>
                <c:pt idx="5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93-4646-9515-7E036E60A7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Best-in-Class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</c:v>
                </c:pt>
                <c:pt idx="1">
                  <c:v>4.5</c:v>
                </c:pt>
                <c:pt idx="2">
                  <c:v>4.2</c:v>
                </c:pt>
                <c:pt idx="3">
                  <c:v>4.7</c:v>
                </c:pt>
                <c:pt idx="4">
                  <c:v>4.5999999999999996</c:v>
                </c:pt>
                <c:pt idx="5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93-4646-9515-7E036E60A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radarChart>
      <c:catAx>
        <c:axId val="111111111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3.2399999999999998E-2"/>
          <c:y val="0.88060000000000005"/>
          <c:w val="0.93520000000000003"/>
          <c:h val="7.9399999999999998E-2"/>
        </c:manualLayout>
      </c:layout>
      <c:overlay val="0"/>
      <c:txPr>
        <a:bodyPr/>
        <a:lstStyle/>
        <a:p>
          <a:pPr>
            <a:defRPr sz="675">
              <a:latin typeface="Liberation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6200000000000001E-2"/>
          <c:y val="0.04"/>
          <c:w val="0.9476"/>
          <c:h val="0.7390999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93C5F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25">
                    <a:solidFill>
                      <a:srgbClr val="47556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40F-8047-A8B2-7E8F9624CC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3B82F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25">
                    <a:solidFill>
                      <a:srgbClr val="47556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40F-8047-A8B2-7E8F9624CC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1D4ED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25">
                    <a:solidFill>
                      <a:srgbClr val="47556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  <c:pt idx="4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40F-8047-A8B2-7E8F9624CC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Liberation Sans"/>
                  </a:rPr>
                  <a:t>Revenue ($M)</a:t>
                </a:r>
              </a:p>
            </c:rich>
          </c:tx>
          <c:overlay val="0"/>
        </c:title>
        <c:numFmt formatCode="\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x val="2.6200000000000001E-2"/>
          <c:y val="0.88060000000000005"/>
          <c:w val="0.9476"/>
          <c:h val="7.9399999999999998E-2"/>
        </c:manualLayout>
      </c:layout>
      <c:overlay val="0"/>
      <c:txPr>
        <a:bodyPr/>
        <a:lstStyle/>
        <a:p>
          <a:pPr>
            <a:defRPr sz="675">
              <a:latin typeface="Liberation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6100000000000002E-2"/>
          <c:y val="0.05"/>
          <c:w val="0.94779999999999998"/>
          <c:h val="0.6666999999999999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 ($M)</c:v>
                </c:pt>
              </c:strCache>
            </c:strRef>
          </c:tx>
          <c:spPr>
            <a:solidFill>
              <a:srgbClr val="93C5F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FD3-F542-B94D-05F9A7E5B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($M)</c:v>
                </c:pt>
              </c:strCache>
            </c:strRef>
          </c:tx>
          <c:spPr>
            <a:solidFill>
              <a:srgbClr val="3B82F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3.6</c:v>
                </c:pt>
                <c:pt idx="2">
                  <c:v>2.2000000000000002</c:v>
                </c:pt>
                <c:pt idx="3">
                  <c:v>1.8</c:v>
                </c:pt>
                <c:pt idx="4">
                  <c:v>1.4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FD3-F542-B94D-05F9A7E5B9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Aggressive ($M)</c:v>
                </c:pt>
              </c:strCache>
            </c:strRef>
          </c:tx>
          <c:spPr>
            <a:solidFill>
              <a:srgbClr val="1D4ED8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</c:v>
                </c:pt>
                <c:pt idx="1">
                  <c:v>2.4</c:v>
                </c:pt>
                <c:pt idx="2">
                  <c:v>1.5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FD3-F542-B94D-05F9A7E5B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Liberation Sans"/>
                  </a:rPr>
                  <a:t>Revenue ($M)</a:t>
                </a:r>
              </a:p>
            </c:rich>
          </c:tx>
          <c:overlay val="0"/>
        </c:title>
        <c:numFmt formatCode="\$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x val="2.6100000000000002E-2"/>
          <c:y val="0.85"/>
          <c:w val="0.94779999999999998"/>
          <c:h val="0.1"/>
        </c:manualLayout>
      </c:layout>
      <c:overlay val="0"/>
      <c:txPr>
        <a:bodyPr/>
        <a:lstStyle/>
        <a:p>
          <a:pPr>
            <a:defRPr sz="600">
              <a:latin typeface="Liberation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4E-2"/>
          <c:y val="0.06"/>
          <c:w val="0.95199999999999996"/>
          <c:h val="0.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1F1-404D-942E-C33156650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&amp; Design</c:v>
                </c:pt>
              </c:strCache>
            </c:strRef>
          </c:tx>
          <c:spPr>
            <a:solidFill>
              <a:srgbClr val="7C3AED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1F1-404D-942E-C331566508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Science</c:v>
                </c:pt>
              </c:strCache>
            </c:strRef>
          </c:tx>
          <c:spPr>
            <a:solidFill>
              <a:srgbClr val="059669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1F1-404D-942E-C331566508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EA580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E1F1-404D-942E-C331566508E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1F1-404D-942E-C33156650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Liberation Sans"/>
                  </a:rPr>
                  <a:t>New Hires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x val="2.4E-2"/>
          <c:y val="0.82"/>
          <c:w val="0.95199999999999996"/>
          <c:h val="0.12"/>
        </c:manualLayout>
      </c:layout>
      <c:overlay val="0"/>
      <c:txPr>
        <a:bodyPr/>
        <a:lstStyle/>
        <a:p>
          <a:pPr>
            <a:defRPr sz="525">
              <a:latin typeface="Liberation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466850"/>
            <a:ext cx="885825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CONFIDENTIAL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75260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Digital Commerce</a:t>
            </a:r>
            <a:endParaRPr lang="en-US" dirty="0"/>
          </a:p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Transformation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695575"/>
            <a:ext cx="3952875" cy="2095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Strategic Assessment &amp; Implementation Roadmap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62000" y="32099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53377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Prepared for Meridian Retail Group  |  February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733800"/>
            <a:ext cx="14859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Strategy &amp; Operations Practice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80010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Agenda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4766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Four workstreams structured around a hypothesis-driven approach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42950" y="93345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57250" y="104775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01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390650" y="1009650"/>
            <a:ext cx="6610350" cy="185738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390650" y="1214438"/>
            <a:ext cx="66103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Current state, customer segments, digital maturity, competitive position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8001000" y="1104900"/>
            <a:ext cx="40005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3-8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71500" y="16573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42950" y="182880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57250" y="194310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1390650" y="1905000"/>
            <a:ext cx="6562725" cy="185738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1390650" y="2109788"/>
            <a:ext cx="65627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Revenue by channel, customer journey, SKU demand, cross-sell potential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953375" y="2000250"/>
            <a:ext cx="447675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9-13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5527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742950" y="272415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857250" y="283845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03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1390650" y="2800350"/>
            <a:ext cx="6515100" cy="185738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390650" y="3005138"/>
            <a:ext cx="651510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Options assessment, roadmap, technology, organization design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905750" y="2895600"/>
            <a:ext cx="4953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14-19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71500" y="34480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742950" y="3619500"/>
            <a:ext cx="457200" cy="457200"/>
          </a:xfrm>
          <a:prstGeom prst="round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57250" y="373380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04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1390650" y="3695700"/>
            <a:ext cx="6515100" cy="185738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1390650" y="3900488"/>
            <a:ext cx="651510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Investment, projections, sensitivity, risk mitigation, next steps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905750" y="3790950"/>
            <a:ext cx="4953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20-25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886075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Meridian Retail Group  |  Digital Commerce Transformation  |  Confidential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SECTION 01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695700" cy="4000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591175" cy="1714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Understanding Meridian's current position, customer base, and competitive landscape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5740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195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Three key findings point to a $140M addressable revenue opportunity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spcFirstLastPara="0" wrap="square" lIns="152400" tIns="152400" rIns="152400" bIns="152400" rtlCol="0" anchor="t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FINDING 1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Online penetration at 8% vs. 23% industry average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Meridian's digital channel lags peers by 15pp, representing significant untapped demand from existing customer base and new digital-native segments.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17430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spcFirstLastPara="0" wrap="square" lIns="152400" tIns="152400" rIns="152400" bIns="152400" rtlCol="0" anchor="t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FINDING 2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$140M addressable revenue gap identified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Bottom-up analysis of SKU-level demand, cross-sell uplift, and category expansion yields a conservative $140M incremental revenue opportunity over 3 years.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71500" y="27717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spcFirstLastPara="0" wrap="square" lIns="152400" tIns="152400" rIns="152400" bIns="152400" rtlCol="0" anchor="t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FINDING 3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18-month payback on $12M platform investment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Phased investment approach mitigates risk while accelerating time-to-value through iterative releases and early revenue capture from high-margin digital channels.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715000" y="714375"/>
            <a:ext cx="2857500" cy="15240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>
            <a:noFill/>
            <a:round/>
          </a:ln>
          <a:effectLst>
            <a:outerShdw blurRad="190500" dist="38100" dir="5400000" algn="ctr" rotWithShape="0">
              <a:srgbClr val="2563EB">
                <a:alpha val="30000"/>
              </a:srgbClr>
            </a:outerShdw>
          </a:effectLst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Liberation Sans"/>
                <a:ea typeface=""/>
                <a:cs typeface=""/>
              </a:rPr>
              <a:t>REVENUE OPPORTUNITY</a:t>
            </a:r>
            <a:endParaRPr lang="en-US" dirty="0"/>
          </a:p>
          <a:p>
            <a:pPr algn="ctr">
              <a:lnSpc>
                <a:spcPts val="3795"/>
              </a:lnSpc>
              <a:spcBef>
                <a:spcPts val="225"/>
              </a:spcBef>
            </a:pPr>
            <a:r>
              <a:rPr lang="en-US" sz="33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$140M</a:t>
            </a:r>
            <a:endParaRPr lang="en-US" dirty="0"/>
          </a:p>
          <a:p>
            <a:pPr algn="ctr"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BFDBFE"/>
                </a:solidFill>
                <a:latin typeface="Liberation Sans"/>
                <a:ea typeface=""/>
                <a:cs typeface=""/>
              </a:rPr>
              <a:t>3-year addressable gap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715000" y="2352675"/>
            <a:ext cx="2857500" cy="8382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52400" tIns="152400" rIns="152400" bIns="152400" rtlCol="0" anchor="ctr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$12.0M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Total Investment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10B981"/>
                </a:solidFill>
                <a:latin typeface="Liberation Sans"/>
                <a:ea typeface=""/>
                <a:cs typeface=""/>
              </a:rPr>
              <a:t>340% expected ROI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0" y="3305175"/>
            <a:ext cx="28575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52400" tIns="152400" rIns="152400" bIns="152400" rtlCol="0" anchor="ctr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18 mo.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Payback Period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Phased approach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71500" y="4924425"/>
            <a:ext cx="3476625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Management interviews, industry benchmarks (Forrester 2025), internal analysis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70510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Current State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1719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Revenue concentration in physical retail creates vulnerability to digital disruption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381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953000" y="762000"/>
            <a:ext cx="3619500" cy="1619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Key Challenges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953000" y="10096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048250" y="1138238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181600" y="1104900"/>
            <a:ext cx="1104900" cy="128588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Declining Foot Traffic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048250" y="1247775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Same-store visits down 12% YoY; suburban malls underperforming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5525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048250" y="1681163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181600" y="1647825"/>
            <a:ext cx="1000125" cy="128588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Legacy Technology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1790700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20-year-old POS system; no unified inventory; manual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095500"/>
            <a:ext cx="36195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048250" y="2224088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181600" y="2190750"/>
            <a:ext cx="10763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Customer Data Gaps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33362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No single customer view; CRM covers only 34% of transactions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6479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048250" y="277177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181600" y="2743200"/>
            <a:ext cx="676275" cy="128588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Talent Deficit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288607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Zero in-house digital product or engineering capability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1908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5048250" y="3314700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181600" y="3286125"/>
            <a:ext cx="847725" cy="128588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Margin Pressure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4290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Occupancy costs rising 3% annually; digital margin 2x physical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000500"/>
            <a:ext cx="47625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1033463" y="4124325"/>
            <a:ext cx="34575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E-commerce at 8% of revenue vs. 23% industry average = 15pp gap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733675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Meridian FY2025 10-K, management data room, Euromonitor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4805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Customer Segmentation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100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Four distinct segments with differentiated digital propensity and lifetime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714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048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Digital Natives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048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18-34 yrs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7048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076450" y="130492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$820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048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1050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42%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048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2076450" y="1619250"/>
            <a:ext cx="2476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2590800" y="762000"/>
            <a:ext cx="1885950" cy="1714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7241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Omnichannel Shoppers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7241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25-50 yrs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27241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7241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010025" y="1304925"/>
            <a:ext cx="3333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$1,450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7241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1243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31%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27241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4095750" y="1619250"/>
            <a:ext cx="2476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4610100" y="762000"/>
            <a:ext cx="1885950" cy="1714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47434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Traditional Loyalists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47434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45-65 yrs</a:t>
            </a:r>
            <a:endParaRPr lang="en-US" dirty="0"/>
          </a:p>
        </p:txBody>
      </p:sp>
      <p:sp>
        <p:nvSpPr>
          <p:cNvPr id="28" name="View 28"/>
          <p:cNvSpPr/>
          <p:nvPr/>
        </p:nvSpPr>
        <p:spPr>
          <a:xfrm>
            <a:off x="47434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7434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029325" y="1304925"/>
            <a:ext cx="3333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$2,100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47434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1436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18%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47434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953125" y="1619250"/>
            <a:ext cx="4095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629400" y="762000"/>
            <a:ext cx="1885950" cy="1714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7627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Occasional Browsers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67627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All ages</a:t>
            </a:r>
            <a:endParaRPr lang="en-US" dirty="0"/>
          </a:p>
        </p:txBody>
      </p:sp>
      <p:sp>
        <p:nvSpPr>
          <p:cNvPr id="38" name="View 38"/>
          <p:cNvSpPr/>
          <p:nvPr/>
        </p:nvSpPr>
        <p:spPr>
          <a:xfrm>
            <a:off x="67627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67627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8134350" y="130492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$320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67627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8220075" y="1466850"/>
            <a:ext cx="1619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9%</a:t>
            </a:r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67627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8162925" y="16192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Low</a:t>
            </a:r>
            <a:endParaRPr lang="en-US" dirty="0"/>
          </a:p>
        </p:txBody>
      </p:sp>
      <p:graphicFrame>
        <p:nvGraphicFramePr>
          <p:cNvPr id="45" name="Chart 45"/>
          <p:cNvGraphicFramePr>
            <a:graphicFrameLocks noGrp="1"/>
          </p:cNvGraphicFramePr>
          <p:nvPr/>
        </p:nvGraphicFramePr>
        <p:xfrm>
          <a:off x="381000" y="2619375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 46"/>
          <p:cNvSpPr txBox="1"/>
          <p:nvPr/>
        </p:nvSpPr>
        <p:spPr>
          <a:xfrm>
            <a:off x="5334000" y="2619375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Key Insight</a:t>
            </a:r>
            <a:endParaRPr lang="en-US" dirty="0"/>
          </a:p>
        </p:txBody>
      </p:sp>
      <p:sp>
        <p:nvSpPr>
          <p:cNvPr id="47" name="View 47"/>
          <p:cNvSpPr/>
          <p:nvPr/>
        </p:nvSpPr>
        <p:spPr>
          <a:xfrm>
            <a:off x="5334000" y="2857500"/>
            <a:ext cx="3238500" cy="7048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48" name="Text 48"/>
          <p:cNvSpPr txBox="1"/>
          <p:nvPr/>
        </p:nvSpPr>
        <p:spPr>
          <a:xfrm>
            <a:off x="5467350" y="2986088"/>
            <a:ext cx="2971800" cy="4476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73% of Digital Natives and Omnichannel Shoppers express willingness to increase spend through a quality e-commerce experience. Combined, these segments represent $68M in addressable annual online revenue.</a:t>
            </a:r>
            <a:endParaRPr lang="en-US" dirty="0"/>
          </a:p>
        </p:txBody>
      </p:sp>
      <p:sp>
        <p:nvSpPr>
          <p:cNvPr id="49" name="View 49"/>
          <p:cNvSpPr/>
          <p:nvPr/>
        </p:nvSpPr>
        <p:spPr>
          <a:xfrm>
            <a:off x="5334000" y="3657600"/>
            <a:ext cx="3238500" cy="485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50" name="Text 50"/>
          <p:cNvSpPr txBox="1"/>
          <p:nvPr/>
        </p:nvSpPr>
        <p:spPr>
          <a:xfrm>
            <a:off x="5467350" y="378618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Traditional Loyalists show 2.6x higher LTV — converting even 15% to omnichannel would yield $9.5M incremental annual revenue.</a:t>
            </a:r>
            <a:endParaRPr lang="en-US" dirty="0"/>
          </a:p>
        </p:txBody>
      </p:sp>
      <p:sp>
        <p:nvSpPr>
          <p:cNvPr id="51" name="Text 51"/>
          <p:cNvSpPr txBox="1"/>
          <p:nvPr/>
        </p:nvSpPr>
        <p:spPr>
          <a:xfrm>
            <a:off x="571500" y="4924425"/>
            <a:ext cx="33147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Customer survey (n=4,200), transaction data analysis, third-party panel data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7652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Digital Maturity Scorecard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385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 scores 2.1/5.0 across six critical digital capability dimensions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000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0" y="762000"/>
          <a:ext cx="4000500" cy="3048004"/>
        </p:xfrm>
        <a:graphic>
          <a:graphicData uri="http://schemas.openxmlformats.org/drawingml/2006/table">
            <a:tbl>
              <a:tblPr firstRow="1" band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Dimension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Meridian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Industry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Best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Gap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E-Commerce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1.5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-2.3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Data &amp; Analytics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2.0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-1.5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Supply Chain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2.5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3.2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4.2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-0.7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Customer Exp.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1.8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4.0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4.7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-2.2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Technology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2.0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3.6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4.6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-1.6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Org &amp; Talent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2.8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3.4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4.3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-0.6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F2540"/>
                          </a:solidFill>
                          <a:latin typeface="Liberation Sans"/>
                          <a:ea typeface=""/>
                          <a:cs typeface=""/>
                        </a:rPr>
                        <a:t>Overall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2.1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3.6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-1.5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View 7"/>
          <p:cNvSpPr/>
          <p:nvPr/>
        </p:nvSpPr>
        <p:spPr>
          <a:xfrm>
            <a:off x="571500" y="4095750"/>
            <a:ext cx="80010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895475" y="4219575"/>
            <a:ext cx="53530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Largest gaps in E-Commerce Platform (-2.3) and Customer Experience (-2.2) — priority investment areas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4924425"/>
            <a:ext cx="45720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Digital Maturity Assessment Framework (McKinsey DMI), management self-assessment, peer benchmarking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7185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Competitive Landscape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7909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 significantly trails peers across all digital commerce dimensions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952752"/>
        </p:xfrm>
        <a:graphic>
          <a:graphicData uri="http://schemas.openxmlformats.org/drawingml/2006/table">
            <a:tbl>
              <a:tblPr firstRow="1" bandRow="1"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Company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Revenue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Digital 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YoY Growth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Mobile 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NPS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CSAT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Delivery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Position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Nordstrom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$14.9B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72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4.2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2-day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Leader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Macy's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$23.1B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33%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+15%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3.9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2-day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Leader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Kohl's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$16.6B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51%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3.7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3-day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Challenger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Dillard's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$6.8B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15%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52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3.5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5-day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Follower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JCPenney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$7.6B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+10%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44%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3.4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4-day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Follower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Meridian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$3.6B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+2%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38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3.1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7-day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Laggard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View 6"/>
          <p:cNvSpPr/>
          <p:nvPr/>
        </p:nvSpPr>
        <p:spPr>
          <a:xfrm>
            <a:off x="5715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 ranks last in digital penetration (8%) — 25pp below peer median of 33%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2766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718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NPS of 38 is 24 points below peer average — primary driver is poor online experience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9817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0769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7-day delivery vs. 2-day peer standard creates 3.5x higher cart abandonment rate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49244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Company filings, eMarketer (2025), Forrester Digital Maturity Index, J.D. Power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SECTION 02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571875" cy="4000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6305550" cy="1714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Quantifying the revenue opportunity across channels, customer journeys, and product categories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1947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Revenue Opportunity by Channel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5624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E-commerce platform expected to capture $140M in incremental revenue within 3 years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948238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524500" y="762000"/>
            <a:ext cx="30480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Channel Economics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524500" y="9810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619750" y="1076325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Direct Web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867650" y="107632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68% margin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619750" y="12192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Highest margin, owned channel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524500" y="14954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619750" y="1590675"/>
            <a:ext cx="6286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Marketplace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867650" y="15906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42% margin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619750" y="17335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Volume driver, lower margin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5524500" y="20097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619750" y="21050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Mobile App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867650" y="210502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71% margin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619750" y="22479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Best engagement, highest LTV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524500" y="25241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619750" y="261937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Social Commerce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867650" y="26193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38% margin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619750" y="27622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Emerging, brand-building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524500" y="30384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619750" y="3133725"/>
            <a:ext cx="557213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B2B Portal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867650" y="313372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55% margin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619750" y="32766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Enterprise client focus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191000"/>
            <a:ext cx="5334000" cy="3429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spcFirstLastPara="0" wrap="square" lIns="0" tIns="0" rIns="0" bIns="0" rtlCol="0" anchor="ctr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Liberation Sans"/>
                <a:ea typeface=""/>
                <a:cs typeface=""/>
              </a:rPr>
              <a:t>Year 1: $48M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3B82F6"/>
                </a:solidFill>
                <a:latin typeface="Liberation Sans"/>
                <a:ea typeface=""/>
                <a:cs typeface=""/>
              </a:rPr>
              <a:t>Year 2: $96M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Year 3: $148M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571500" y="4924425"/>
            <a:ext cx="3609975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Internal financial model, comparable company benchmarks, management estimates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94322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Cross-sell &amp; Upsell Potential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9147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Personalization engine could drive 18-24% increase in average order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52400" tIns="152400" rIns="152400" bIns="152400" rtlCol="0" anchor="ctr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$127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Current AOV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vs. $168 peer avg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6098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52400" tIns="152400" rIns="152400" bIns="152400" rtlCol="0" anchor="ctr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+24%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AOV Uplift Target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With personalization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482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52400" tIns="152400" rIns="152400" bIns="152400" rtlCol="0" anchor="ctr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$22M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Annual Revenue Impact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From AOV increase alone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865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52400" tIns="152400" rIns="152400" bIns="152400" rtlCol="0" anchor="ctr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2.1x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Cross-sell Ratio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vs. 3.4x industry avg</a:t>
            </a:r>
            <a:endParaRPr lang="en-US" dirty="0"/>
          </a:p>
        </p:txBody>
      </p:sp>
      <p:graphicFrame>
        <p:nvGraphicFramePr>
          <p:cNvPr id="9" name="Chart 9"/>
          <p:cNvGraphicFramePr>
            <a:graphicFrameLocks noGrp="1"/>
          </p:cNvGraphicFramePr>
          <p:nvPr/>
        </p:nvGraphicFramePr>
        <p:xfrm>
          <a:off x="381000" y="1762125"/>
          <a:ext cx="4381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4953000" y="1762125"/>
            <a:ext cx="36195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Personalization Strategy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98120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048250" y="2076450"/>
            <a:ext cx="1038225" cy="119063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Collaborative Filtering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201025" y="2076450"/>
            <a:ext cx="276225" cy="119063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$8.4M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220980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"Customers who bought X also bought Y" — drives 35% of Amazon revenue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486025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048250" y="2581275"/>
            <a:ext cx="866775" cy="119063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Dynamic Bundling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8201025" y="2581275"/>
            <a:ext cx="276225" cy="119063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$6.2M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7146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AI-powered bundle creation based on basket analysis and margin optimization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990850"/>
            <a:ext cx="3619500" cy="419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048250" y="3086100"/>
            <a:ext cx="9239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Behavioral Triggers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201025" y="3086100"/>
            <a:ext cx="2762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$4.1M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321945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Browse abandonment, wishlist reminders, price drop alerts via email/push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48615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048250" y="3581400"/>
            <a:ext cx="704850" cy="119063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Loyalty Tiering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201025" y="3581400"/>
            <a:ext cx="276225" cy="119063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$3.5M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71475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Spend-based tiers with exclusive access, early drops, and personalized offers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367665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Basket analysis (18 months data), McKinsey Personalization Index, peer case studies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SECTION 03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4581525" cy="4000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372100" cy="1714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Defining the optimal path forward: strategy, roadmap, technology, and organization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13372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Strategic Options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386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Three options evaluated on NPV, risk, speed-to-market, and organizational readiness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23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366838" y="981075"/>
            <a:ext cx="9239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A: BUILD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Custom-built e-commerce platform on microservices architecture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723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Full control &amp; differentiation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18-24 month build time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Higher ongoing cost ($4M/yr)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Significant talent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Best long-term flexibility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23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23900" y="2438400"/>
            <a:ext cx="3905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652713" y="2438400"/>
            <a:ext cx="280988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$42M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23900" y="2600325"/>
            <a:ext cx="1809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686050" y="260032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238500" y="762000"/>
            <a:ext cx="25146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  <a:effectLst>
            <a:outerShdw blurRad="152400" dist="38100" dir="5400000" algn="ctr" rotWithShape="0">
              <a:srgbClr val="7C3AED">
                <a:alpha val="15000"/>
              </a:srgbClr>
            </a:outerShdw>
          </a:effectLst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90900" y="914400"/>
            <a:ext cx="22098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71913" y="981075"/>
            <a:ext cx="12477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B: PLATFORM+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90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Composable platform (Shopify Plus + headless CMS) with custom integrations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390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390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6-month time to MVP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Balanced cost ($2.1M/yr)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Lower execution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Proven at scale (peers)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Extensible architecture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3390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390900" y="2438400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305425" y="2438400"/>
            <a:ext cx="295275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$68M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390900" y="2609850"/>
            <a:ext cx="1809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191125" y="2609850"/>
            <a:ext cx="4095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390900" y="2828925"/>
            <a:ext cx="2209800" cy="228600"/>
          </a:xfrm>
          <a:prstGeom prst="roundRect">
            <a:avLst/>
          </a:prstGeom>
          <a:solidFill>
            <a:srgbClr val="F3E8FF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100513" y="2886075"/>
            <a:ext cx="790575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RECOMMENDED</a:t>
            </a:r>
            <a:endParaRPr lang="en-US" dirty="0"/>
          </a:p>
        </p:txBody>
      </p:sp>
      <p:sp>
        <p:nvSpPr>
          <p:cNvPr id="29" name="View 29"/>
          <p:cNvSpPr/>
          <p:nvPr/>
        </p:nvSpPr>
        <p:spPr>
          <a:xfrm>
            <a:off x="5905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057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519863" y="981075"/>
            <a:ext cx="12858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C: OUTSOURCE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057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Fully managed marketplace solution via third-party operator</a:t>
            </a:r>
            <a:endParaRPr lang="en-US" dirty="0"/>
          </a:p>
        </p:txBody>
      </p:sp>
      <p:sp>
        <p:nvSpPr>
          <p:cNvPr id="33" name="View 33"/>
          <p:cNvSpPr/>
          <p:nvPr/>
        </p:nvSpPr>
        <p:spPr>
          <a:xfrm>
            <a:off x="6057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6057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Fastest launch (3 months)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Lowest upfront cost ($1.2M/yr)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Limited customization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Revenue share drag (12-18%)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No data ownership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057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057900" y="2438400"/>
            <a:ext cx="3905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7991475" y="2438400"/>
            <a:ext cx="27622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$28M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057900" y="2600325"/>
            <a:ext cx="1809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8048625" y="2600325"/>
            <a:ext cx="2190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Low</a:t>
            </a:r>
            <a:endParaRPr lang="en-US" dirty="0"/>
          </a:p>
        </p:txBody>
      </p:sp>
      <p:sp>
        <p:nvSpPr>
          <p:cNvPr id="40" name="View 40"/>
          <p:cNvSpPr/>
          <p:nvPr/>
        </p:nvSpPr>
        <p:spPr>
          <a:xfrm>
            <a:off x="571500" y="4000500"/>
            <a:ext cx="8001000" cy="47625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2371725" y="4171950"/>
            <a:ext cx="44005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B delivers highest risk-adjusted NPV ($68M) with 6-month time to first revenue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571500" y="4924425"/>
            <a:ext cx="333375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Vendor evaluations, comparable implementations, internal financial modeling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601027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Recommended Strategy: Composable Commerce Platform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6291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Phased approach balances speed-to-market with long-term flexibility and data ownership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333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33350" tIns="133350" rIns="133350" bIns="133350" rtlCol="0" anchor="t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Platform Foundation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Shopify Plus headless with custom React storefront and composable microservices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590800" y="762000"/>
            <a:ext cx="1885950" cy="1333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33350" tIns="133350" rIns="133350" bIns="133350" rtlCol="0" anchor="t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Data-Led Growth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CDP integration, real-time personalization, ML-driven product recommendations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10100" y="762000"/>
            <a:ext cx="1885950" cy="13335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33350" tIns="133350" rIns="133350" bIns="133350" rtlCol="0" anchor="t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Omnichannel Integration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Unified inventory, BOPIS, ship-from-store, and same-day delivery capabilities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29400" y="762000"/>
            <a:ext cx="1885950" cy="1333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133350" tIns="133350" rIns="133350" bIns="133350" rtlCol="0" anchor="t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Org Transformation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Dedicated digital BU with product, engineering, data science, and growth teams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223837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Strategic Rationale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71500" y="2447925"/>
            <a:ext cx="3810000" cy="10001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Speed-to-market: MVP in 6 months captures $18M Year 1 revenue that Build option would miss entirely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2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Data ownership: Unlike Outsource, Meridian retains full customer data and analytics capability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3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Cost efficiency: $2.1M/yr run rate vs. $4M (Build) while maintaining 90% of customization capability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4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Proven model: Nordstrom, Allbirds, and Glossier all use composable architecture at comparable scale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5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Risk mitigation: Phased rollout allows course correction; no big-bang deployment risk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572000" y="223837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Success Metrics (18-month targets)</a:t>
            </a:r>
            <a:endParaRPr lang="en-US" dirty="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4572000" y="2533650"/>
          <a:ext cx="4000500" cy="1809750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Current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Target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Delta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Online Revenue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$300M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$440M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+47%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Digital Penetration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14%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+6pp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Conversion Rate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1.1%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2.8%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+1.7pp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Average Order Value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$127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$158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+24%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NPS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+20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571500" y="4924425"/>
            <a:ext cx="335280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Vendor evaluation scorecards, comparable case studies, financial model v3.2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3842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Implementation Roadmap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1910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Three-phase approach delivers incremental value while managing execution risk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04850" y="847725"/>
            <a:ext cx="2209800" cy="266700"/>
          </a:xfrm>
          <a:prstGeom prst="roundRect">
            <a:avLst/>
          </a:prstGeom>
          <a:gradFill>
            <a:gsLst>
              <a:gs pos="0">
                <a:srgbClr val="93C5FD"/>
              </a:gs>
              <a:gs pos="100000">
                <a:srgbClr val="3B82F6"/>
              </a:gs>
            </a:gsLst>
            <a:lin ang="0" scaled="1"/>
          </a:gra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185863" y="914400"/>
            <a:ext cx="12477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PHASE 1: FOUNDATION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04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Months 0-6  |  $3.2M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Platform selection &amp; procurement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Core team hiring (12 FTEs)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Data migration &amp; API architecture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Payment gateway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Fulfillment partner onboarding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QA environment &amp; CI/CD setup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4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1176338" y="2209800"/>
            <a:ext cx="12668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MVP: Top 500 SKUs Live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238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371850" y="847725"/>
            <a:ext cx="2209800" cy="266700"/>
          </a:xfrm>
          <a:prstGeom prst="roundRect">
            <a:avLst/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738563" y="914400"/>
            <a:ext cx="1476375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PHASE 2: LAUNCH &amp; GROW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71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Months 6-12  |  $5.1M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371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Full catalog (5,000+ SKUs)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Digital marketing ramp ($1.2M)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Marketplace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Mobile app launch (iOS + Android)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Customer analytics platform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A/B testing infrastructure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71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95725" y="2209800"/>
            <a:ext cx="11620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Target: $48M Run Rate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905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6038850" y="847725"/>
            <a:ext cx="2209800" cy="2667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0" scaled="1"/>
          </a:gra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696075" y="914400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PHASE 3: SCALE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038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Months 12-18  |  $3.7M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038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B2B portal launch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Social commerce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International expansion (CA, UK)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Advanced personalization (ML)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Same-day/BOPIS fulfillment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Loyalty program 2.0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6038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500813" y="2209800"/>
            <a:ext cx="128587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Target: $140M+ Run Rate</a:t>
            </a:r>
            <a:endParaRPr lang="en-US" dirty="0"/>
          </a:p>
        </p:txBody>
      </p:sp>
      <p:sp>
        <p:nvSpPr>
          <p:cNvPr id="26" name="View 26"/>
          <p:cNvSpPr/>
          <p:nvPr/>
        </p:nvSpPr>
        <p:spPr>
          <a:xfrm>
            <a:off x="571500" y="3810000"/>
            <a:ext cx="8001000" cy="4191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spcFirstLastPara="0" wrap="square" lIns="0" tIns="0" rIns="0" bIns="0" rtlCol="0" anchor="ctr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Total Investment: </a:t>
            </a:r>
            <a:r>
              <a:rPr lang="en-US" sz="9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$12.0M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Expected ROI: </a:t>
            </a:r>
            <a:r>
              <a:rPr lang="en-US" sz="900" b="1" dirty="0">
                <a:solidFill>
                  <a:srgbClr val="10B981"/>
                </a:solidFill>
                <a:latin typeface="Liberation Sans"/>
                <a:ea typeface=""/>
                <a:cs typeface=""/>
              </a:rPr>
              <a:t>340% over 3 years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Break-even: </a:t>
            </a:r>
            <a:r>
              <a:rPr lang="en-US" sz="9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Month 18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238125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Project plan v2.1, vendor SOWs, HR capacity model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53365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Technology Architecture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19100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Composable, API-first architecture enables rapid iteration and future extensibility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76200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PRESENTATION LAYER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React Storefront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Next.js SSR, headless CMS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5527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Mobile Apps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React Native, shared components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5339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POS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In-store kiosks, clienteling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5151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Marketplace Feeds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Amazon, eBay, Google Shopping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" y="1485900"/>
            <a:ext cx="80010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676525" y="1557338"/>
            <a:ext cx="37909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API GATEWAY  |  GraphQL Federation  |  Rate Limiting  |  Auth (OAuth 2.0 + OIDC)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188595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COMMERCE SERVICES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715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Shopify Plus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Catalog, cart, checkout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25527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OMS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Order routing,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5339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Search &amp; Discovery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Algolia, faceted search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5151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Personalization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CDP + ML recommendations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619375"/>
            <a:ext cx="8001000" cy="2667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2605088" y="2690813"/>
            <a:ext cx="3933825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DATA PLATFORM  |  Snowflake DWH  |  Segment CDP  |  dbt Transforms  |  Looker BI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71500" y="300990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INFRASTRUCTURE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715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AWS (Primary)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ECS, RDS, ElastiCache, S3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25527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Vercel Edge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CDN, SSR, edge functions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45339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Monitoring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Datadog APM, PagerDuty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65151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Security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WAF, DDoS, PCI DSS L1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71500" y="4924425"/>
            <a:ext cx="3209925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Solution architecture review, vendor technical assessments, security audit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69570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Organizational Design &amp; Talent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623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Dedicated Digital Commerce business unit with 42 FTEs at full scale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333750" y="762000"/>
            <a:ext cx="2476500" cy="43815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VP, Digital Commerce</a:t>
            </a:r>
            <a:endParaRPr lang="en-US" dirty="0"/>
          </a:p>
          <a:p>
            <a:pPr algn="ctr">
              <a:lnSpc>
                <a:spcPts val="1035"/>
              </a:lnSpc>
              <a:spcBef>
                <a:spcPts val="75"/>
              </a:spcBef>
            </a:pPr>
            <a:r>
              <a:rPr lang="en-US" sz="675" b="1" dirty="0">
                <a:solidFill>
                  <a:srgbClr val="93C5FD"/>
                </a:solidFill>
                <a:latin typeface="Liberation Sans"/>
                <a:ea typeface=""/>
                <a:cs typeface=""/>
              </a:rPr>
              <a:t>Reports to CEO  |  Hired Month 1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286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Engineering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14 FTEs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2288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Product &amp; Design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8 FTEs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8290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Data Science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6 FTEs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4292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Growth Marketing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10 FTEs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294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spcFirstLastPara="0" wrap="square" lIns="95250" tIns="95250" rIns="95250" bIns="95250" rtlCol="0" anchor="t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Operations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1B3A5C"/>
                </a:solidFill>
                <a:latin typeface="Liberation Sans"/>
                <a:ea typeface=""/>
                <a:cs typeface=""/>
              </a:rPr>
              <a:t>4 FTEs</a:t>
            </a:r>
            <a:endParaRPr lang="en-US" dirty="0"/>
          </a:p>
        </p:txBody>
      </p:sp>
      <p:graphicFrame>
        <p:nvGraphicFramePr>
          <p:cNvPr id="11" name="Chart 11"/>
          <p:cNvGraphicFramePr>
            <a:graphicFrameLocks noGrp="1"/>
          </p:cNvGraphicFramePr>
          <p:nvPr/>
        </p:nvGraphicFramePr>
        <p:xfrm>
          <a:off x="381000" y="2476500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5334000" y="2476500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Annual Talent Cost at Scale</a:t>
            </a:r>
            <a:endParaRPr lang="en-US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334000" y="2733675"/>
          <a:ext cx="3238500" cy="1524002"/>
        </p:xfrm>
        <a:graphic>
          <a:graphicData uri="http://schemas.openxmlformats.org/drawingml/2006/table">
            <a:tbl>
              <a:tblPr firstRow="1" band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977"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Function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FTEs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Avg Comp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Total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205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Engineering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14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$185K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$2.6M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205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Product &amp; Design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$160K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$1.3M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205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Data Science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$175K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$1.1M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205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Marketing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10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$130K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$1.3M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205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Operations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$120K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$0.5M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571500" y="4924425"/>
            <a:ext cx="287655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Glassdoor comp data, Meridian HR, comparable org benchmarks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SECTION 04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2476500" cy="4000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553075" cy="1714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Investment requirements, revenue projections, sensitivity analysis, and risk mitigation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28825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Sensitivity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53530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Investment remains NPV-positive across all scenarios; downside case still achieves 18-month payback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381250"/>
        </p:xfrm>
        <a:graphic>
          <a:graphicData uri="http://schemas.openxmlformats.org/drawingml/2006/table">
            <a:tbl>
              <a:tblPr firstRow="1" band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1010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Scenario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Y3 Revenue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Y3 EBITDA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NPV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IRR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Payback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ROI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Probability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Bull Case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$185M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$58M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$94M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14 mo.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480%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20%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Base Case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$148M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$42M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$68M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64%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18 mo.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340%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55%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Bear Case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$105M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$24M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$38M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42%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22 mo.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180%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20%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Worst Case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$72M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$8M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$12M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18%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28 mo.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65%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5%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328612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Key Assumptions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3476625"/>
            <a:ext cx="3810000" cy="5048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Base case conversion: 2.8% (vs. 1.1%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Base case AOV: $158 (vs. $127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Customer acquisition cost: $32 (industry: $38)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Annual digital marketing spend: $2.4M at scale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Gross margin: 60% blended across channels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0" y="328612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Sensitivity Drivers (Impact on NPV)</a:t>
            </a:r>
            <a:endParaRPr lang="en-US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0" y="3486150"/>
          <a:ext cx="4000500" cy="952501"/>
        </p:xfrm>
        <a:graphic>
          <a:graphicData uri="http://schemas.openxmlformats.org/drawingml/2006/table">
            <a:tbl>
              <a:tblPr firstRow="1" band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696"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Driver</a:t>
                      </a:r>
                      <a:endParaRPr lang="en-US" dirty="0"/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-20%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-10%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+10%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+20%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935">
                <a:tc>
                  <a:txBody>
                    <a:bodyPr/>
                    <a:lstStyle/>
                    <a:p>
                      <a:pPr algn="l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Conversion Rate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-$22M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-$11M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+$11M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+$22M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35">
                <a:tc>
                  <a:txBody>
                    <a:bodyPr/>
                    <a:lstStyle/>
                    <a:p>
                      <a:pPr algn="l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AOV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-$16M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-$8M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+$16M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35">
                <a:tc>
                  <a:txBody>
                    <a:bodyPr/>
                    <a:lstStyle/>
                    <a:p>
                      <a:pPr algn="l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CAC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-$8M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-$4M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+$4M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+$8M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71500" y="4924425"/>
            <a:ext cx="3524250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Monte Carlo simulation (10,000 iterations), peer benchmarks, management inputs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600450" cy="2476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Risk Assessment &amp; Mitigation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67150" cy="1333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Eight key risks identified with specific mitigation strategies and risk owners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3619497"/>
        </p:xfrm>
        <a:graphic>
          <a:graphicData uri="http://schemas.openxmlformats.org/drawingml/2006/table">
            <a:tbl>
              <a:tblPr firstRow="1" bandRow="1"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4433"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#</a:t>
                      </a:r>
                      <a:endParaRPr lang="en-US" dirty="0"/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Risk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Impact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Prob.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Mitigation Strategy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Owner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Status</a:t>
                      </a:r>
                      <a:endParaRPr lang="en-US" dirty="0"/>
                    </a:p>
                  </a:txBody>
                  <a:tcPr marL="38100" marR="38100" marT="38100" marB="3810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Platform Delivery Delay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Agile methodology, 2-week sprints, vendor SLA with penalties, parallel workstreams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VP Digital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Mitigating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Talent Acquisition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Retained search firms, competitive comp (75th pctile), remote-first policy, signing bonuses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CHRO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Active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Legacy Integration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API-first architecture, middleware layer, phased migration, parallel run period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CTO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Planning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Customer Adoption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Soft launch with loyalty members, incentive migration offers, UX testing (200+ users)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CMO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Planning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Competitive Response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Differentiated CX, exclusive brands, loyalty moat, first-mover in underserved segments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CSO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94A3B8"/>
                          </a:solidFill>
                          <a:latin typeface="Liberation Sans"/>
                          <a:ea typeface=""/>
                          <a:cs typeface=""/>
                        </a:rPr>
                        <a:t>Monitoring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Data Security Breach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Critical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Low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PCI DSS L1 compliance, SOC 2 Type II, penetration testing, incident response plan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CISO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Mitigating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7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Budget Overrun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5% contingency reserve, monthly financial reviews, phase-gate approvals, vendor fixed pricing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CFO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Mitigating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</a:t>
                      </a:r>
                      <a:endParaRPr lang="en-US" dirty="0"/>
                    </a:p>
                  </a:txBody>
                  <a:tcPr marL="57150" marR="57150" marT="57150" marB="57150" anchor="ctr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Change Management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Executive sponsor, dedicated change lead, training program, internal comms campaign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COO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Planning</a:t>
                      </a:r>
                      <a:endParaRPr lang="en-US" dirty="0"/>
                    </a:p>
                  </a:txBody>
                  <a:tcPr marL="57150" marR="57150" marT="57150" marB="57150" anchor="ctr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4924425"/>
            <a:ext cx="3476625" cy="10477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Risk workshop (Feb 2026), comparable project post-mortems, COSO framework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757613" y="1257300"/>
            <a:ext cx="1628775" cy="361950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Next Steps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286250" y="18383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2305050" y="2095500"/>
            <a:ext cx="4533900" cy="7715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1.  Board alignment on strategic direction and investment approval (March 7)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2.  VP, Digital Commerce search kick-off with retained firm (March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3.  Platform vendor shortlist and RFP issuance (April 1)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4.  Detailed Phase 1 project plan and budget sign-off (April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5.  Program kick-off and weekly SteerCo cadence begins (May 1)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286250" y="31718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976688" y="3381375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Thank You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619375" y="3762375"/>
            <a:ext cx="3905250" cy="123825"/>
          </a:xfrm>
          <a:prstGeom prst="rect">
            <a:avLst/>
          </a:prstGeom>
          <a:noFill/>
          <a:ln>
            <a:noFill/>
          </a:ln>
        </p:spPr>
        <p:txBody>
          <a:bodyPr spcFirstLastPara="0" wrap="none" lIns="0" tIns="0" rIns="0" bIns="0" rtlCol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Questions? Contact the project team at digital-transformation@meridianretail.com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BStrategy">
  <a:themeElements>
    <a:clrScheme name="MBBStrategy">
      <a:dk1>
        <a:srgbClr val="0F2540"/>
      </a:dk1>
      <a:lt1>
        <a:srgbClr val="FFFFFF"/>
      </a:lt1>
      <a:dk2>
        <a:srgbClr val="1B3A5C"/>
      </a:dk2>
      <a:lt2>
        <a:srgbClr val="F8FAFC"/>
      </a:lt2>
      <a:accent1>
        <a:srgbClr val="2563EB"/>
      </a:accent1>
      <a:accent2>
        <a:srgbClr val="059669"/>
      </a:accent2>
      <a:accent3>
        <a:srgbClr val="7C3AED"/>
      </a:accent3>
      <a:accent4>
        <a:srgbClr val="EA580C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Liberation Sans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2386</Words>
  <Application>Microsoft Macintosh PowerPoint</Application>
  <PresentationFormat>On-screen Show (16:9)</PresentationFormat>
  <Paragraphs>608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Liberation Sans</vt:lpstr>
      <vt:lpstr>Arial</vt:lpstr>
      <vt:lpstr>MBBStrategy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Commerce Transformation — Meridian Retail Group</dc:title>
  <dc:creator>Strategy &amp; Operations Practice</dc:creator>
  <cp:lastModifiedBy>진용 김</cp:lastModifiedBy>
  <cp:revision>1</cp:revision>
  <dcterms:created xsi:type="dcterms:W3CDTF">1980-01-01T00:00:02Z</dcterms:created>
  <dcterms:modified xsi:type="dcterms:W3CDTF">2026-08-14T13:14:17Z</dcterms:modified>
</cp:coreProperties>
</file>