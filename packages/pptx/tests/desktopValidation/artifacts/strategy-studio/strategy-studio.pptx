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presProps" Target="presProps.xml"/>
  <Relationship Id="rId29" Type="http://schemas.openxmlformats.org/officeDocument/2006/relationships/viewProps" Target="viewProps.xml"/>
  <Relationship Id="rId30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78"/>
          <c:y val="0.04"/>
          <c:w val="0.9443"/>
          <c:h val="0.84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3150</c:v>
                </c:pt>
                <c:pt idx="2">
                  <c:v>3050</c:v>
                </c:pt>
                <c:pt idx="3">
                  <c:v>2980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250</c:v>
                </c:pt>
                <c:pt idx="3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320</c:v>
                </c:pt>
                <c:pt idx="1">
                  <c:v>340</c:v>
                </c:pt>
                <c:pt idx="2">
                  <c:v>350</c:v>
                </c:pt>
                <c:pt idx="3">
                  <c:v>360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solidFill>
                    <a:srgbClr val="FFFFFF"/>
                  </a:solidFill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 Spend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720</c:v>
                </c:pt>
                <c:pt idx="2">
                  <c:v>1800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Spend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540</c:v>
                </c:pt>
                <c:pt idx="1">
                  <c:v>730</c:v>
                </c:pt>
                <c:pt idx="2">
                  <c:v>300</c:v>
                </c:pt>
                <c:pt idx="3">
                  <c:v>80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Annual Spend ($)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24"/>
          <c:y val="0.04"/>
          <c:w val="0.9352"/>
          <c:h val="0.8441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</c:v>
                </c:pt>
                <c:pt idx="2">
                  <c:v>2.5</c:v>
                </c:pt>
                <c:pt idx="3">
                  <c:v>1.8</c:v>
                </c:pt>
                <c:pt idx="4">
                  <c:v>2</c:v>
                </c:pt>
                <c:pt idx="5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3.8</c:v>
                </c:pt>
                <c:pt idx="1">
                  <c:v>3.5</c:v>
                </c:pt>
                <c:pt idx="2">
                  <c:v>3.2</c:v>
                </c:pt>
                <c:pt idx="3">
                  <c:v>4</c:v>
                </c:pt>
                <c:pt idx="4">
                  <c:v>3.6</c:v>
                </c:pt>
                <c:pt idx="5">
                  <c:v>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Best-in-Class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</c:v>
                </c:pt>
                <c:pt idx="1">
                  <c:v>4.5</c:v>
                </c:pt>
                <c:pt idx="2">
                  <c:v>4.2</c:v>
                </c:pt>
                <c:pt idx="3">
                  <c:v>4.7</c:v>
                </c:pt>
                <c:pt idx="4">
                  <c:v>4.6</c:v>
                </c:pt>
                <c:pt idx="5">
                  <c:v>4.3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2"/>
          <c:y val="0.04"/>
          <c:w val="0.9477"/>
          <c:h val="0.84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  <c:pt idx="4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525">
                  <a:solidFill>
                    <a:srgbClr val="475569"/>
                  </a:solidFill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1"/>
          <c:y val="0.05"/>
          <c:w val="0.9478"/>
          <c:h val="0.80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 ($M)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($M)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3.6</c:v>
                </c:pt>
                <c:pt idx="2">
                  <c:v>2.2</c:v>
                </c:pt>
                <c:pt idx="3">
                  <c:v>1.8</c:v>
                </c:pt>
                <c:pt idx="4">
                  <c:v>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Aggressive ($M)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</c:v>
                </c:pt>
                <c:pt idx="1">
                  <c:v>2.4</c:v>
                </c:pt>
                <c:pt idx="2">
                  <c:v>1.5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7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&amp; Design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Science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gapWidth val="4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New Hires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52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466850"/>
            <a:ext cx="8572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CONFIDENTIAL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75260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Digital Commerce</a:t>
            </a:r>
            <a:endParaRPr lang="en-US" dirty="0"/>
          </a:p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Transformation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695575"/>
            <a:ext cx="3838575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E2E8F0"/>
                </a:solidFill>
                <a:latin typeface="Arial"/>
                <a:ea typeface=""/>
                <a:cs typeface=""/>
              </a:rPr>
              <a:t>Strategic Assessment &amp; Implementation Roadmap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62000" y="32099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533775"/>
            <a:ext cx="2905125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94A3B8"/>
                </a:solidFill>
                <a:latin typeface="Arial"/>
                <a:ea typeface=""/>
                <a:cs typeface=""/>
              </a:rPr>
              <a:t>Prepared for Meridian Retail Group  |  February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733800"/>
            <a:ext cx="1452563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  <a:ea typeface=""/>
                <a:cs typeface=""/>
              </a:rPr>
              <a:t>Strategy &amp; Operations Practice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Agenda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Four workstreams structured around a hypothesis-driven approach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42950" y="93345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57250" y="10477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01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390650" y="1009650"/>
            <a:ext cx="662940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390650" y="1214438"/>
            <a:ext cx="6629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Current state, customer segments, digital maturity, competitive position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8010525" y="1104900"/>
            <a:ext cx="3905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3-8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71500" y="16573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42950" y="182880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57250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1390650" y="1905000"/>
            <a:ext cx="6581775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1390650" y="2109788"/>
            <a:ext cx="65817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by channel, customer journey, SKU demand, cross-sell potential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962900" y="2000250"/>
            <a:ext cx="4381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9-13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5527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742950" y="272415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857250" y="28384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03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1390650" y="2800350"/>
            <a:ext cx="65341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390650" y="3005138"/>
            <a:ext cx="6534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Options assessment, roadmap, technology, organization design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915275" y="2895600"/>
            <a:ext cx="4857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14-19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71500" y="34480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742950" y="3619500"/>
            <a:ext cx="457200" cy="457200"/>
          </a:xfrm>
          <a:prstGeom prst="round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57250" y="3733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04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1390650" y="3695700"/>
            <a:ext cx="65341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1390650" y="3900488"/>
            <a:ext cx="6534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Investment, projections, sensitivity, risk mitigation, next steps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915275" y="3790950"/>
            <a:ext cx="4857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20-25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8003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Meridian Retail Group  |  Digital Commerce Transformation  |  Confidential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SECTION 01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5909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Understanding Meridian's current position, customer base, and competitive landscape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 key findings point to a $140M addressable revenue opportunity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FINDING 1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Online penetration at 8% vs. 23% industry average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Meridian's digital channel lags peers by 15pp, representing significant untapped demand from existing customer base and new digital-native segments.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17430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FINDING 2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$140M addressable revenue gap identified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Bottom-up analysis of SKU-level demand, cross-sell uplift, and category expansion yields a conservative $140M incremental revenue opportunity over 3 years.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71500" y="27717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FINDING 3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18-month payback on $12M platform investment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Phased investment approach mitigates risk while accelerating time-to-value through iterative releases and early revenue capture from high-margin digital channels.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715000" y="714375"/>
            <a:ext cx="2857500" cy="15240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>
            <a:noFill/>
            <a:round/>
          </a:ln>
          <a:effectLst>
            <a:outerShdw blurRad="190500" dist="38100" dir="5400000" algn="ctr" rotWithShape="0">
              <a:srgbClr val="2563EB">
                <a:alpha val="30000"/>
              </a:srgbClr>
            </a:outerShdw>
          </a:effectLst>
        </p:spPr>
        <p:txBody>
          <a:bodyPr wrap="square" rtlCol="0" spcFirstLastPara="0" anchor="ctr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REVENUE OPPORTUNITY</a:t>
            </a:r>
            <a:endParaRPr lang="en-US" dirty="0"/>
          </a:p>
          <a:p>
            <a:pPr algn="ctr">
              <a:lnSpc>
                <a:spcPts val="3795"/>
              </a:lnSpc>
              <a:spcBef>
                <a:spcPts val="225"/>
              </a:spcBef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$140M</a:t>
            </a:r>
            <a:endParaRPr lang="en-US" dirty="0"/>
          </a:p>
          <a:p>
            <a:pPr algn="ctr"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BFDBFE"/>
                </a:solidFill>
                <a:latin typeface="Arial"/>
                <a:ea typeface=""/>
                <a:cs typeface=""/>
              </a:rPr>
              <a:t>3-year addressable gap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715000" y="2352675"/>
            <a:ext cx="2857500" cy="8382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$12.0M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Total Investment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10B981"/>
                </a:solidFill>
                <a:latin typeface="Arial"/>
                <a:ea typeface=""/>
                <a:cs typeface=""/>
              </a:rPr>
              <a:t>340% expected ROI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0" y="3305175"/>
            <a:ext cx="28575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 mo.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Payback Period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Phased approach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71500" y="4924425"/>
            <a:ext cx="3371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Management interviews, industry benchmarks (Forrester 2025), internal analysis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Current State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4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concentration in physical retail creates vulnerability to digital disruption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381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953000" y="762000"/>
            <a:ext cx="3619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Challenges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953000" y="10096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048250" y="1138238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181600" y="1104900"/>
            <a:ext cx="107632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Declining Foot Traffic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048250" y="1247775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Same-store visits down 12% YoY; suburban malls underperforming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5525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048250" y="1681163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181600" y="1647825"/>
            <a:ext cx="971550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Legacy Technology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1790700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20-year-old POS system; no unified inventory; manual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095500"/>
            <a:ext cx="36195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048250" y="2224088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181600" y="2190750"/>
            <a:ext cx="10382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Data Gaps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33362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No single customer view; CRM covers only 34% of transactions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6479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048250" y="277177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181600" y="2743200"/>
            <a:ext cx="65722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Talent Deficit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288607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Zero in-house digital product or engineering capability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1908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5048250" y="3314700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181600" y="3286125"/>
            <a:ext cx="82867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Margin Pressure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4290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Occupancy costs rising 3% annually; digital margin 2x physical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000500"/>
            <a:ext cx="47625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1085850" y="4124325"/>
            <a:ext cx="3352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E-commerce at 8% of revenue vs. 23% industry average = 15pp gap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6574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Meridian FY2025 10-K, management data room, Euromonitor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432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Segmentation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86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Four distinct segments with differentiated digital propensity and lifetime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714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048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Digital Natives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048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18-34 yrs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7048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085975" y="13049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$820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048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1050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42%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048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2085975" y="161925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2590800" y="762000"/>
            <a:ext cx="1885950" cy="1714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7241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Omnichannel Shoppers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7241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25-50 yrs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27241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7241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019550" y="130492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$1,450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7241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1243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31%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27241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4105275" y="161925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4610100" y="762000"/>
            <a:ext cx="1885950" cy="1714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47434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Traditional Loyalists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47434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45-65 yrs</a:t>
            </a:r>
            <a:endParaRPr lang="en-US" dirty="0"/>
          </a:p>
        </p:txBody>
      </p:sp>
      <p:sp>
        <p:nvSpPr>
          <p:cNvPr id="28" name="View 28"/>
          <p:cNvSpPr/>
          <p:nvPr/>
        </p:nvSpPr>
        <p:spPr>
          <a:xfrm>
            <a:off x="47434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7434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038850" y="130492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$2,100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47434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1436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18%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47434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962650" y="1619250"/>
            <a:ext cx="4000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629400" y="762000"/>
            <a:ext cx="1885950" cy="1714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7627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Occasional Browsers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67627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All ages</a:t>
            </a:r>
            <a:endParaRPr lang="en-US" dirty="0"/>
          </a:p>
        </p:txBody>
      </p:sp>
      <p:sp>
        <p:nvSpPr>
          <p:cNvPr id="38" name="View 38"/>
          <p:cNvSpPr/>
          <p:nvPr/>
        </p:nvSpPr>
        <p:spPr>
          <a:xfrm>
            <a:off x="67627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67627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8143875" y="13049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$320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67627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8229600" y="14668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9%</a:t>
            </a:r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67627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8172450" y="1619250"/>
            <a:ext cx="209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Low</a:t>
            </a:r>
            <a:endParaRPr lang="en-US" dirty="0"/>
          </a:p>
        </p:txBody>
      </p:sp>
      <p:graphicFrame>
        <p:nvGraphicFramePr>
          <p:cNvPr id="45" name="Chart 45"/>
          <p:cNvGraphicFramePr>
            <a:graphicFrameLocks noGrp="1"/>
          </p:cNvGraphicFramePr>
          <p:nvPr/>
        </p:nvGraphicFramePr>
        <p:xfrm>
          <a:off x="381000" y="2619375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 46"/>
          <p:cNvSpPr txBox="1"/>
          <p:nvPr/>
        </p:nvSpPr>
        <p:spPr>
          <a:xfrm>
            <a:off x="5334000" y="2619375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Insight</a:t>
            </a:r>
            <a:endParaRPr lang="en-US" dirty="0"/>
          </a:p>
        </p:txBody>
      </p:sp>
      <p:sp>
        <p:nvSpPr>
          <p:cNvPr id="47" name="View 47"/>
          <p:cNvSpPr/>
          <p:nvPr/>
        </p:nvSpPr>
        <p:spPr>
          <a:xfrm>
            <a:off x="5334000" y="2857500"/>
            <a:ext cx="3238500" cy="7048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8" name="Text 48"/>
          <p:cNvSpPr txBox="1"/>
          <p:nvPr/>
        </p:nvSpPr>
        <p:spPr>
          <a:xfrm>
            <a:off x="5467350" y="2986088"/>
            <a:ext cx="29718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73% of Digital Natives and Omnichannel Shoppers express willingness to increase spend through a quality e-commerce experience. Combined, these segments represent $68M in addressable annual online revenue.</a:t>
            </a:r>
            <a:endParaRPr lang="en-US" dirty="0"/>
          </a:p>
        </p:txBody>
      </p:sp>
      <p:sp>
        <p:nvSpPr>
          <p:cNvPr id="49" name="View 49"/>
          <p:cNvSpPr/>
          <p:nvPr/>
        </p:nvSpPr>
        <p:spPr>
          <a:xfrm>
            <a:off x="5334000" y="3657600"/>
            <a:ext cx="3238500" cy="485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0" name="Text 50"/>
          <p:cNvSpPr txBox="1"/>
          <p:nvPr/>
        </p:nvSpPr>
        <p:spPr>
          <a:xfrm>
            <a:off x="5467350" y="378618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Traditional Loyalists show 2.6x higher LTV — converting even 15% to omnichannel would yield $9.5M incremental annual revenue.</a:t>
            </a:r>
            <a:endParaRPr lang="en-US" dirty="0"/>
          </a:p>
        </p:txBody>
      </p:sp>
      <p:sp>
        <p:nvSpPr>
          <p:cNvPr id="51" name="Text 51"/>
          <p:cNvSpPr txBox="1"/>
          <p:nvPr/>
        </p:nvSpPr>
        <p:spPr>
          <a:xfrm>
            <a:off x="571500" y="4924425"/>
            <a:ext cx="32099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Customer survey (n=4,200), transaction data analysis, third-party panel data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003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Digital Maturity Scorecard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337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scores 2.1/5.0 across six critical digital capability dimensions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000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0" y="762000"/>
          <a:ext cx="4000500" cy="3048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E-Commerce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-2.3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&amp; Analytics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Supply Chain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2.5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-0.7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Customer Exp.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1.8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-2.2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Technology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-1.6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Org &amp; Talent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2.8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-0.6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0F2540"/>
                          </a:solidFill>
                          <a:latin typeface="Arial"/>
                        </a:rPr>
                        <a:t>Overall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/>
                        </a:rPr>
                        <a:t>2.1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latin typeface="Arial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latin typeface="Arial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View 7"/>
          <p:cNvSpPr/>
          <p:nvPr/>
        </p:nvSpPr>
        <p:spPr>
          <a:xfrm>
            <a:off x="571500" y="4095750"/>
            <a:ext cx="80010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971675" y="4219575"/>
            <a:ext cx="5200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Largest gaps in E-Commerce Platform (-2.3) and Customer Experience (-2.2) — priority investment areas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4924425"/>
            <a:ext cx="44386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Digital Maturity Assessment Framework (McKinsey DMI), management self-assessment, peer benchmarking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2766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Competitive Landscape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significantly trails peers across all digital commerce dimensions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952750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952500"/>
                <a:gridCol w="762000"/>
                <a:gridCol w="762000"/>
                <a:gridCol w="762000"/>
                <a:gridCol w="762000"/>
                <a:gridCol w="762000"/>
                <a:gridCol w="762000"/>
                <a:gridCol w="1238250"/>
              </a:tblGrid>
              <a:tr h="3048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Digital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YoY Growth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Mobile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CSAT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Delivery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Nordstrom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$14.9B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72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Macy's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$23.1B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33%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3.9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Kohl's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$16.6B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2563EB"/>
                          </a:solidFill>
                          <a:latin typeface="Arial"/>
                        </a:rPr>
                        <a:t>Challenger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Dillard's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$6.8B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JCPenney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$7.6B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$3.6B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+2%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3.1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7-day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Laggard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View 6"/>
          <p:cNvSpPr/>
          <p:nvPr/>
        </p:nvSpPr>
        <p:spPr>
          <a:xfrm>
            <a:off x="5715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ranks last in digital penetration (8%) — 25pp below peer median of 33%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2766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718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NPS of 38 is 24 points below peer average — primary driver is poor online experience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9817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0769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7-day delivery vs. 2-day peer standard creates 3.5x higher cart abandonment rate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4924425"/>
            <a:ext cx="33242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Company filings, eMarketer (2025), Forrester Digital Maturity Index, J.D. Power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SECTION 02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4766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6124575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Quantifying the revenue opportunity across channels, customer journeys, and product categories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24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Revenue Opportunity by Channel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29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E-commerce platform expected to capture $140M in incremental revenue within 3 years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953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524500" y="762000"/>
            <a:ext cx="3048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Channel Economics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524500" y="9810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619750" y="1076325"/>
            <a:ext cx="5524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Direct Web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886700" y="10763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68% margin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619750" y="12192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Highest margin, owned channel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524500" y="14954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619750" y="15906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Marketplace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886700" y="15906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42% margin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619750" y="17335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Volume driver, lower margin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5524500" y="20097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619750" y="210502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Mobile App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886700" y="21050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71% margin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619750" y="22479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Best engagement, highest LTV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524500" y="25241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619750" y="2619375"/>
            <a:ext cx="8858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Social Commerce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886700" y="26193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38% margin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619750" y="27622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Emerging, brand-building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524500" y="30384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619750" y="3133725"/>
            <a:ext cx="547688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B2B Portal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886700" y="31337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55% margin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619750" y="32766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Enterprise client focus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191000"/>
            <a:ext cx="5334000" cy="3429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wrap="square" rtlCol="0" spcFirstLastPara="0" anchor="ctr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Year 1: $48M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3B82F6"/>
                </a:solidFill>
                <a:latin typeface="Arial"/>
                <a:ea typeface=""/>
                <a:cs typeface=""/>
              </a:rPr>
              <a:t>Year 2: $96M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Year 3: $148M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571500" y="4924425"/>
            <a:ext cx="3505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Internal financial model, comparable company benchmarks, management estimates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Cross-sell &amp; Upsell Potential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004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Personalization engine could drive 18-24% increase in average order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900238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$127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Current AOV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vs. $168 peer avg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6098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+24%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AOV Uplift Target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With personalization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482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$22M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Annual Revenue Impact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From AOV increase alone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865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2.1x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Cross-sell Ratio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vs. 3.4x industry avg</a:t>
            </a:r>
            <a:endParaRPr lang="en-US" dirty="0"/>
          </a:p>
        </p:txBody>
      </p:sp>
      <p:graphicFrame>
        <p:nvGraphicFramePr>
          <p:cNvPr id="9" name="Chart 9"/>
          <p:cNvGraphicFramePr>
            <a:graphicFrameLocks noGrp="1"/>
          </p:cNvGraphicFramePr>
          <p:nvPr/>
        </p:nvGraphicFramePr>
        <p:xfrm>
          <a:off x="381000" y="1762125"/>
          <a:ext cx="4381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4953000" y="1762125"/>
            <a:ext cx="3619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Personalization Strategy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98120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048250" y="2076450"/>
            <a:ext cx="10096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Collaborative Filtering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210550" y="2076450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$8.4M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220980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"Customers who bought X also bought Y" — drives 35% of Amazon revenue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486025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048250" y="2581275"/>
            <a:ext cx="8382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Dynamic Bundling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8210550" y="2581275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$6.2M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7146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AI-powered bundle creation based on basket analysis and margin optimization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990850"/>
            <a:ext cx="3619500" cy="419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048250" y="3086100"/>
            <a:ext cx="895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Behavioral Triggers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210550" y="3086100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$4.1M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321945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Browse abandonment, wishlist reminders, price drop alerts via email/push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48615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048250" y="3581400"/>
            <a:ext cx="676275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Loyalty Tiering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210550" y="3581400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$3.5M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71475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Spend-based tiers with exclusive access, early drops, and personalized offers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35718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Basket analysis (18 months data), McKinsey Personalization Index, peer case studies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SECTION 03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444817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Defining the optimal path forward: strategy, roadmap, technology, and organization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Options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305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 options evaluated on NPV, risk, speed-to-market, and organizational readiness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23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381125" y="981075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A: BUILD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Custom-built e-commerce platform on microservices architecture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723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 control &amp; differentiation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18-24 month build time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Higher ongoing cost ($4M/yr)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Significant talent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Best long-term flexibility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23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23900" y="24384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667000" y="24384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$42M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23900" y="260032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695575" y="26003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238500" y="762000"/>
            <a:ext cx="25146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  <a:effectLst>
            <a:outerShdw blurRad="152400" dist="38100" dir="5400000" algn="ctr" rotWithShape="0">
              <a:srgbClr val="7C3AED">
                <a:alpha val="1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90900" y="914400"/>
            <a:ext cx="22098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86200" y="98107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B: PLATFORM+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90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Composable platform (Shopify Plus + headless CMS) with custom integrations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390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390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6-month time to MVP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Balanced cost ($2.1M/yr)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Lower execution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Proven at scale (peers)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Extensible architecture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3390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390900" y="2438400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305425" y="2438400"/>
            <a:ext cx="295275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$68M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390900" y="2609850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200650" y="2609850"/>
            <a:ext cx="400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390900" y="2828925"/>
            <a:ext cx="2209800" cy="228600"/>
          </a:xfrm>
          <a:prstGeom prst="roundRect">
            <a:avLst/>
          </a:prstGeom>
          <a:solidFill>
            <a:srgbClr val="F3E8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105275" y="2886075"/>
            <a:ext cx="7810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RECOMMENDED</a:t>
            </a:r>
            <a:endParaRPr lang="en-US" dirty="0"/>
          </a:p>
        </p:txBody>
      </p:sp>
      <p:sp>
        <p:nvSpPr>
          <p:cNvPr id="29" name="View 29"/>
          <p:cNvSpPr/>
          <p:nvPr/>
        </p:nvSpPr>
        <p:spPr>
          <a:xfrm>
            <a:off x="5905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057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534150" y="981075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C: OUTSOURCE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057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Fully managed marketplace solution via third-party operator</a:t>
            </a:r>
            <a:endParaRPr lang="en-US" dirty="0"/>
          </a:p>
        </p:txBody>
      </p:sp>
      <p:sp>
        <p:nvSpPr>
          <p:cNvPr id="33" name="View 33"/>
          <p:cNvSpPr/>
          <p:nvPr/>
        </p:nvSpPr>
        <p:spPr>
          <a:xfrm>
            <a:off x="6057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6057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Fastest launch (3 months)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Lowest upfront cost ($1.2M/yr)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Limited customization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share drag (12-18%)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No data ownership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057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057900" y="24384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8001000" y="24384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$28M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057900" y="260032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8058150" y="2600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Low</a:t>
            </a:r>
            <a:endParaRPr lang="en-US" dirty="0"/>
          </a:p>
        </p:txBody>
      </p:sp>
      <p:sp>
        <p:nvSpPr>
          <p:cNvPr id="40" name="View 40"/>
          <p:cNvSpPr/>
          <p:nvPr/>
        </p:nvSpPr>
        <p:spPr>
          <a:xfrm>
            <a:off x="571500" y="4000500"/>
            <a:ext cx="8001000" cy="47625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2428875" y="41719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B delivers highest risk-adjusted NPV ($68M) with 6-month time to first revenue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571500" y="4924425"/>
            <a:ext cx="3238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evaluations, comparable implementations, internal financial modeling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58388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Recommended Strategy: Composable Commerce Platform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95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Phased approach balances speed-to-market with long-term flexibility and data ownership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333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Platform Foundation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Shopify Plus headless with custom React storefront and composable microservices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590800" y="762000"/>
            <a:ext cx="1885950" cy="1333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Data-Led Growth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CDP integration, real-time personalization, ML-driven product recommendations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10100" y="762000"/>
            <a:ext cx="1885950" cy="13335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Omnichannel Integration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Unified inventory, BOPIS, ship-from-store, and same-day delivery capabilities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29400" y="762000"/>
            <a:ext cx="1885950" cy="1333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Org Transformation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Dedicated digital BU with product, engineering, data science, and growth teams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223837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Rationale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71500" y="2447925"/>
            <a:ext cx="3810000" cy="1000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600"/>
              </a:spcBef>
              <a:buChar char="1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Speed-to-market: MVP in 6 months captures $18M Year 1 revenue that Build option would miss entirely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2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 ownership: Unlike Outsource, Meridian retains full customer data and analytics capability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3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Cost efficiency: $2.1M/yr run rate vs. $4M (Build) while maintaining 90% of customization capability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4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Proven model: Nordstrom, Allbirds, and Glossier all use composable architecture at comparable scale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5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Risk mitigation: Phased rollout allows course correction; no big-bang deployment risk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572000" y="223837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Success Metrics (18-month targets)</a:t>
            </a:r>
            <a:endParaRPr lang="en-US" dirty="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4572000" y="2533650"/>
          <a:ext cx="4000500" cy="1809750"/>
        </p:xfrm>
        <a:graphic>
          <a:graphicData uri="http://schemas.openxmlformats.org/drawingml/2006/table">
            <a:tbl>
              <a:tblPr firstRow="1" bandRow="1"/>
              <a:tblGrid>
                <a:gridCol w="1524000"/>
                <a:gridCol w="952500"/>
                <a:gridCol w="952500"/>
                <a:gridCol w="571500"/>
              </a:tblGrid>
              <a:tr h="2476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Delta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Online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$300M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$440M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+47%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Digital Penetration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+6pp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1.1%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2.8%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+1.7pp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Average Order Value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+24%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+20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571500" y="4924425"/>
            <a:ext cx="32575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evaluation scorecards, comparable case studies, financial model v3.2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562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Implementation Roadmap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67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Three-phase approach delivers incremental value while managing execution risk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04850" y="847725"/>
            <a:ext cx="2209800" cy="266700"/>
          </a:xfrm>
          <a:prstGeom prst="roundRect">
            <a:avLst/>
          </a:prstGeom>
          <a:gradFill>
            <a:gsLst>
              <a:gs pos="0">
                <a:srgbClr val="93C5FD"/>
              </a:gs>
              <a:gs pos="100000">
                <a:srgbClr val="3B82F6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200150" y="91440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1: FOUNDATION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04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0-6  |  $3.2M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Platform selection &amp; procurement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Core team hiring (12 FTEs)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 migration &amp; API architecture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Payment gateway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Fulfillment partner onboarding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QA environment &amp; CI/CD setup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4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1190625" y="2209800"/>
            <a:ext cx="1238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MVP: Top 500 SKUs Live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238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371850" y="847725"/>
            <a:ext cx="2209800" cy="266700"/>
          </a:xfrm>
          <a:prstGeom prst="roundRect">
            <a:avLst/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762375" y="91440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2: LAUNCH &amp; GROW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71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6-12  |  $5.1M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371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 catalog (5,000+ SKUs)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Digital marketing ramp ($1.2M)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Marketplace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Mobile app launch (iOS + Android)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Customer analytics platform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A/B testing infrastructure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71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905250" y="2209800"/>
            <a:ext cx="1143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Target: $48M Run Rate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905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6038850" y="847725"/>
            <a:ext cx="2209800" cy="2667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705600" y="91440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3: SCALE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038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12-18  |  $3.7M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038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B2B portal launch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Social commerce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International expansion (CA, UK)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Advanced personalization (ML)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Same-day/BOPIS fulfillment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Loyalty program 2.0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6038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515100" y="2209800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Target: $140M+ Run Rate</a:t>
            </a:r>
            <a:endParaRPr lang="en-US" dirty="0"/>
          </a:p>
        </p:txBody>
      </p:sp>
      <p:sp>
        <p:nvSpPr>
          <p:cNvPr id="26" name="View 26"/>
          <p:cNvSpPr/>
          <p:nvPr/>
        </p:nvSpPr>
        <p:spPr>
          <a:xfrm>
            <a:off x="571500" y="3810000"/>
            <a:ext cx="8001000" cy="4191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wrap="square" rtlCol="0" spcFirstLastPara="0" anchor="ctr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Total Investment: 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$12.0M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Expected ROI: </a:t>
            </a:r>
            <a:r>
              <a:rPr lang="en-US" sz="900" b="1" dirty="0">
                <a:solidFill>
                  <a:srgbClr val="10B981"/>
                </a:solidFill>
                <a:latin typeface="Arial"/>
                <a:ea typeface=""/>
                <a:cs typeface=""/>
              </a:rPr>
              <a:t>340% over 3 years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Break-even: 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Month 18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23145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Project plan v2.1, vendor SOWs, HR capacity model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4574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Technology Architecture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67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Composable, API-first architecture enables rapid iteration and future extensibility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76200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PRESENTATION LAYER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React Storefront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Next.js SSR, headless CMS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5527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Mobile Apps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React Native, shared components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5339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POS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In-store kiosks, clienteling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5151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Marketplace Feeds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Amazon, eBay, Google Shopping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" y="1485900"/>
            <a:ext cx="80010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724150" y="1557338"/>
            <a:ext cx="3695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API GATEWAY  |  GraphQL Federation  |  Rate Limiting  |  Auth (OAuth 2.0 + OIDC)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188595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COMMERCE SERVICES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715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Shopify Plus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Catalog, cart, checkout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25527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OMS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Order routing,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5339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Search &amp; Discovery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Algolia, faceted search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5151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Personalization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CDP + ML recommendations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619375"/>
            <a:ext cx="8001000" cy="2667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2657475" y="2690813"/>
            <a:ext cx="3829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DATA PLATFORM  |  Snowflake DWH  |  Segment CDP  |  dbt Transforms  |  Looker BI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71500" y="300990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INFRASTRUCTURE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715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AWS (Primary)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ECS, RDS, ElastiCache, S3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25527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Vercel Edge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CDN, SSR, edge functions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45339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Monitoring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Datadog APM, PagerDuty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65151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Security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WAF, DDoS, PCI DSS L1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71500" y="4924425"/>
            <a:ext cx="3124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Solution architecture review, vendor technical assessments, security audit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5909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Organizational Design &amp; Talent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4575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Dedicated Digital Commerce business unit with 42 FTEs at full scale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333750" y="762000"/>
            <a:ext cx="2476500" cy="43815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VP, Digital Commerce</a:t>
            </a:r>
            <a:endParaRPr lang="en-US" dirty="0"/>
          </a:p>
          <a:p>
            <a:pPr algn="ctr">
              <a:lnSpc>
                <a:spcPts val="1035"/>
              </a:lnSpc>
              <a:spcBef>
                <a:spcPts val="75"/>
              </a:spcBef>
            </a:pPr>
            <a:r>
              <a:rPr lang="en-US" sz="67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Reports to CEO  |  Hired Month 1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286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Engineering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14 FTEs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2288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Product &amp; Design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8 FTEs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8290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Data Science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6 FTEs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4292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Growth Marketing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10 FTEs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294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Operations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1B3A5C"/>
                </a:solidFill>
                <a:latin typeface="Arial"/>
                <a:ea typeface=""/>
                <a:cs typeface=""/>
              </a:rPr>
              <a:t>4 FTEs</a:t>
            </a:r>
            <a:endParaRPr lang="en-US" dirty="0"/>
          </a:p>
        </p:txBody>
      </p:sp>
      <p:graphicFrame>
        <p:nvGraphicFramePr>
          <p:cNvPr id="11" name="Chart 11"/>
          <p:cNvGraphicFramePr>
            <a:graphicFrameLocks noGrp="1"/>
          </p:cNvGraphicFramePr>
          <p:nvPr/>
        </p:nvGraphicFramePr>
        <p:xfrm>
          <a:off x="381000" y="2476500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5334000" y="2476500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Annual Talent Cost at Scale</a:t>
            </a:r>
            <a:endParaRPr lang="en-US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334000" y="2733675"/>
          <a:ext cx="3238500" cy="1524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571500"/>
                <a:gridCol w="666750"/>
                <a:gridCol w="666750"/>
              </a:tblGrid>
              <a:tr h="2286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FTEs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Avg Comp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Engineering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$185K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$2.6M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Product &amp; Design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$160K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Science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$175K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Marketing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$130K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Operations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571500" y="4924425"/>
            <a:ext cx="28003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Glassdoor comp data, Meridian HR, comparable org benchmarks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SECTION 04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3911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Investment requirements, revenue projections, sensitivity analysis, and risk mitigation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19716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Sensitivity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5191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Investment remains NPV-positive across all scenarios; downside case still achieves 18-month payback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38125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Y3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Y3 EBITDA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NPV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IRR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Payback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ROI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Bull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$185M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$58M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$94M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480%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Base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$148M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$42M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$68M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340%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Bear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EA580C"/>
                          </a:solidFill>
                          <a:latin typeface="Arial"/>
                        </a:rPr>
                        <a:t>$105M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EA580C"/>
                          </a:solidFill>
                          <a:latin typeface="Arial"/>
                        </a:rPr>
                        <a:t>$24M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$38M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180%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Worst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$72M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65%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328612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Assumptions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3476625"/>
            <a:ext cx="3810000" cy="504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Base case conversion: 2.8% (vs. 1.1%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Base case AOV: $158 (vs. $127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Customer acquisition cost: $32 (industry: $38)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Annual digital marketing spend: $2.4M at scale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Gross margin: 60% blended across channels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0" y="328612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Sensitivity Drivers (Impact on NPV)</a:t>
            </a:r>
            <a:endParaRPr lang="en-US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0" y="3486150"/>
          <a:ext cx="4000500" cy="9525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095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Driver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-20%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-10%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+10%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+20%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AOV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CAC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71500" y="49244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Monte Carlo simulation (10,000 iterations), peer benchmarks, management inputs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956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Risk Assessment &amp; Mitigation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7623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Eight key risks identified with specific mitigation strategies and risk owners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3619500"/>
        </p:xfrm>
        <a:graphic>
          <a:graphicData uri="http://schemas.openxmlformats.org/drawingml/2006/table">
            <a:tbl>
              <a:tblPr firstRow="1" bandRow="1"/>
              <a:tblGrid>
                <a:gridCol w="285750"/>
                <a:gridCol w="1238250"/>
                <a:gridCol w="571500"/>
                <a:gridCol w="571500"/>
                <a:gridCol w="3048000"/>
                <a:gridCol w="1047750"/>
                <a:gridCol w="1238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Prob.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Mitigation Strategy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Platform Delivery Delay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Agile methodology, 2-week sprints, vendor SLA with penalties, parallel workstreams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VP Digital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Talent Acquisition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Retained search firms, competitive comp (75th pctile), remote-first policy, signing bonuses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CHRO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Active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Legacy Integration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API-first architecture, middleware layer, phased migration, parallel run period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CTO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Customer Adoption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Soft launch with loyalty members, incentive migration offers, UX testing (200+ users)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CMO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Competitive Response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Differentiated CX, exclusive brands, loyalty moat, first-mover in underserved segments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94A3B8"/>
                          </a:solidFill>
                          <a:latin typeface="Arial"/>
                        </a:rPr>
                        <a:t>Monitoring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Data Security Breach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Critical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Low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PCI DSS L1 compliance, SOC 2 Type II, penetration testing, incident response plan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CISO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7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Budget Overrun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5% contingency reserve, monthly financial reviews, phase-gate approvals, vendor fixed pricing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CFO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Change Management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Executive sponsor, dedicated change lead, training program, internal comms campaign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COO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4924425"/>
            <a:ext cx="3371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Risk workshop (Feb 2026), comparable project post-mortems, COSO framework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781425" y="125730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Next Steps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286250" y="18383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2305050" y="2095500"/>
            <a:ext cx="4533900" cy="7715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1.  Board alignment on strategic direction and investment approval (March 7)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2.  VP, Digital Commerce search kick-off with retained firm (March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3.  Platform vendor shortlist and RFP issuance (April 1)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4.  Detailed Phase 1 project plan and budget sign-off (April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5.  Program kick-off and weekly SteerCo cadence begins (May 1)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286250" y="31718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990975" y="3381375"/>
            <a:ext cx="1162050" cy="276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Thank You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676525" y="3762375"/>
            <a:ext cx="3790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  <a:ea typeface=""/>
                <a:cs typeface=""/>
              </a:rPr>
              <a:t>Questions? Contact the project team at digital-transformation@meridianretail.com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BStrategy">
  <a:themeElements>
    <a:clrScheme name="MBBStrategy">
      <a:dk1>
        <a:srgbClr val="0F2540"/>
      </a:dk1>
      <a:lt1>
        <a:srgbClr val="FFFFFF"/>
      </a:lt1>
      <a:dk2>
        <a:srgbClr val="1B3A5C"/>
      </a:dk2>
      <a:lt2>
        <a:srgbClr val="F8FAFC"/>
      </a:lt2>
      <a:accent1>
        <a:srgbClr val="2563EB"/>
      </a:accent1>
      <a:accent2>
        <a:srgbClr val="059669"/>
      </a:accent2>
      <a:accent3>
        <a:srgbClr val="7C3AED"/>
      </a:accent3>
      <a:accent4>
        <a:srgbClr val="EA580C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25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Arial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Commerce Transformation — Meridian Retail Group</dc:title>
  <dc:creator>Strategy &amp; Operations Practice</dc:creator>
  <cp:lastModifiedBy>Strategy &amp; Operations Practice</cp:lastModifiedBy>
  <cp:revision>1</cp:revision>
  <dcterms:created xsi:type="dcterms:W3CDTF">2026-03-18T23:30:22Z</dcterms:created>
  <dcterms:modified xsi:type="dcterms:W3CDTF">2026-03-18T23:30:22Z</dcterms:modified>
</cp:coreProperties>
</file>