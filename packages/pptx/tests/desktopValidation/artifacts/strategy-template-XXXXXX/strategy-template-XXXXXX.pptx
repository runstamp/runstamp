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presProps" Target="presProps.xml"/>
  <Relationship Id="rId29" Type="http://schemas.openxmlformats.org/officeDocument/2006/relationships/viewProps" Target="viewProps.xml"/>
  <Relationship Id="rId30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_rels/chart4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4.xlsx"/>
</Relationships>
</file>

<file path=ppt/charts/_rels/chart5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5.xlsx"/>
</Relationships>
</file>

<file path=ppt/charts/_rels/chart6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6.xlsx"/>
</Relationships>
</file>

<file path=ppt/charts/_rels/chart7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7.xlsx"/>
</Relationships>
</file>

<file path=ppt/charts/_rels/chart8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8.xlsx"/>
</Relationships>
</file>

<file path=ppt/charts/_rels/chart9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9.xlsx"/>
</Relationships>
</file>

<file path=ppt/charts/_rels/chart10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0.xlsx"/>
</Relationships>
</file>

<file path=ppt/charts/_rels/chart1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1.xlsx"/>
</Relationships>
</file>

<file path=ppt/charts/_rels/chart1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2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78"/>
          <c:y val="0.04"/>
          <c:w val="0.9443"/>
          <c:h val="0.823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In-Store</c:v>
                </c:pt>
              </c:strCache>
            </c:strRef>
          </c:tx>
          <c:spPr>
            <a:solidFill>
              <a:srgbClr val="1B3A5C"/>
            </a:solidFill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</c:v>
                </c:pt>
                <c:pt idx="1">
                  <c:v>3150</c:v>
                </c:pt>
                <c:pt idx="2">
                  <c:v>3050</c:v>
                </c:pt>
                <c:pt idx="3">
                  <c:v>2980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180</c:v>
                </c:pt>
                <c:pt idx="1">
                  <c:v>210</c:v>
                </c:pt>
                <c:pt idx="2">
                  <c:v>250</c:v>
                </c:pt>
                <c:pt idx="3">
                  <c:v>300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Wholesale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320</c:v>
                </c:pt>
                <c:pt idx="1">
                  <c:v>340</c:v>
                </c:pt>
                <c:pt idx="2">
                  <c:v>350</c:v>
                </c:pt>
                <c:pt idx="3">
                  <c:v>360</c:v>
                </c:pt>
              </c:numCache>
            </c:numRef>
          </c:val>
        </c:ser>
        <c:dLbls>
          <c:txPr>
            <a:bodyPr/>
            <a:lstStyle/>
            <a:p>
              <a:pPr>
                <a:defRPr sz="600">
                  <a:solidFill>
                    <a:srgbClr val="FFFFFF"/>
                  </a:solidFill>
                  <a:latin typeface="Calibri"/>
                </a:defRPr>
              </a:pPr>
              <a:endParaRPr lang="en-US" dirty="0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75">
                    <a:solidFill>
                      <a:srgbClr val="000000"/>
                    </a:solidFill>
                    <a:latin typeface="Arial"/>
                  </a:rPr>
                  <a:t>Revenue ($M)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675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4"/>
          <c:y val="0.06"/>
          <c:w val="0.952"/>
          <c:h val="0.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In-Store Spend</c:v>
                </c:pt>
              </c:strCache>
            </c:strRef>
          </c:tx>
          <c:spPr>
            <a:solidFill>
              <a:srgbClr val="1B3A5C"/>
            </a:solidFill>
          </c:spPr>
          <c:cat>
            <c:strRef>
              <c:f>Sheet1!$A$2:$A$5</c:f>
              <c:strCache>
                <c:ptCount val="4"/>
                <c:pt idx="0">
                  <c:v>Digital Natives</c:v>
                </c:pt>
                <c:pt idx="1">
                  <c:v>Omnichannel</c:v>
                </c:pt>
                <c:pt idx="2">
                  <c:v>Traditional</c:v>
                </c:pt>
                <c:pt idx="3">
                  <c:v>Occasional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720</c:v>
                </c:pt>
                <c:pt idx="2">
                  <c:v>1800</c:v>
                </c:pt>
                <c:pt idx="3">
                  <c:v>240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 Spend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Digital Natives</c:v>
                </c:pt>
                <c:pt idx="1">
                  <c:v>Omnichannel</c:v>
                </c:pt>
                <c:pt idx="2">
                  <c:v>Traditional</c:v>
                </c:pt>
                <c:pt idx="3">
                  <c:v>Occasional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540</c:v>
                </c:pt>
                <c:pt idx="1">
                  <c:v>730</c:v>
                </c:pt>
                <c:pt idx="2">
                  <c:v>300</c:v>
                </c:pt>
                <c:pt idx="3">
                  <c:v>80</c:v>
                </c:pt>
              </c:numCache>
            </c:numRef>
          </c:val>
        </c:ser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Annual Spend ($)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600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324"/>
          <c:y val="0.04"/>
          <c:w val="0.9352"/>
          <c:h val="0.8285"/>
        </c:manualLayout>
      </c:layout>
      <c:radarChart>
        <c:radarStyle val="rada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Meridian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</c:v>
                </c:pt>
                <c:pt idx="1">
                  <c:v>2</c:v>
                </c:pt>
                <c:pt idx="2">
                  <c:v>2.5</c:v>
                </c:pt>
                <c:pt idx="3">
                  <c:v>1.8</c:v>
                </c:pt>
                <c:pt idx="4">
                  <c:v>2</c:v>
                </c:pt>
                <c:pt idx="5">
                  <c:v>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 Average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3.8</c:v>
                </c:pt>
                <c:pt idx="1">
                  <c:v>3.5</c:v>
                </c:pt>
                <c:pt idx="2">
                  <c:v>3.2</c:v>
                </c:pt>
                <c:pt idx="3">
                  <c:v>4</c:v>
                </c:pt>
                <c:pt idx="4">
                  <c:v>3.6</c:v>
                </c:pt>
                <c:pt idx="5">
                  <c:v>3.4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Best-in-Class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4.8</c:v>
                </c:pt>
                <c:pt idx="1">
                  <c:v>4.5</c:v>
                </c:pt>
                <c:pt idx="2">
                  <c:v>4.2</c:v>
                </c:pt>
                <c:pt idx="3">
                  <c:v>4.7</c:v>
                </c:pt>
                <c:pt idx="4">
                  <c:v>4.6</c:v>
                </c:pt>
                <c:pt idx="5">
                  <c:v>4.3</c:v>
                </c:pt>
              </c:numCache>
            </c:numRef>
          </c:val>
        </c:ser>
        <c:axId val="111111111"/>
        <c:axId val="222222222"/>
      </c:rad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  <c:min val="0"/>
          <c:max val="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675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62"/>
          <c:y val="0.04"/>
          <c:w val="0.9477"/>
          <c:h val="0.82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 1</c:v>
                </c:pt>
              </c:strCache>
            </c:strRef>
          </c:tx>
          <c:spPr>
            <a:solidFill>
              <a:srgbClr val="93C5FD"/>
            </a:solidFill>
          </c:spPr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12</c:v>
                </c:pt>
                <c:pt idx="2">
                  <c:v>8</c:v>
                </c:pt>
                <c:pt idx="3">
                  <c:v>4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2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</c:v>
                </c:pt>
                <c:pt idx="1">
                  <c:v>22</c:v>
                </c:pt>
                <c:pt idx="2">
                  <c:v>18</c:v>
                </c:pt>
                <c:pt idx="3">
                  <c:v>10</c:v>
                </c:pt>
                <c:pt idx="4">
                  <c:v>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Year 3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48</c:v>
                </c:pt>
                <c:pt idx="1">
                  <c:v>34</c:v>
                </c:pt>
                <c:pt idx="2">
                  <c:v>28</c:v>
                </c:pt>
                <c:pt idx="3">
                  <c:v>16</c:v>
                </c:pt>
                <c:pt idx="4">
                  <c:v>22</c:v>
                </c:pt>
              </c:numCache>
            </c:numRef>
          </c:val>
        </c:ser>
        <c:dLbls>
          <c:txPr>
            <a:bodyPr/>
            <a:lstStyle/>
            <a:p>
              <a:pPr>
                <a:defRPr sz="525">
                  <a:solidFill>
                    <a:srgbClr val="475569"/>
                  </a:solidFill>
                  <a:latin typeface="Calibri"/>
                </a:defRPr>
              </a:pPr>
              <a:endParaRPr lang="en-US" dirty="0"/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75">
                    <a:solidFill>
                      <a:srgbClr val="000000"/>
                    </a:solidFill>
                    <a:latin typeface="Arial"/>
                  </a:rPr>
                  <a:t>Revenue ($M)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675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14"/>
          <c:y val="0.0923"/>
          <c:w val="0.7474"/>
          <c:h val="0.81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Meridian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Sheet1!$A$2:$A$6</c:f>
              <c:strCache>
                <c:ptCount val="5"/>
                <c:pt idx="0">
                  <c:v>Visit Rate</c:v>
                </c:pt>
                <c:pt idx="1">
                  <c:v>Browse Rate</c:v>
                </c:pt>
                <c:pt idx="2">
                  <c:v>Cart Rate</c:v>
                </c:pt>
                <c:pt idx="3">
                  <c:v>Checkout Rate</c:v>
                </c:pt>
                <c:pt idx="4">
                  <c:v>Purchase Rate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50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 Average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Sheet1!$A$2:$A$6</c:f>
              <c:strCache>
                <c:ptCount val="5"/>
                <c:pt idx="0">
                  <c:v>Visit Rate</c:v>
                </c:pt>
                <c:pt idx="1">
                  <c:v>Browse Rate</c:v>
                </c:pt>
                <c:pt idx="2">
                  <c:v>Cart Rate</c:v>
                </c:pt>
                <c:pt idx="3">
                  <c:v>Checkout Rate</c:v>
                </c:pt>
                <c:pt idx="4">
                  <c:v>Purchase Rate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65</c:v>
                </c:pt>
                <c:pt idx="2">
                  <c:v>42</c:v>
                </c:pt>
                <c:pt idx="3">
                  <c:v>62</c:v>
                </c:pt>
                <c:pt idx="4">
                  <c:v>72</c:v>
                </c:pt>
              </c:numCache>
            </c:numRef>
          </c:val>
        </c:ser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#,##0%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r"/>
      <c:overlay val="0"/>
      <c:txPr>
        <a:bodyPr/>
        <a:lstStyle/>
        <a:p>
          <a:pPr>
            <a:defRPr sz="600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31"/>
          <c:y val="0.04"/>
          <c:w val="0.9538"/>
          <c:h val="0.818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Online Rev ($M)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Sheet1!$A$2:$A$7</c:f>
              <c:strCache>
                <c:ptCount val="6"/>
                <c:pt idx="0">
                  <c:v>Home &amp; Furniture</c:v>
                </c:pt>
                <c:pt idx="1">
                  <c:v>Electronics</c:v>
                </c:pt>
                <c:pt idx="2">
                  <c:v>Apparel</c:v>
                </c:pt>
                <c:pt idx="3">
                  <c:v>Beauty &amp; Wellness</c:v>
                </c:pt>
                <c:pt idx="4">
                  <c:v>Sports &amp; Outdoor</c:v>
                </c:pt>
                <c:pt idx="5">
                  <c:v>Kitchen &amp; Dining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65</c:v>
                </c:pt>
                <c:pt idx="2">
                  <c:v>88</c:v>
                </c:pt>
                <c:pt idx="3">
                  <c:v>35</c:v>
                </c:pt>
                <c:pt idx="4">
                  <c:v>28</c:v>
                </c:pt>
                <c:pt idx="5">
                  <c:v>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Addressable Online Rev ($M)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Home &amp; Furniture</c:v>
                </c:pt>
                <c:pt idx="1">
                  <c:v>Electronics</c:v>
                </c:pt>
                <c:pt idx="2">
                  <c:v>Apparel</c:v>
                </c:pt>
                <c:pt idx="3">
                  <c:v>Beauty &amp; Wellness</c:v>
                </c:pt>
                <c:pt idx="4">
                  <c:v>Sports &amp; Outdoor</c:v>
                </c:pt>
                <c:pt idx="5">
                  <c:v>Kitchen &amp; Dining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</c:v>
                </c:pt>
                <c:pt idx="1">
                  <c:v>145</c:v>
                </c:pt>
                <c:pt idx="2">
                  <c:v>165</c:v>
                </c:pt>
                <c:pt idx="3">
                  <c:v>85</c:v>
                </c:pt>
                <c:pt idx="4">
                  <c:v>68</c:v>
                </c:pt>
                <c:pt idx="5">
                  <c:v>97</c:v>
                </c:pt>
              </c:numCache>
            </c:numRef>
          </c:val>
        </c:ser>
        <c:gapWidth val="5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Revenue ($M)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675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31"/>
          <c:y val="0"/>
          <c:w val="0.7262"/>
          <c:h val="1.11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 Penetration %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Home</c:v>
                </c:pt>
                <c:pt idx="1">
                  <c:v>Electronics</c:v>
                </c:pt>
                <c:pt idx="2">
                  <c:v>Apparel</c:v>
                </c:pt>
                <c:pt idx="3">
                  <c:v>Beauty</c:v>
                </c:pt>
                <c:pt idx="4">
                  <c:v>Sports</c:v>
                </c:pt>
                <c:pt idx="5">
                  <c:v>Kitchen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18</c:v>
                </c:pt>
                <c:pt idx="2">
                  <c:v>22</c:v>
                </c:pt>
                <c:pt idx="3">
                  <c:v>14</c:v>
                </c:pt>
                <c:pt idx="4">
                  <c:v>10</c:v>
                </c:pt>
                <c:pt idx="5">
                  <c:v>15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 Avg %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Sheet1!$A$2:$A$7</c:f>
              <c:strCache>
                <c:ptCount val="6"/>
                <c:pt idx="0">
                  <c:v>Home</c:v>
                </c:pt>
                <c:pt idx="1">
                  <c:v>Electronics</c:v>
                </c:pt>
                <c:pt idx="2">
                  <c:v>Apparel</c:v>
                </c:pt>
                <c:pt idx="3">
                  <c:v>Beauty</c:v>
                </c:pt>
                <c:pt idx="4">
                  <c:v>Sports</c:v>
                </c:pt>
                <c:pt idx="5">
                  <c:v>Kitchen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</c:v>
                </c:pt>
                <c:pt idx="1">
                  <c:v>42</c:v>
                </c:pt>
                <c:pt idx="2">
                  <c:v>35</c:v>
                </c:pt>
                <c:pt idx="3">
                  <c:v>32</c:v>
                </c:pt>
                <c:pt idx="4">
                  <c:v>24</c:v>
                </c:pt>
                <c:pt idx="5">
                  <c:v>30</c:v>
                </c:pt>
              </c:numCache>
            </c:numRef>
          </c:val>
          <c:smooth val="1"/>
        </c:ser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#,##0%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r"/>
      <c:overlay val="0"/>
      <c:txPr>
        <a:bodyPr/>
        <a:lstStyle/>
        <a:p>
          <a:pPr>
            <a:defRPr sz="525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61"/>
          <c:y val="0.05"/>
          <c:w val="0.9478"/>
          <c:h val="0.77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 ($M)</c:v>
                </c:pt>
              </c:strCache>
            </c:strRef>
          </c:tx>
          <c:spPr>
            <a:solidFill>
              <a:srgbClr val="93C5FD"/>
            </a:solidFill>
          </c:spPr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</c:v>
                </c:pt>
                <c:pt idx="1">
                  <c:v>4.8</c:v>
                </c:pt>
                <c:pt idx="2">
                  <c:v>3.1</c:v>
                </c:pt>
                <c:pt idx="3">
                  <c:v>2.4</c:v>
                </c:pt>
                <c:pt idx="4">
                  <c:v>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Moderate ($M)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3.8</c:v>
                </c:pt>
                <c:pt idx="1">
                  <c:v>3.6</c:v>
                </c:pt>
                <c:pt idx="2">
                  <c:v>2.2</c:v>
                </c:pt>
                <c:pt idx="3">
                  <c:v>1.8</c:v>
                </c:pt>
                <c:pt idx="4">
                  <c:v>1.4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Aggressive ($M)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2.6</c:v>
                </c:pt>
                <c:pt idx="1">
                  <c:v>2.4</c:v>
                </c:pt>
                <c:pt idx="2">
                  <c:v>1.5</c:v>
                </c:pt>
                <c:pt idx="3">
                  <c:v>1.2</c:v>
                </c:pt>
                <c:pt idx="4">
                  <c:v>0.9</c:v>
                </c:pt>
              </c:numCache>
            </c:numRef>
          </c:val>
        </c:ser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Revenue ($M)</a:t>
                </a:r>
              </a:p>
            </c:rich>
          </c:tx>
          <c:overlay val="0"/>
        </c:title>
        <c:numFmt formatCode="$#,##0.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600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4"/>
          <c:y val="0.06"/>
          <c:w val="0.952"/>
          <c:h val="0.7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Engineering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&amp; Design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 Science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Marketing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</c:ser>
        <c:gapWidth val="4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New Hires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525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375"/>
          <c:y val="0.0667"/>
          <c:w val="0.6125"/>
          <c:h val="0.866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7C3AED"/>
              </a:solidFill>
            </c:spPr>
          </c:dPt>
          <c:dPt>
            <c:idx val="2"/>
            <c:spPr>
              <a:solidFill>
                <a:srgbClr val="EA580C"/>
              </a:solidFill>
            </c:spPr>
          </c:dPt>
          <c:dPt>
            <c:idx val="3"/>
            <c:spPr>
              <a:solidFill>
                <a:srgbClr val="059669"/>
              </a:solidFill>
            </c:spPr>
          </c:dPt>
          <c:dPt>
            <c:idx val="4"/>
            <c:spPr>
              <a:solidFill>
                <a:srgbClr val="1B3A5C"/>
              </a:solidFill>
            </c:spPr>
          </c:dPt>
          <c:dPt>
            <c:idx val="5"/>
            <c:spPr>
              <a:solidFill>
                <a:srgbClr val="94A3B8"/>
              </a:solidFill>
            </c:spPr>
          </c:dPt>
          <c:cat>
            <c:strRef>
              <c:f>Sheet1!$A$2:$A$7</c:f>
              <c:strCache>
                <c:ptCount val="6"/>
                <c:pt idx="0">
                  <c:v>Technology</c:v>
                </c:pt>
                <c:pt idx="1">
                  <c:v>Talent</c:v>
                </c:pt>
                <c:pt idx="2">
                  <c:v>Marketing</c:v>
                </c:pt>
                <c:pt idx="3">
                  <c:v>Data</c:v>
                </c:pt>
                <c:pt idx="4">
                  <c:v>Operations</c:v>
                </c:pt>
                <c:pt idx="5">
                  <c:v>Contingency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2.5</c:v>
                </c:pt>
                <c:pt idx="1">
                  <c:v>4</c:v>
                </c:pt>
                <c:pt idx="2">
                  <c:v>2.4</c:v>
                </c:pt>
                <c:pt idx="3">
                  <c:v>1.2</c:v>
                </c:pt>
                <c:pt idx="4">
                  <c:v>1.2</c:v>
                </c:pt>
                <c:pt idx="5">
                  <c:v>0.7</c:v>
                </c:pt>
              </c:numCache>
            </c:numRef>
          </c:val>
        </c:ser>
        <c:dLbls>
          <c:txPr>
            <a:bodyPr/>
            <a:lstStyle/>
            <a:p>
              <a:pPr>
                <a:defRPr sz="600">
                  <a:solidFill>
                    <a:srgbClr val="FFFFFF"/>
                  </a:solidFill>
                  <a:latin typeface="Calibri"/>
                </a:defRPr>
              </a:pPr>
              <a:endParaRPr lang="en-US" dirty="0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</c:dLbls>
      </c:pieChart>
      <c:spPr>
        <a:noFill/>
        <a:ln>
          <a:noFill/>
        </a:ln>
      </c:spPr>
    </c:plotArea>
    <c:legend>
      <c:legendPos val="r"/>
      <c:overlay val="0"/>
      <c:txPr>
        <a:bodyPr/>
        <a:lstStyle/>
        <a:p>
          <a:pPr>
            <a:defRPr sz="600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22"/>
          <c:y val="0.04"/>
          <c:w val="0.9556"/>
          <c:h val="0.81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Sheet1!$A$2:$A$13</c:f>
              <c:strCache>
                <c:ptCount val="12"/>
                <c:pt idx="0">
                  <c:v>Q1 Y1</c:v>
                </c:pt>
                <c:pt idx="1">
                  <c:v>Q2 Y1</c:v>
                </c:pt>
                <c:pt idx="2">
                  <c:v>Q3 Y1</c:v>
                </c:pt>
                <c:pt idx="3">
                  <c:v>Q4 Y1</c:v>
                </c:pt>
                <c:pt idx="4">
                  <c:v>Q1 Y2</c:v>
                </c:pt>
                <c:pt idx="5">
                  <c:v>Q2 Y2</c:v>
                </c:pt>
                <c:pt idx="6">
                  <c:v>Q3 Y2</c:v>
                </c:pt>
                <c:pt idx="7">
                  <c:v>Q4 Y2</c:v>
                </c:pt>
                <c:pt idx="8">
                  <c:v>Q1 Y3</c:v>
                </c:pt>
                <c:pt idx="9">
                  <c:v>Q2 Y3</c:v>
                </c:pt>
                <c:pt idx="10">
                  <c:v>Q3 Y3</c:v>
                </c:pt>
                <c:pt idx="11">
                  <c:v>Q4 Y3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8</c:v>
                </c:pt>
                <c:pt idx="2">
                  <c:v>14</c:v>
                </c:pt>
                <c:pt idx="3">
                  <c:v>22</c:v>
                </c:pt>
                <c:pt idx="4">
                  <c:v>18</c:v>
                </c:pt>
                <c:pt idx="5">
                  <c:v>22</c:v>
                </c:pt>
                <c:pt idx="6">
                  <c:v>26</c:v>
                </c:pt>
                <c:pt idx="7">
                  <c:v>30</c:v>
                </c:pt>
                <c:pt idx="8">
                  <c:v>28</c:v>
                </c:pt>
                <c:pt idx="9">
                  <c:v>34</c:v>
                </c:pt>
                <c:pt idx="10">
                  <c:v>40</c:v>
                </c:pt>
                <c:pt idx="11">
                  <c:v>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($M)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Sheet1!$A$2:$A$13</c:f>
              <c:strCache>
                <c:ptCount val="12"/>
                <c:pt idx="0">
                  <c:v>Q1 Y1</c:v>
                </c:pt>
                <c:pt idx="1">
                  <c:v>Q2 Y1</c:v>
                </c:pt>
                <c:pt idx="2">
                  <c:v>Q3 Y1</c:v>
                </c:pt>
                <c:pt idx="3">
                  <c:v>Q4 Y1</c:v>
                </c:pt>
                <c:pt idx="4">
                  <c:v>Q1 Y2</c:v>
                </c:pt>
                <c:pt idx="5">
                  <c:v>Q2 Y2</c:v>
                </c:pt>
                <c:pt idx="6">
                  <c:v>Q3 Y2</c:v>
                </c:pt>
                <c:pt idx="7">
                  <c:v>Q4 Y2</c:v>
                </c:pt>
                <c:pt idx="8">
                  <c:v>Q1 Y3</c:v>
                </c:pt>
                <c:pt idx="9">
                  <c:v>Q2 Y3</c:v>
                </c:pt>
                <c:pt idx="10">
                  <c:v>Q3 Y3</c:v>
                </c:pt>
                <c:pt idx="11">
                  <c:v>Q4 Y3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-2.8</c:v>
                </c:pt>
                <c:pt idx="1">
                  <c:v>-1.6</c:v>
                </c:pt>
                <c:pt idx="2">
                  <c:v>0.2</c:v>
                </c:pt>
                <c:pt idx="3">
                  <c:v>3.2</c:v>
                </c:pt>
                <c:pt idx="4">
                  <c:v>2.4</c:v>
                </c:pt>
                <c:pt idx="5">
                  <c:v>4.1</c:v>
                </c:pt>
                <c:pt idx="6">
                  <c:v>5.8</c:v>
                </c:pt>
                <c:pt idx="7">
                  <c:v>7.2</c:v>
                </c:pt>
                <c:pt idx="8">
                  <c:v>6.8</c:v>
                </c:pt>
                <c:pt idx="9">
                  <c:v>9.2</c:v>
                </c:pt>
                <c:pt idx="10">
                  <c:v>11.6</c:v>
                </c:pt>
                <c:pt idx="11">
                  <c:v>14.2</c:v>
                </c:pt>
              </c:numCache>
            </c:numRef>
          </c:val>
        </c:ser>
        <c:gapWidth val="4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$ Millions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600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14"/>
          <c:y val="0"/>
          <c:w val="0.9721"/>
          <c:h val="1.111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Cash Flow ($M)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Sheet1!$A$2:$A$12</c:f>
              <c:strCache>
                <c:ptCount val="11"/>
                <c:pt idx="0">
                  <c:v>M1</c:v>
                </c:pt>
                <c:pt idx="1">
                  <c:v>M3</c:v>
                </c:pt>
                <c:pt idx="2">
                  <c:v>M6</c:v>
                </c:pt>
                <c:pt idx="3">
                  <c:v>M9</c:v>
                </c:pt>
                <c:pt idx="4">
                  <c:v>M12</c:v>
                </c:pt>
                <c:pt idx="5">
                  <c:v>M15</c:v>
                </c:pt>
                <c:pt idx="6">
                  <c:v>M18</c:v>
                </c:pt>
                <c:pt idx="7">
                  <c:v>M21</c:v>
                </c:pt>
                <c:pt idx="8">
                  <c:v>M24</c:v>
                </c:pt>
                <c:pt idx="9">
                  <c:v>M30</c:v>
                </c:pt>
                <c:pt idx="10">
                  <c:v>M36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-1</c:v>
                </c:pt>
                <c:pt idx="1">
                  <c:v>-3.2</c:v>
                </c:pt>
                <c:pt idx="2">
                  <c:v>-4.2</c:v>
                </c:pt>
                <c:pt idx="3">
                  <c:v>-2.8</c:v>
                </c:pt>
                <c:pt idx="4">
                  <c:v>-1</c:v>
                </c:pt>
                <c:pt idx="5">
                  <c:v>4.6</c:v>
                </c:pt>
                <c:pt idx="6">
                  <c:v>12.6</c:v>
                </c:pt>
                <c:pt idx="7">
                  <c:v>22.4</c:v>
                </c:pt>
                <c:pt idx="8">
                  <c:v>32.8</c:v>
                </c:pt>
                <c:pt idx="9">
                  <c:v>42.4</c:v>
                </c:pt>
                <c:pt idx="10">
                  <c:v>52.2</c:v>
                </c:pt>
              </c:numCache>
            </c:numRef>
          </c:val>
          <c:smooth val="1"/>
        </c:ser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3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4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5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6.xml"/>
  <Relationship Id="rId3" Type="http://schemas.openxmlformats.org/officeDocument/2006/relationships/chart" Target="../charts/chart7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8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0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1.xml"/>
  <Relationship Id="rId3" Type="http://schemas.openxmlformats.org/officeDocument/2006/relationships/chart" Target="../charts/chart1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466850"/>
            <a:ext cx="8572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94A3B8"/>
                </a:solidFill>
                <a:latin typeface="Arial"/>
                <a:ea typeface=""/>
                <a:cs typeface=""/>
              </a:rPr>
              <a:t>CONFIDENTIAL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1752600"/>
            <a:ext cx="3086100" cy="838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277"/>
              </a:lnSpc>
            </a:pPr>
            <a:r>
              <a:rPr lang="en-US" sz="28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Digital Commerce</a:t>
            </a:r>
            <a:endParaRPr lang="en-US" dirty="0"/>
          </a:p>
          <a:p>
            <a:pPr>
              <a:lnSpc>
                <a:spcPts val="3277"/>
              </a:lnSpc>
            </a:pPr>
            <a:r>
              <a:rPr lang="en-US" sz="28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Transformation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62000" y="2695575"/>
            <a:ext cx="3838575" cy="2095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dirty="0">
                <a:solidFill>
                  <a:srgbClr val="E2E8F0"/>
                </a:solidFill>
                <a:latin typeface="Arial"/>
                <a:ea typeface=""/>
                <a:cs typeface=""/>
              </a:rPr>
              <a:t>Strategic Assessment &amp; Implementation Roadmap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62000" y="32099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62000" y="3533775"/>
            <a:ext cx="2905125" cy="152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dirty="0">
                <a:solidFill>
                  <a:srgbClr val="94A3B8"/>
                </a:solidFill>
                <a:latin typeface="Arial"/>
                <a:ea typeface=""/>
                <a:cs typeface=""/>
              </a:rPr>
              <a:t>Prepared for Meridian Retail Group  |  February 2026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62000" y="3733800"/>
            <a:ext cx="1452563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94A3B8"/>
                </a:solidFill>
                <a:latin typeface="Arial"/>
                <a:ea typeface=""/>
                <a:cs typeface=""/>
              </a:rPr>
              <a:t>Strategy &amp; Operations Practice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7715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Agenda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3813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Four workstreams structured around a hypothesis-driven approach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42950" y="93345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857250" y="10477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01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390650" y="1009650"/>
            <a:ext cx="6629400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Situation Assessment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1390650" y="1214438"/>
            <a:ext cx="6629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Current state, customer segments, digital maturity, competitive position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8010525" y="1104900"/>
            <a:ext cx="39052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Slides 3-8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571500" y="165735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742950" y="1828800"/>
            <a:ext cx="457200" cy="457200"/>
          </a:xfrm>
          <a:prstGeom prst="round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857250" y="19431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02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1390650" y="1905000"/>
            <a:ext cx="6581775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Opportunity Analysis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1390650" y="2109788"/>
            <a:ext cx="658177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Revenue by channel, customer journey, SKU demand, cross-sell potential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962900" y="2000250"/>
            <a:ext cx="4381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Slides 9-13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571500" y="255270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742950" y="272415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857250" y="28384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03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1390650" y="2800350"/>
            <a:ext cx="6534150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Strategic Recommendation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1390650" y="3005138"/>
            <a:ext cx="65341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Options assessment, roadmap, technology, organization design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7915275" y="2895600"/>
            <a:ext cx="48577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Slides 14-19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571500" y="344805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742950" y="3619500"/>
            <a:ext cx="457200" cy="457200"/>
          </a:xfrm>
          <a:prstGeom prst="round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857250" y="3733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04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1390650" y="3695700"/>
            <a:ext cx="6534150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Financial Case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1390650" y="3900488"/>
            <a:ext cx="65341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Investment, projections, sensitivity, risk mitigation, next steps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7915275" y="3790950"/>
            <a:ext cx="48577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Slides 20-25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571500" y="6638925"/>
            <a:ext cx="28003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Meridian Retail Group  |  Digital Commerce Transformation  |  Confidential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SECTION 01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3590925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Situation Assessment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Arial"/>
                <a:ea typeface=""/>
                <a:cs typeface=""/>
              </a:rPr>
              <a:t>Understanding Meridian's current position, customer base, and competitive landscape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Executive Summary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5147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Three key findings point to a $140M addressable revenue opportunity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143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23900" y="866775"/>
            <a:ext cx="46482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FINDING 1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23900" y="1038225"/>
            <a:ext cx="4648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Online penetration at 8% vs. 23% industry average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23900" y="1228725"/>
            <a:ext cx="4648200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475569"/>
                </a:solidFill>
                <a:latin typeface="Arial"/>
                <a:ea typeface=""/>
                <a:cs typeface=""/>
              </a:rPr>
              <a:t>Meridian's digital channel lags peers by 15pp, representing significant untapped demand from existing customer base and new digital-native segments.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571500" y="17430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23900" y="1895475"/>
            <a:ext cx="46482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FINDING 2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23900" y="2066925"/>
            <a:ext cx="4648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$140M addressable revenue gap identified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723900" y="2257425"/>
            <a:ext cx="4648200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475569"/>
                </a:solidFill>
                <a:latin typeface="Arial"/>
                <a:ea typeface=""/>
                <a:cs typeface=""/>
              </a:rPr>
              <a:t>Bottom-up analysis of SKU-level demand, cross-sell uplift, and category expansion yields a conservative $140M incremental revenue opportunity over 3 years.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571500" y="27717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723900" y="2924175"/>
            <a:ext cx="46482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FINDING 3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723900" y="3095625"/>
            <a:ext cx="4648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18-month payback on $12M platform investment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23900" y="3286125"/>
            <a:ext cx="4648200" cy="2571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475569"/>
                </a:solidFill>
                <a:latin typeface="Arial"/>
                <a:ea typeface=""/>
                <a:cs typeface=""/>
              </a:rPr>
              <a:t>Phased investment approach mitigates risk while accelerating time-to-value through iterative releases and early revenue capture from high-margin digital channels.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5715000" y="714375"/>
            <a:ext cx="2857500" cy="1524000"/>
          </a:xfrm>
          <a:prstGeom prst="roundRect">
            <a:avLst/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2700000" scaled="1"/>
          </a:gradFill>
          <a:ln>
            <a:noFill/>
            <a:round/>
          </a:ln>
          <a:effectLst>
            <a:outerShdw blurRad="190500" dist="38100" dir="5400000" algn="ctr" rotWithShape="0">
              <a:srgbClr val="2563EB">
                <a:alpha val="30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6496050" y="1076325"/>
            <a:ext cx="1295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93C5FD"/>
                </a:solidFill>
                <a:latin typeface="Arial"/>
                <a:ea typeface=""/>
                <a:cs typeface=""/>
              </a:rPr>
              <a:t>REVENUE OPPORTUNITY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6496050" y="1228725"/>
            <a:ext cx="1295400" cy="495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3795"/>
              </a:lnSpc>
            </a:pPr>
            <a:r>
              <a:rPr lang="en-US" sz="33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$140M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6591300" y="1752600"/>
            <a:ext cx="11049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BFDBFE"/>
                </a:solidFill>
                <a:latin typeface="Arial"/>
                <a:ea typeface=""/>
                <a:cs typeface=""/>
              </a:rPr>
              <a:t>3-year addressable gap</a:t>
            </a:r>
            <a:endParaRPr lang="en-US" dirty="0"/>
          </a:p>
        </p:txBody>
      </p:sp>
      <p:sp>
        <p:nvSpPr>
          <p:cNvPr id="21" name="View 21"/>
          <p:cNvSpPr/>
          <p:nvPr/>
        </p:nvSpPr>
        <p:spPr>
          <a:xfrm>
            <a:off x="5715000" y="2352675"/>
            <a:ext cx="2857500" cy="838200"/>
          </a:xfrm>
          <a:prstGeom prst="roundRect">
            <a:avLst/>
          </a:prstGeom>
          <a:solidFill>
            <a:srgbClr val="0F2540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6696075" y="2486025"/>
            <a:ext cx="8953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$12.0M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6791325" y="2809875"/>
            <a:ext cx="7048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Total Investment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6696075" y="2943225"/>
            <a:ext cx="8953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10B981"/>
                </a:solidFill>
                <a:latin typeface="Arial"/>
                <a:ea typeface=""/>
                <a:cs typeface=""/>
              </a:rPr>
              <a:t>340% expected ROI</a:t>
            </a:r>
            <a:endParaRPr lang="en-US" dirty="0"/>
          </a:p>
        </p:txBody>
      </p:sp>
      <p:sp>
        <p:nvSpPr>
          <p:cNvPr id="25" name="View 25"/>
          <p:cNvSpPr/>
          <p:nvPr/>
        </p:nvSpPr>
        <p:spPr>
          <a:xfrm>
            <a:off x="5715000" y="3305175"/>
            <a:ext cx="28575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6715125" y="3438525"/>
            <a:ext cx="8572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18 mo.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6800850" y="3762375"/>
            <a:ext cx="6858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Payback Period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6743700" y="3895725"/>
            <a:ext cx="8001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Phased approach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571500" y="6638925"/>
            <a:ext cx="33718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Management interviews, industry benchmarks (Forrester 2025), internal analysis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6289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Current State Assessment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0481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Revenue concentration in physical retail creates vulnerability to digital disruption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3815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6"/>
          <p:cNvSpPr txBox="1"/>
          <p:nvPr/>
        </p:nvSpPr>
        <p:spPr>
          <a:xfrm>
            <a:off x="4953000" y="762000"/>
            <a:ext cx="3619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Key Challenges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953000" y="1009650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5048250" y="1138238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181600" y="1104900"/>
            <a:ext cx="1076325" cy="12858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Declining Foot Traffic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5048250" y="1247775"/>
            <a:ext cx="3429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Same-store visits down 12% YoY; suburban malls underperforming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4953000" y="1552575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5048250" y="1681163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181600" y="1647825"/>
            <a:ext cx="971550" cy="12858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Legacy Technology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048250" y="1790700"/>
            <a:ext cx="3429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20-year-old POS system; no unified inventory; manual fulfillment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953000" y="2095500"/>
            <a:ext cx="36195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5048250" y="2224088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181600" y="2190750"/>
            <a:ext cx="10382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Customer Data Gaps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048250" y="2333625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No single customer view; CRM covers only 34% of transactions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4953000" y="2647950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5048250" y="2771775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5181600" y="2743200"/>
            <a:ext cx="657225" cy="12858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Talent Deficit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048250" y="2886075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Zero in-house digital product or engineering capability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4953000" y="3190875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5048250" y="3314700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5181600" y="3286125"/>
            <a:ext cx="828675" cy="12858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Margin Pressure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048250" y="3429000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Occupancy costs rising 3% annually; digital margin 2x physical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81000" y="4000500"/>
            <a:ext cx="4762500" cy="381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1085850" y="4124325"/>
            <a:ext cx="33528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E-commerce at 8% of revenue vs. 23% industry average = 15pp gap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571500" y="6638925"/>
            <a:ext cx="26574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Meridian FY2025 10-K, management data room, Euromonitor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34327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Customer Segmentation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8862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Four distinct segments with differentiated digital propensity and lifetime value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885950" cy="17145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048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Digital Natives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048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18-34 yrs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7048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04850" y="13049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085975" y="1304925"/>
            <a:ext cx="2381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$820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04850" y="1466850"/>
            <a:ext cx="4476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1050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42%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04850" y="1619250"/>
            <a:ext cx="6762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2085975" y="1619250"/>
            <a:ext cx="2381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2590800" y="762000"/>
            <a:ext cx="1885950" cy="17145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27241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Omnichannel Shoppers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27241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25-50 yrs</a:t>
            </a:r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27241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2724150" y="13049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4019550" y="1304925"/>
            <a:ext cx="3238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$1,450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2724150" y="1466850"/>
            <a:ext cx="4476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41243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31%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2724150" y="1619250"/>
            <a:ext cx="6762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4105275" y="1619250"/>
            <a:ext cx="2381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25" name="View 25"/>
          <p:cNvSpPr/>
          <p:nvPr/>
        </p:nvSpPr>
        <p:spPr>
          <a:xfrm>
            <a:off x="4610100" y="762000"/>
            <a:ext cx="1885950" cy="17145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47434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Traditional Loyalists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47434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45-65 yrs</a:t>
            </a:r>
            <a:endParaRPr lang="en-US" dirty="0"/>
          </a:p>
        </p:txBody>
      </p:sp>
      <p:sp>
        <p:nvSpPr>
          <p:cNvPr id="28" name="View 28"/>
          <p:cNvSpPr/>
          <p:nvPr/>
        </p:nvSpPr>
        <p:spPr>
          <a:xfrm>
            <a:off x="47434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4743450" y="13049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30" name="Text 30"/>
          <p:cNvSpPr txBox="1"/>
          <p:nvPr/>
        </p:nvSpPr>
        <p:spPr>
          <a:xfrm>
            <a:off x="6038850" y="1304925"/>
            <a:ext cx="3238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$2,100</a:t>
            </a:r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4743450" y="1466850"/>
            <a:ext cx="4476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61436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18%</a:t>
            </a:r>
            <a:endParaRPr lang="en-US" dirty="0"/>
          </a:p>
        </p:txBody>
      </p:sp>
      <p:sp>
        <p:nvSpPr>
          <p:cNvPr id="33" name="Text 33"/>
          <p:cNvSpPr txBox="1"/>
          <p:nvPr/>
        </p:nvSpPr>
        <p:spPr>
          <a:xfrm>
            <a:off x="4743450" y="1619250"/>
            <a:ext cx="6762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5962650" y="1619250"/>
            <a:ext cx="4000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Medium</a:t>
            </a:r>
            <a:endParaRPr lang="en-US" dirty="0"/>
          </a:p>
        </p:txBody>
      </p:sp>
      <p:sp>
        <p:nvSpPr>
          <p:cNvPr id="35" name="View 35"/>
          <p:cNvSpPr/>
          <p:nvPr/>
        </p:nvSpPr>
        <p:spPr>
          <a:xfrm>
            <a:off x="6629400" y="762000"/>
            <a:ext cx="1885950" cy="17145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6" name="Text 36"/>
          <p:cNvSpPr txBox="1"/>
          <p:nvPr/>
        </p:nvSpPr>
        <p:spPr>
          <a:xfrm>
            <a:off x="67627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94A3B8"/>
                </a:solidFill>
                <a:latin typeface="Arial"/>
                <a:ea typeface=""/>
                <a:cs typeface=""/>
              </a:rPr>
              <a:t>Occasional Browsers</a:t>
            </a:r>
            <a:endParaRPr lang="en-US" dirty="0"/>
          </a:p>
        </p:txBody>
      </p:sp>
      <p:sp>
        <p:nvSpPr>
          <p:cNvPr id="37" name="Text 37"/>
          <p:cNvSpPr txBox="1"/>
          <p:nvPr/>
        </p:nvSpPr>
        <p:spPr>
          <a:xfrm>
            <a:off x="67627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All ages</a:t>
            </a:r>
            <a:endParaRPr lang="en-US" dirty="0"/>
          </a:p>
        </p:txBody>
      </p:sp>
      <p:sp>
        <p:nvSpPr>
          <p:cNvPr id="38" name="View 38"/>
          <p:cNvSpPr/>
          <p:nvPr/>
        </p:nvSpPr>
        <p:spPr>
          <a:xfrm>
            <a:off x="67627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9" name="Text 39"/>
          <p:cNvSpPr txBox="1"/>
          <p:nvPr/>
        </p:nvSpPr>
        <p:spPr>
          <a:xfrm>
            <a:off x="6762750" y="1304925"/>
            <a:ext cx="152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40" name="Text 40"/>
          <p:cNvSpPr txBox="1"/>
          <p:nvPr/>
        </p:nvSpPr>
        <p:spPr>
          <a:xfrm>
            <a:off x="8143875" y="1304925"/>
            <a:ext cx="2381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$320</a:t>
            </a:r>
            <a:endParaRPr lang="en-US" dirty="0"/>
          </a:p>
        </p:txBody>
      </p:sp>
      <p:sp>
        <p:nvSpPr>
          <p:cNvPr id="41" name="Text 41"/>
          <p:cNvSpPr txBox="1"/>
          <p:nvPr/>
        </p:nvSpPr>
        <p:spPr>
          <a:xfrm>
            <a:off x="6762750" y="1466850"/>
            <a:ext cx="4476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42" name="Text 42"/>
          <p:cNvSpPr txBox="1"/>
          <p:nvPr/>
        </p:nvSpPr>
        <p:spPr>
          <a:xfrm>
            <a:off x="8229600" y="1466850"/>
            <a:ext cx="1524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9%</a:t>
            </a:r>
            <a:endParaRPr lang="en-US" dirty="0"/>
          </a:p>
        </p:txBody>
      </p:sp>
      <p:sp>
        <p:nvSpPr>
          <p:cNvPr id="43" name="Text 43"/>
          <p:cNvSpPr txBox="1"/>
          <p:nvPr/>
        </p:nvSpPr>
        <p:spPr>
          <a:xfrm>
            <a:off x="6762750" y="1619250"/>
            <a:ext cx="6762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44" name="Text 44"/>
          <p:cNvSpPr txBox="1"/>
          <p:nvPr/>
        </p:nvSpPr>
        <p:spPr>
          <a:xfrm>
            <a:off x="8172450" y="1619250"/>
            <a:ext cx="209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94A3B8"/>
                </a:solidFill>
                <a:latin typeface="Arial"/>
                <a:ea typeface=""/>
                <a:cs typeface=""/>
              </a:rPr>
              <a:t>Low</a:t>
            </a:r>
            <a:endParaRPr lang="en-US" dirty="0"/>
          </a:p>
        </p:txBody>
      </p:sp>
      <p:graphicFrame>
        <p:nvGraphicFramePr>
          <p:cNvPr id="45" name="Chart 45"/>
          <p:cNvGraphicFramePr>
            <a:graphicFrameLocks noGrp="1"/>
          </p:cNvGraphicFramePr>
          <p:nvPr/>
        </p:nvGraphicFramePr>
        <p:xfrm>
          <a:off x="381000" y="2619375"/>
          <a:ext cx="47625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6" name="Text 46"/>
          <p:cNvSpPr txBox="1"/>
          <p:nvPr/>
        </p:nvSpPr>
        <p:spPr>
          <a:xfrm>
            <a:off x="5334000" y="2619375"/>
            <a:ext cx="3238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Key Insight</a:t>
            </a:r>
            <a:endParaRPr lang="en-US" dirty="0"/>
          </a:p>
        </p:txBody>
      </p:sp>
      <p:sp>
        <p:nvSpPr>
          <p:cNvPr id="47" name="View 47"/>
          <p:cNvSpPr/>
          <p:nvPr/>
        </p:nvSpPr>
        <p:spPr>
          <a:xfrm>
            <a:off x="5334000" y="2857500"/>
            <a:ext cx="3238500" cy="7048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8" name="Text 48"/>
          <p:cNvSpPr txBox="1"/>
          <p:nvPr/>
        </p:nvSpPr>
        <p:spPr>
          <a:xfrm>
            <a:off x="5467350" y="2986088"/>
            <a:ext cx="297180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73% of Digital Natives and Omnichannel Shoppers express willingness to increase spend through a quality e-commerce experience. Combined, these segments represent $68M in addressable annual online revenue.</a:t>
            </a:r>
            <a:endParaRPr lang="en-US" dirty="0"/>
          </a:p>
        </p:txBody>
      </p:sp>
      <p:sp>
        <p:nvSpPr>
          <p:cNvPr id="49" name="View 49"/>
          <p:cNvSpPr/>
          <p:nvPr/>
        </p:nvSpPr>
        <p:spPr>
          <a:xfrm>
            <a:off x="5334000" y="3657600"/>
            <a:ext cx="3238500" cy="4857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0" name="Text 50"/>
          <p:cNvSpPr txBox="1"/>
          <p:nvPr/>
        </p:nvSpPr>
        <p:spPr>
          <a:xfrm>
            <a:off x="5467350" y="3786188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Traditional Loyalists show 2.6x higher LTV — converting even 15% to omnichannel would yield $9.5M incremental annual revenue.</a:t>
            </a:r>
            <a:endParaRPr lang="en-US" dirty="0"/>
          </a:p>
        </p:txBody>
      </p:sp>
      <p:sp>
        <p:nvSpPr>
          <p:cNvPr id="51" name="Text 51"/>
          <p:cNvSpPr txBox="1"/>
          <p:nvPr/>
        </p:nvSpPr>
        <p:spPr>
          <a:xfrm>
            <a:off x="571500" y="6638925"/>
            <a:ext cx="320992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Customer survey (n=4,200), transaction data analysis, third-party panel data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6003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Digital Maturity Scorecard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5337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Meridian scores 2.1/5.0 across six critical digital capability dimensions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000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572000" y="762000"/>
          <a:ext cx="4000500" cy="304800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666750"/>
                <a:gridCol w="666750"/>
                <a:gridCol w="666750"/>
                <a:gridCol w="666750"/>
              </a:tblGrid>
              <a:tr h="2857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Dimension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Meridian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Industry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E-Commerce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1.5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-2.3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Data &amp; Analytics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2.0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-1.5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Supply Chain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2.5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-0.7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Customer Exp.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1.8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-2.2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Technology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2.0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-1.6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Org &amp; Talent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2.8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4.3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-0.6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857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0F2540"/>
                          </a:solidFill>
                          <a:latin typeface="Arial"/>
                        </a:rPr>
                        <a:t>Overall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Arial"/>
                        </a:rPr>
                        <a:t>2.1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b="1" dirty="0">
                          <a:latin typeface="Arial"/>
                        </a:rPr>
                        <a:t>3.6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b="1" dirty="0">
                          <a:latin typeface="Arial"/>
                        </a:rPr>
                        <a:t>4.5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Arial"/>
                        </a:rPr>
                        <a:t>-1.5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View 7"/>
          <p:cNvSpPr/>
          <p:nvPr/>
        </p:nvSpPr>
        <p:spPr>
          <a:xfrm>
            <a:off x="571500" y="4095750"/>
            <a:ext cx="8001000" cy="381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971675" y="4219575"/>
            <a:ext cx="52006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Largest gaps in E-Commerce Platform (-2.3) and Customer Experience (-2.2) — priority investment areas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71500" y="6638925"/>
            <a:ext cx="44386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Digital Maturity Assessment Framework (McKinsey DMI), management self-assessment, peer benchmarking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2766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Competitive Landscape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6766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Meridian significantly trails peers across all digital commerce dimensions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2952750"/>
        </p:xfrm>
        <a:graphic>
          <a:graphicData uri="http://schemas.openxmlformats.org/drawingml/2006/table">
            <a:tbl>
              <a:tblPr firstRow="1" bandRow="1"/>
              <a:tblGrid>
                <a:gridCol w="1238250"/>
                <a:gridCol w="952500"/>
                <a:gridCol w="762000"/>
                <a:gridCol w="762000"/>
                <a:gridCol w="762000"/>
                <a:gridCol w="762000"/>
                <a:gridCol w="762000"/>
                <a:gridCol w="762000"/>
                <a:gridCol w="1238250"/>
              </a:tblGrid>
              <a:tr h="3048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Revenue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Digital 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YoY Growth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Mobile 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NPS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CSAT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Delivery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Nordstrom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$14.9B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72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Leader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Macy's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$23.1B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33%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3.9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Leader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Kohl's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$16.6B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51%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2563EB"/>
                          </a:solidFill>
                          <a:latin typeface="Arial"/>
                        </a:rPr>
                        <a:t>Challenger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Dillard's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$6.8B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Follower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JCPenney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$7.6B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Follower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Meridian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$3.6B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+2%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22%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38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3.1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7-day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Laggard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View 6"/>
          <p:cNvSpPr/>
          <p:nvPr/>
        </p:nvSpPr>
        <p:spPr>
          <a:xfrm>
            <a:off x="5715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667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Meridian ranks last in digital penetration (8%) — 25pp below peer median of 33%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2766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3718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NPS of 38 is 24 points below peer average — primary driver is poor online experience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9817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0769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7-day delivery vs. 2-day peer standard creates 3.5x higher cart abandonment rate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71500" y="6638925"/>
            <a:ext cx="332422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Company filings, eMarketer (2025), Forrester Digital Maturity Index, J.D. Power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SECTION 02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3476625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Opportunity Analysis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6124575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Arial"/>
                <a:ea typeface=""/>
                <a:cs typeface=""/>
              </a:rPr>
              <a:t>Quantifying the revenue opportunity across channels, customer journeys, and product categories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3242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Revenue Opportunity by Channel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4291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E-commerce platform expected to capture $140M in incremental revenue within 3 years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953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524500" y="762000"/>
            <a:ext cx="3048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Channel Economics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5524500" y="9810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619750" y="1076325"/>
            <a:ext cx="5524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Direct Web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886700" y="107632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68% margin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5619750" y="12192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Highest margin, owned channel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5524500" y="149542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619750" y="1590675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Marketplace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886700" y="159067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42% margin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619750" y="173355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Volume driver, lower margin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5524500" y="20097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619750" y="2105025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Mobile App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886700" y="210502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71% margin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619750" y="22479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Best engagement, highest LTV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5524500" y="252412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619750" y="2619375"/>
            <a:ext cx="8858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Social Commerce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7886700" y="261937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38% margin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619750" y="276225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Emerging, brand-building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5524500" y="30384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619750" y="3133725"/>
            <a:ext cx="547688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B2B Portal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7886700" y="313372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55% margin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619750" y="32766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Enterprise client focus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81000" y="4191000"/>
            <a:ext cx="5334000" cy="3429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1771650" y="4295775"/>
            <a:ext cx="6477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93C5FD"/>
                </a:solidFill>
                <a:latin typeface="Arial"/>
                <a:ea typeface=""/>
                <a:cs typeface=""/>
              </a:rPr>
              <a:t>Year 1: $48M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2695575" y="4295775"/>
            <a:ext cx="6477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3B82F6"/>
                </a:solidFill>
                <a:latin typeface="Arial"/>
                <a:ea typeface=""/>
                <a:cs typeface=""/>
              </a:rPr>
              <a:t>Year 2: $96M</a:t>
            </a:r>
            <a:endParaRPr lang="en-US" dirty="0"/>
          </a:p>
        </p:txBody>
      </p:sp>
      <p:sp>
        <p:nvSpPr>
          <p:cNvPr id="30" name="Text 30"/>
          <p:cNvSpPr txBox="1"/>
          <p:nvPr/>
        </p:nvSpPr>
        <p:spPr>
          <a:xfrm>
            <a:off x="3619500" y="4295775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Year 3: $148M</a:t>
            </a:r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571500" y="6638925"/>
            <a:ext cx="35052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Internal financial model, comparable company benchmarks, management estimates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42005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Customer Journey &amp; Conversion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7434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Funnel analysis reveals 3 critical drop-off points with combined $42M annual revenue leakage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595438" cy="1143000"/>
          </a:xfrm>
          <a:prstGeom prst="round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1143000" y="1104900"/>
            <a:ext cx="4572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Awareness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171575" y="123825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552"/>
              </a:lnSpc>
            </a:pPr>
            <a:r>
              <a:rPr lang="en-US" sz="13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2.4M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133475" y="1457325"/>
            <a:ext cx="4762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CCCCCC"/>
                </a:solidFill>
                <a:latin typeface="Arial"/>
                <a:ea typeface=""/>
                <a:cs typeface=""/>
              </a:rPr>
              <a:t>Conv: 100%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2228850" y="762000"/>
            <a:ext cx="1447800" cy="1143000"/>
          </a:xfrm>
          <a:prstGeom prst="roundRect">
            <a:avLst/>
          </a:prstGeom>
          <a:solidFill>
            <a:srgbClr val="3B82F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771775" y="1104900"/>
            <a:ext cx="3619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Site Visit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743200" y="12382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552"/>
              </a:lnSpc>
            </a:pPr>
            <a:r>
              <a:rPr lang="en-US" sz="13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840K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733675" y="1457325"/>
            <a:ext cx="4381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CCCCCC"/>
                </a:solidFill>
                <a:latin typeface="Arial"/>
                <a:ea typeface=""/>
                <a:cs typeface=""/>
              </a:rPr>
              <a:t>Conv: 35%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3733800" y="762000"/>
            <a:ext cx="1295400" cy="1143000"/>
          </a:xfrm>
          <a:prstGeom prst="roundRect">
            <a:avLst/>
          </a:prstGeom>
          <a:solidFill>
            <a:srgbClr val="60A5FA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219575" y="1104900"/>
            <a:ext cx="3238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Browse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4171950" y="12382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552"/>
              </a:lnSpc>
            </a:pPr>
            <a:r>
              <a:rPr lang="en-US" sz="13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420K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4162425" y="1457325"/>
            <a:ext cx="4381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CCCCCC"/>
                </a:solidFill>
                <a:latin typeface="Arial"/>
                <a:ea typeface=""/>
                <a:cs typeface=""/>
              </a:rPr>
              <a:t>Conv: 50%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5086350" y="762000"/>
            <a:ext cx="1143000" cy="1143000"/>
          </a:xfrm>
          <a:prstGeom prst="roundRect">
            <a:avLst/>
          </a:prstGeom>
          <a:solidFill>
            <a:srgbClr val="93C5F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419725" y="1104900"/>
            <a:ext cx="4762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Add to Cart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5448300" y="12382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552"/>
              </a:lnSpc>
            </a:pPr>
            <a:r>
              <a:rPr lang="en-US" sz="13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126K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438775" y="1457325"/>
            <a:ext cx="4381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CCCCCC"/>
                </a:solidFill>
                <a:latin typeface="Arial"/>
                <a:ea typeface=""/>
                <a:cs typeface=""/>
              </a:rPr>
              <a:t>Conv: 30%</a:t>
            </a:r>
            <a:endParaRPr lang="en-US" dirty="0"/>
          </a:p>
        </p:txBody>
      </p:sp>
      <p:sp>
        <p:nvSpPr>
          <p:cNvPr id="21" name="View 21"/>
          <p:cNvSpPr/>
          <p:nvPr/>
        </p:nvSpPr>
        <p:spPr>
          <a:xfrm>
            <a:off x="6286500" y="762000"/>
            <a:ext cx="990600" cy="1143000"/>
          </a:xfrm>
          <a:prstGeom prst="round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6581775" y="1104900"/>
            <a:ext cx="4000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Checkout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6543675" y="123825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552"/>
              </a:lnSpc>
            </a:pPr>
            <a:r>
              <a:rPr lang="en-US" sz="13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50.4K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6562725" y="1457325"/>
            <a:ext cx="4381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CCCCCC"/>
                </a:solidFill>
                <a:latin typeface="Arial"/>
                <a:ea typeface=""/>
                <a:cs typeface=""/>
              </a:rPr>
              <a:t>Conv: 40%</a:t>
            </a:r>
            <a:endParaRPr lang="en-US" dirty="0"/>
          </a:p>
        </p:txBody>
      </p:sp>
      <p:sp>
        <p:nvSpPr>
          <p:cNvPr id="25" name="View 25"/>
          <p:cNvSpPr/>
          <p:nvPr/>
        </p:nvSpPr>
        <p:spPr>
          <a:xfrm>
            <a:off x="7334250" y="762000"/>
            <a:ext cx="838200" cy="1143000"/>
          </a:xfrm>
          <a:prstGeom prst="round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7553325" y="1104900"/>
            <a:ext cx="4000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Purchase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7515225" y="123825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1552"/>
              </a:lnSpc>
            </a:pPr>
            <a:r>
              <a:rPr lang="en-US" sz="13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25.2K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7534275" y="1457325"/>
            <a:ext cx="4381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CCCCCC"/>
                </a:solidFill>
                <a:latin typeface="Arial"/>
                <a:ea typeface=""/>
                <a:cs typeface=""/>
              </a:rPr>
              <a:t>Conv: 50%</a:t>
            </a:r>
            <a:endParaRPr lang="en-US" dirty="0"/>
          </a:p>
        </p:txBody>
      </p:sp>
      <p:sp>
        <p:nvSpPr>
          <p:cNvPr id="29" name="View 29"/>
          <p:cNvSpPr/>
          <p:nvPr/>
        </p:nvSpPr>
        <p:spPr>
          <a:xfrm>
            <a:off x="571500" y="2143125"/>
            <a:ext cx="2552700" cy="1047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0" name="Text 30"/>
          <p:cNvSpPr txBox="1"/>
          <p:nvPr/>
        </p:nvSpPr>
        <p:spPr>
          <a:xfrm>
            <a:off x="685800" y="2257425"/>
            <a:ext cx="23241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Drop-off #1: Awareness to Visit</a:t>
            </a:r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685800" y="2400300"/>
            <a:ext cx="23241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65% loss rate</a:t>
            </a:r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685800" y="2543175"/>
            <a:ext cx="23241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Weak SEO, no paid search, limited brand awareness in digital channels. Peer avg: 45% loss.</a:t>
            </a:r>
            <a:endParaRPr lang="en-US" dirty="0"/>
          </a:p>
        </p:txBody>
      </p:sp>
      <p:sp>
        <p:nvSpPr>
          <p:cNvPr id="33" name="Text 33"/>
          <p:cNvSpPr txBox="1"/>
          <p:nvPr/>
        </p:nvSpPr>
        <p:spPr>
          <a:xfrm>
            <a:off x="685800" y="2771775"/>
            <a:ext cx="23241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$18M annual impact</a:t>
            </a:r>
            <a:endParaRPr lang="en-US" dirty="0"/>
          </a:p>
        </p:txBody>
      </p:sp>
      <p:sp>
        <p:nvSpPr>
          <p:cNvPr id="34" name="View 34"/>
          <p:cNvSpPr/>
          <p:nvPr/>
        </p:nvSpPr>
        <p:spPr>
          <a:xfrm>
            <a:off x="3257550" y="2143125"/>
            <a:ext cx="2552700" cy="1047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5" name="Text 35"/>
          <p:cNvSpPr txBox="1"/>
          <p:nvPr/>
        </p:nvSpPr>
        <p:spPr>
          <a:xfrm>
            <a:off x="3371850" y="2257425"/>
            <a:ext cx="23241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Drop-off #2: Browse to Cart</a:t>
            </a:r>
            <a:endParaRPr lang="en-US" dirty="0"/>
          </a:p>
        </p:txBody>
      </p:sp>
      <p:sp>
        <p:nvSpPr>
          <p:cNvPr id="36" name="Text 36"/>
          <p:cNvSpPr txBox="1"/>
          <p:nvPr/>
        </p:nvSpPr>
        <p:spPr>
          <a:xfrm>
            <a:off x="3371850" y="2400300"/>
            <a:ext cx="23241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70% loss rate</a:t>
            </a:r>
            <a:endParaRPr lang="en-US" dirty="0"/>
          </a:p>
        </p:txBody>
      </p:sp>
      <p:sp>
        <p:nvSpPr>
          <p:cNvPr id="37" name="Text 37"/>
          <p:cNvSpPr txBox="1"/>
          <p:nvPr/>
        </p:nvSpPr>
        <p:spPr>
          <a:xfrm>
            <a:off x="3371850" y="2543175"/>
            <a:ext cx="23241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Poor product discovery, no personalization, slow page loads (6.2s vs. 2.1s peer avg).</a:t>
            </a:r>
            <a:endParaRPr lang="en-US" dirty="0"/>
          </a:p>
        </p:txBody>
      </p:sp>
      <p:sp>
        <p:nvSpPr>
          <p:cNvPr id="38" name="Text 38"/>
          <p:cNvSpPr txBox="1"/>
          <p:nvPr/>
        </p:nvSpPr>
        <p:spPr>
          <a:xfrm>
            <a:off x="3371850" y="2771775"/>
            <a:ext cx="23241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$14M annual impact</a:t>
            </a:r>
            <a:endParaRPr lang="en-US" dirty="0"/>
          </a:p>
        </p:txBody>
      </p:sp>
      <p:sp>
        <p:nvSpPr>
          <p:cNvPr id="39" name="View 39"/>
          <p:cNvSpPr/>
          <p:nvPr/>
        </p:nvSpPr>
        <p:spPr>
          <a:xfrm>
            <a:off x="5943600" y="2143125"/>
            <a:ext cx="2552700" cy="1047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0" name="Text 40"/>
          <p:cNvSpPr txBox="1"/>
          <p:nvPr/>
        </p:nvSpPr>
        <p:spPr>
          <a:xfrm>
            <a:off x="6057900" y="2257425"/>
            <a:ext cx="23241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Drop-off #3: Cart to Purchase</a:t>
            </a:r>
            <a:endParaRPr lang="en-US" dirty="0"/>
          </a:p>
        </p:txBody>
      </p:sp>
      <p:sp>
        <p:nvSpPr>
          <p:cNvPr id="41" name="Text 41"/>
          <p:cNvSpPr txBox="1"/>
          <p:nvPr/>
        </p:nvSpPr>
        <p:spPr>
          <a:xfrm>
            <a:off x="6057900" y="2400300"/>
            <a:ext cx="23241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80% loss rate</a:t>
            </a:r>
            <a:endParaRPr lang="en-US" dirty="0"/>
          </a:p>
        </p:txBody>
      </p:sp>
      <p:sp>
        <p:nvSpPr>
          <p:cNvPr id="42" name="Text 42"/>
          <p:cNvSpPr txBox="1"/>
          <p:nvPr/>
        </p:nvSpPr>
        <p:spPr>
          <a:xfrm>
            <a:off x="6057900" y="2543175"/>
            <a:ext cx="23241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Complex checkout (7 steps vs. 3 peer avg), limited payment options, no guest checkout.</a:t>
            </a:r>
            <a:endParaRPr lang="en-US" dirty="0"/>
          </a:p>
        </p:txBody>
      </p:sp>
      <p:sp>
        <p:nvSpPr>
          <p:cNvPr id="43" name="Text 43"/>
          <p:cNvSpPr txBox="1"/>
          <p:nvPr/>
        </p:nvSpPr>
        <p:spPr>
          <a:xfrm>
            <a:off x="6057900" y="2771775"/>
            <a:ext cx="23241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$10M annual impact</a:t>
            </a:r>
            <a:endParaRPr lang="en-US" dirty="0"/>
          </a:p>
        </p:txBody>
      </p:sp>
      <p:graphicFrame>
        <p:nvGraphicFramePr>
          <p:cNvPr id="44" name="Chart 44"/>
          <p:cNvGraphicFramePr>
            <a:graphicFrameLocks noGrp="1"/>
          </p:cNvGraphicFramePr>
          <p:nvPr/>
        </p:nvGraphicFramePr>
        <p:xfrm>
          <a:off x="381000" y="3333750"/>
          <a:ext cx="8191500" cy="123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45"/>
          <p:cNvSpPr txBox="1"/>
          <p:nvPr/>
        </p:nvSpPr>
        <p:spPr>
          <a:xfrm>
            <a:off x="571500" y="6638925"/>
            <a:ext cx="31908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Google Analytics, Hotjar session recordings, Baymard Institute benchmarks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SKU-Level Demand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7625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Product category analysis reveals highest online demand in Home &amp; Furniture and Electronics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953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524500" y="762000"/>
          <a:ext cx="3048000" cy="2476500"/>
        </p:xfrm>
        <a:graphic>
          <a:graphicData uri="http://schemas.openxmlformats.org/drawingml/2006/table">
            <a:tbl>
              <a:tblPr firstRow="1" bandRow="1"/>
              <a:tblGrid>
                <a:gridCol w="1047750"/>
                <a:gridCol w="666750"/>
                <a:gridCol w="666750"/>
                <a:gridCol w="6667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Gap ($M)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Online 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Home &amp; Furn.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$78M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Electronics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$80M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Apparel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$77M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Beauty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$50M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Sports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$40M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Kitchen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$55M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View 7"/>
          <p:cNvSpPr/>
          <p:nvPr/>
        </p:nvSpPr>
        <p:spPr>
          <a:xfrm>
            <a:off x="5524500" y="3429000"/>
            <a:ext cx="3048000" cy="7620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A7F3D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657850" y="3638550"/>
            <a:ext cx="278130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Top 3 categories (Home, Electronics, Beauty) represent $208M in addressable revenue and have the highest digital demand elasticity.</a:t>
            </a:r>
            <a:endParaRPr lang="en-US" dirty="0"/>
          </a:p>
        </p:txBody>
      </p:sp>
      <p:graphicFrame>
        <p:nvGraphicFramePr>
          <p:cNvPr id="9" name="Chart 9"/>
          <p:cNvGraphicFramePr>
            <a:graphicFrameLocks noGrp="1"/>
          </p:cNvGraphicFramePr>
          <p:nvPr/>
        </p:nvGraphicFramePr>
        <p:xfrm>
          <a:off x="381000" y="3762375"/>
          <a:ext cx="4953000" cy="857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10"/>
          <p:cNvSpPr txBox="1"/>
          <p:nvPr/>
        </p:nvSpPr>
        <p:spPr>
          <a:xfrm>
            <a:off x="571500" y="6638925"/>
            <a:ext cx="34671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Internal POS data, Google Trends demand modeling, category-level benchmarking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Cross-sell &amp; Upsell Potential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8004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Personalization engine could drive 18-24% increase in average order value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900238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1219200" y="895350"/>
            <a:ext cx="6096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$127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247775" y="1219200"/>
            <a:ext cx="552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Current AOV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123950" y="1352550"/>
            <a:ext cx="8001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vs. $168 peer avg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260985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209925" y="895350"/>
            <a:ext cx="7048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+24%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3190875" y="1219200"/>
            <a:ext cx="742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AOV Uplift Target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3095625" y="1352550"/>
            <a:ext cx="933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With personalization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464820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257800" y="895350"/>
            <a:ext cx="6858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$22M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5086350" y="1219200"/>
            <a:ext cx="10287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Annual Revenue Impact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019675" y="1352550"/>
            <a:ext cx="11620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From AOV increase alone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668655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7372350" y="895350"/>
            <a:ext cx="5334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2.1x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7296150" y="1219200"/>
            <a:ext cx="6858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Cross-sell Ratio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7162800" y="1352550"/>
            <a:ext cx="952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vs. 3.4x industry avg</a:t>
            </a:r>
            <a:endParaRPr lang="en-US" dirty="0"/>
          </a:p>
        </p:txBody>
      </p:sp>
      <p:graphicFrame>
        <p:nvGraphicFramePr>
          <p:cNvPr id="21" name="Chart 21"/>
          <p:cNvGraphicFramePr>
            <a:graphicFrameLocks noGrp="1"/>
          </p:cNvGraphicFramePr>
          <p:nvPr/>
        </p:nvGraphicFramePr>
        <p:xfrm>
          <a:off x="381000" y="1762125"/>
          <a:ext cx="43815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Text 22"/>
          <p:cNvSpPr txBox="1"/>
          <p:nvPr/>
        </p:nvSpPr>
        <p:spPr>
          <a:xfrm>
            <a:off x="4953000" y="1762125"/>
            <a:ext cx="3619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Personalization Strategy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4953000" y="1981200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048250" y="2076450"/>
            <a:ext cx="100965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Collaborative Filtering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8210550" y="2076450"/>
            <a:ext cx="26670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$8.4M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048250" y="2209800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"Customers who bought X also bought Y" — drives 35% of Amazon revenue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4953000" y="2486025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5048250" y="2581275"/>
            <a:ext cx="83820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Dynamic Bundling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8210550" y="2581275"/>
            <a:ext cx="26670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$6.2M</a:t>
            </a:r>
            <a:endParaRPr lang="en-US" dirty="0"/>
          </a:p>
        </p:txBody>
      </p:sp>
      <p:sp>
        <p:nvSpPr>
          <p:cNvPr id="30" name="Text 30"/>
          <p:cNvSpPr txBox="1"/>
          <p:nvPr/>
        </p:nvSpPr>
        <p:spPr>
          <a:xfrm>
            <a:off x="5048250" y="2714625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AI-powered bundle creation based on basket analysis and margin optimization</a:t>
            </a:r>
            <a:endParaRPr lang="en-US" dirty="0"/>
          </a:p>
        </p:txBody>
      </p:sp>
      <p:sp>
        <p:nvSpPr>
          <p:cNvPr id="31" name="View 31"/>
          <p:cNvSpPr/>
          <p:nvPr/>
        </p:nvSpPr>
        <p:spPr>
          <a:xfrm>
            <a:off x="4953000" y="2990850"/>
            <a:ext cx="3619500" cy="419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5048250" y="3086100"/>
            <a:ext cx="8953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Behavioral Triggers</a:t>
            </a:r>
            <a:endParaRPr lang="en-US" dirty="0"/>
          </a:p>
        </p:txBody>
      </p:sp>
      <p:sp>
        <p:nvSpPr>
          <p:cNvPr id="33" name="Text 33"/>
          <p:cNvSpPr txBox="1"/>
          <p:nvPr/>
        </p:nvSpPr>
        <p:spPr>
          <a:xfrm>
            <a:off x="8210550" y="3086100"/>
            <a:ext cx="2667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$4.1M</a:t>
            </a:r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5048250" y="3219450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Browse abandonment, wishlist reminders, price drop alerts via email/push</a:t>
            </a:r>
            <a:endParaRPr lang="en-US" dirty="0"/>
          </a:p>
        </p:txBody>
      </p:sp>
      <p:sp>
        <p:nvSpPr>
          <p:cNvPr id="35" name="View 35"/>
          <p:cNvSpPr/>
          <p:nvPr/>
        </p:nvSpPr>
        <p:spPr>
          <a:xfrm>
            <a:off x="4953000" y="3486150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6" name="Text 36"/>
          <p:cNvSpPr txBox="1"/>
          <p:nvPr/>
        </p:nvSpPr>
        <p:spPr>
          <a:xfrm>
            <a:off x="5048250" y="3581400"/>
            <a:ext cx="676275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Loyalty Tiering</a:t>
            </a:r>
            <a:endParaRPr lang="en-US" dirty="0"/>
          </a:p>
        </p:txBody>
      </p:sp>
      <p:sp>
        <p:nvSpPr>
          <p:cNvPr id="37" name="Text 37"/>
          <p:cNvSpPr txBox="1"/>
          <p:nvPr/>
        </p:nvSpPr>
        <p:spPr>
          <a:xfrm>
            <a:off x="8210550" y="3581400"/>
            <a:ext cx="26670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$3.5M</a:t>
            </a:r>
            <a:endParaRPr lang="en-US" dirty="0"/>
          </a:p>
        </p:txBody>
      </p:sp>
      <p:sp>
        <p:nvSpPr>
          <p:cNvPr id="38" name="Text 38"/>
          <p:cNvSpPr txBox="1"/>
          <p:nvPr/>
        </p:nvSpPr>
        <p:spPr>
          <a:xfrm>
            <a:off x="5048250" y="3714750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Spend-based tiers with exclusive access, early drops, and personalized offers</a:t>
            </a:r>
            <a:endParaRPr lang="en-US" dirty="0"/>
          </a:p>
        </p:txBody>
      </p:sp>
      <p:sp>
        <p:nvSpPr>
          <p:cNvPr id="39" name="Text 39"/>
          <p:cNvSpPr txBox="1"/>
          <p:nvPr/>
        </p:nvSpPr>
        <p:spPr>
          <a:xfrm>
            <a:off x="571500" y="6638925"/>
            <a:ext cx="35718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Basket analysis (18 months data), McKinsey Personalization Index, peer case studies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SECTION 03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4448175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Strategic Recommendation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21970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Arial"/>
                <a:ea typeface=""/>
                <a:cs typeface=""/>
              </a:rPr>
              <a:t>Defining the optimal path forward: strategy, roadmap, technology, and organization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Strategic Options Assessment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3053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Three options evaluated on NPV, risk, speed-to-market, and organizational readiness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2514600" cy="304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23900" y="914400"/>
            <a:ext cx="2209800" cy="266700"/>
          </a:xfrm>
          <a:prstGeom prst="roundRect">
            <a:avLst/>
          </a:prstGeom>
          <a:solidFill>
            <a:srgbClr val="94A3B8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381125" y="981075"/>
            <a:ext cx="8953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OPTION A: BUILD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23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Custom-built e-commerce platform on microservices architecture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723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23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Full control &amp; differentiation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18-24 month build time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Higher ongoing cost ($4M/yr)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Significant talent risk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Best long-term flexibility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723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723900" y="24384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2667000" y="243840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$42M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723900" y="2600325"/>
            <a:ext cx="171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2695575" y="2600325"/>
            <a:ext cx="2381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3238500" y="762000"/>
            <a:ext cx="2514600" cy="30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  <a:round/>
          </a:ln>
          <a:effectLst>
            <a:outerShdw blurRad="152400" dist="38100" dir="5400000" algn="ctr" rotWithShape="0">
              <a:srgbClr val="7C3AED">
                <a:alpha val="1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3390900" y="914400"/>
            <a:ext cx="2209800" cy="266700"/>
          </a:xfrm>
          <a:prstGeom prst="roundRect">
            <a:avLst/>
          </a:prstGeom>
          <a:gradFill>
            <a:gsLst>
              <a:gs pos="0">
                <a:srgbClr val="7C3AED"/>
              </a:gs>
              <a:gs pos="100000">
                <a:srgbClr val="6D28D9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886200" y="981075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OPTION B: PLATFORM+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90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Composable platform (Shopify Plus + headless CMS) with custom integrations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3390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3390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6-month time to MVP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Balanced cost ($2.1M/yr)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Lower execution risk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Proven at scale (peers)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Extensible architecture</a:t>
            </a:r>
            <a:endParaRPr lang="en-US" dirty="0"/>
          </a:p>
        </p:txBody>
      </p:sp>
      <p:sp>
        <p:nvSpPr>
          <p:cNvPr id="22" name="View 22"/>
          <p:cNvSpPr/>
          <p:nvPr/>
        </p:nvSpPr>
        <p:spPr>
          <a:xfrm>
            <a:off x="3390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3390900" y="2438400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305425" y="2438400"/>
            <a:ext cx="295275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$68M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3390900" y="2609850"/>
            <a:ext cx="171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200650" y="2609850"/>
            <a:ext cx="4000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Medium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390900" y="2828925"/>
            <a:ext cx="2209800" cy="228600"/>
          </a:xfrm>
          <a:prstGeom prst="roundRect">
            <a:avLst/>
          </a:prstGeom>
          <a:solidFill>
            <a:srgbClr val="F3E8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4105275" y="2886075"/>
            <a:ext cx="7810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RECOMMENDED</a:t>
            </a:r>
            <a:endParaRPr lang="en-US" dirty="0"/>
          </a:p>
        </p:txBody>
      </p:sp>
      <p:sp>
        <p:nvSpPr>
          <p:cNvPr id="29" name="View 29"/>
          <p:cNvSpPr/>
          <p:nvPr/>
        </p:nvSpPr>
        <p:spPr>
          <a:xfrm>
            <a:off x="5905500" y="762000"/>
            <a:ext cx="2514600" cy="304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0" name="View 30"/>
          <p:cNvSpPr/>
          <p:nvPr/>
        </p:nvSpPr>
        <p:spPr>
          <a:xfrm>
            <a:off x="6057900" y="914400"/>
            <a:ext cx="2209800" cy="266700"/>
          </a:xfrm>
          <a:prstGeom prst="roundRect">
            <a:avLst/>
          </a:prstGeom>
          <a:solidFill>
            <a:srgbClr val="94A3B8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6534150" y="981075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OPTION C: OUTSOURCE</a:t>
            </a:r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6057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Fully managed marketplace solution via third-party operator</a:t>
            </a:r>
            <a:endParaRPr lang="en-US" dirty="0"/>
          </a:p>
        </p:txBody>
      </p:sp>
      <p:sp>
        <p:nvSpPr>
          <p:cNvPr id="33" name="View 33"/>
          <p:cNvSpPr/>
          <p:nvPr/>
        </p:nvSpPr>
        <p:spPr>
          <a:xfrm>
            <a:off x="6057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6057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Fastest launch (3 months)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Lowest upfront cost ($1.2M/yr)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Limited customization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Revenue share drag (12-18%)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No data ownership</a:t>
            </a:r>
            <a:endParaRPr lang="en-US" dirty="0"/>
          </a:p>
        </p:txBody>
      </p:sp>
      <p:sp>
        <p:nvSpPr>
          <p:cNvPr id="35" name="View 35"/>
          <p:cNvSpPr/>
          <p:nvPr/>
        </p:nvSpPr>
        <p:spPr>
          <a:xfrm>
            <a:off x="6057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6" name="Text 36"/>
          <p:cNvSpPr txBox="1"/>
          <p:nvPr/>
        </p:nvSpPr>
        <p:spPr>
          <a:xfrm>
            <a:off x="6057900" y="24384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37" name="Text 37"/>
          <p:cNvSpPr txBox="1"/>
          <p:nvPr/>
        </p:nvSpPr>
        <p:spPr>
          <a:xfrm>
            <a:off x="8001000" y="243840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$28M</a:t>
            </a:r>
            <a:endParaRPr lang="en-US" dirty="0"/>
          </a:p>
        </p:txBody>
      </p:sp>
      <p:sp>
        <p:nvSpPr>
          <p:cNvPr id="38" name="Text 38"/>
          <p:cNvSpPr txBox="1"/>
          <p:nvPr/>
        </p:nvSpPr>
        <p:spPr>
          <a:xfrm>
            <a:off x="6057900" y="2600325"/>
            <a:ext cx="171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39" name="Text 39"/>
          <p:cNvSpPr txBox="1"/>
          <p:nvPr/>
        </p:nvSpPr>
        <p:spPr>
          <a:xfrm>
            <a:off x="8058150" y="260032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Low</a:t>
            </a:r>
            <a:endParaRPr lang="en-US" dirty="0"/>
          </a:p>
        </p:txBody>
      </p:sp>
      <p:sp>
        <p:nvSpPr>
          <p:cNvPr id="40" name="View 40"/>
          <p:cNvSpPr/>
          <p:nvPr/>
        </p:nvSpPr>
        <p:spPr>
          <a:xfrm>
            <a:off x="571500" y="4000500"/>
            <a:ext cx="8001000" cy="47625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1" name="Text 41"/>
          <p:cNvSpPr txBox="1"/>
          <p:nvPr/>
        </p:nvSpPr>
        <p:spPr>
          <a:xfrm>
            <a:off x="2428875" y="417195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Option B delivers highest risk-adjusted NPV ($68M) with 6-month time to first revenue</a:t>
            </a:r>
            <a:endParaRPr lang="en-US" dirty="0"/>
          </a:p>
        </p:txBody>
      </p:sp>
      <p:sp>
        <p:nvSpPr>
          <p:cNvPr id="42" name="Text 42"/>
          <p:cNvSpPr txBox="1"/>
          <p:nvPr/>
        </p:nvSpPr>
        <p:spPr>
          <a:xfrm>
            <a:off x="571500" y="6638925"/>
            <a:ext cx="3238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Vendor evaluations, comparable implementations, internal financial modeling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58388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Recommended Strategy: Composable Commerce Platform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4958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Phased approach balances speed-to-market with long-term flexibility and data ownership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885950" cy="13335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048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Platform Foundation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04850" y="1076325"/>
            <a:ext cx="161925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Shopify Plus headless with custom React storefront and composable microservices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2590800" y="762000"/>
            <a:ext cx="1885950" cy="13335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27241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Data-Led Growth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724150" y="1076325"/>
            <a:ext cx="161925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CDP integration, real-time personalization, ML-driven product recommendations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4610100" y="762000"/>
            <a:ext cx="1885950" cy="1333500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47434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Omnichannel Integration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743450" y="1076325"/>
            <a:ext cx="161925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Unified inventory, BOPIS, ship-from-store, and same-day delivery capabilities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6629400" y="762000"/>
            <a:ext cx="1885950" cy="13335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7627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Org Transformation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6762750" y="1076325"/>
            <a:ext cx="161925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Dedicated digital BU with product, engineering, data science, and growth teams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71500" y="2238375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Strategic Rationale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71500" y="2447925"/>
            <a:ext cx="3810000" cy="10001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  <a:spcBef>
                <a:spcPts val="600"/>
              </a:spcBef>
              <a:buChar char="1.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Speed-to-market: MVP in 6 months captures $18M Year 1 revenue that Build option would miss entirely</a:t>
            </a:r>
            <a:endParaRPr lang="en-US" dirty="0"/>
          </a:p>
          <a:p>
            <a:pPr>
              <a:lnSpc>
                <a:spcPts val="862"/>
              </a:lnSpc>
              <a:spcBef>
                <a:spcPts val="600"/>
              </a:spcBef>
              <a:buChar char="2.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Data ownership: Unlike Outsource, Meridian retains full customer data and analytics capability</a:t>
            </a:r>
            <a:endParaRPr lang="en-US" dirty="0"/>
          </a:p>
          <a:p>
            <a:pPr>
              <a:lnSpc>
                <a:spcPts val="862"/>
              </a:lnSpc>
              <a:spcBef>
                <a:spcPts val="600"/>
              </a:spcBef>
              <a:buChar char="3.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Cost efficiency: $2.1M/yr run rate vs. $4M (Build) while maintaining 90% of customization capability</a:t>
            </a:r>
            <a:endParaRPr lang="en-US" dirty="0"/>
          </a:p>
          <a:p>
            <a:pPr>
              <a:lnSpc>
                <a:spcPts val="862"/>
              </a:lnSpc>
              <a:spcBef>
                <a:spcPts val="600"/>
              </a:spcBef>
              <a:buChar char="4.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Proven model: Nordstrom, Allbirds, and Glossier all use composable architecture at comparable scale</a:t>
            </a:r>
            <a:endParaRPr lang="en-US" dirty="0"/>
          </a:p>
          <a:p>
            <a:pPr>
              <a:lnSpc>
                <a:spcPts val="862"/>
              </a:lnSpc>
              <a:spcBef>
                <a:spcPts val="600"/>
              </a:spcBef>
              <a:buChar char="5.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Risk mitigation: Phased rollout allows course correction; no big-bang deployment risk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4572000" y="2238375"/>
            <a:ext cx="4000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Success Metrics (18-month targets)</a:t>
            </a:r>
            <a:endParaRPr lang="en-US" dirty="0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4572000" y="2533650"/>
          <a:ext cx="4000500" cy="1809750"/>
        </p:xfrm>
        <a:graphic>
          <a:graphicData uri="http://schemas.openxmlformats.org/drawingml/2006/table">
            <a:tbl>
              <a:tblPr firstRow="1" bandRow="1"/>
              <a:tblGrid>
                <a:gridCol w="1524000"/>
                <a:gridCol w="952500"/>
                <a:gridCol w="952500"/>
                <a:gridCol w="571500"/>
              </a:tblGrid>
              <a:tr h="2476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Delta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Online Revenue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$300M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$440M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+47%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Digital Penetration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+6pp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Conversion Rate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1.1%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2.8%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+1.7pp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Average Order Value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$127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$158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+24%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NPS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+20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571500" y="6638925"/>
            <a:ext cx="32575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Vendor evaluation scorecards, comparable case studies, financial model v3.2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5622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Implementation Roadmap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0671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Three-phase approach delivers incremental value while managing execution risk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04850" y="847725"/>
            <a:ext cx="2209800" cy="266700"/>
          </a:xfrm>
          <a:prstGeom prst="roundRect">
            <a:avLst/>
          </a:prstGeom>
          <a:gradFill>
            <a:gsLst>
              <a:gs pos="0">
                <a:srgbClr val="93C5FD"/>
              </a:gs>
              <a:gs pos="100000">
                <a:srgbClr val="3B82F6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200150" y="914400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PHASE 1: FOUNDATION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04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  <a:ea typeface=""/>
                <a:cs typeface=""/>
              </a:rPr>
              <a:t>Months 0-6  |  $3.2M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04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Platform selection &amp; procurement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Core team hiring (12 FTEs)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Data migration &amp; API architecture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Payment gateway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Fulfillment partner onboarding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QA environment &amp; CI/CD setup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704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1190625" y="2209800"/>
            <a:ext cx="12382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MVP: Top 500 SKUs Live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3238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3371850" y="847725"/>
            <a:ext cx="2209800" cy="266700"/>
          </a:xfrm>
          <a:prstGeom prst="roundRect">
            <a:avLst/>
          </a:prstGeom>
          <a:gradFill>
            <a:gsLst>
              <a:gs pos="0">
                <a:srgbClr val="3B82F6"/>
              </a:gs>
              <a:gs pos="100000">
                <a:srgbClr val="2563EB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3762375" y="914400"/>
            <a:ext cx="14287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PHASE 2: LAUNCH &amp; GROW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3371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  <a:ea typeface=""/>
                <a:cs typeface=""/>
              </a:rPr>
              <a:t>Months 6-12  |  $5.1M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3371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Full catalog (5,000+ SKUs)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Digital marketing ramp ($1.2M)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Marketplace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Mobile app launch (iOS + Android)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Customer analytics platform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A/B testing infrastructure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3371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905250" y="2209800"/>
            <a:ext cx="1143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Target: $48M Run Rate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5905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6038850" y="847725"/>
            <a:ext cx="2209800" cy="266700"/>
          </a:xfrm>
          <a:prstGeom prst="roundRect">
            <a:avLst/>
          </a:prstGeom>
          <a:gradFill>
            <a:gsLst>
              <a:gs pos="0">
                <a:srgbClr val="2563EB"/>
              </a:gs>
              <a:gs pos="100000">
                <a:srgbClr val="1E40AF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6705600" y="914400"/>
            <a:ext cx="8763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PHASE 3: SCALE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6038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  <a:ea typeface=""/>
                <a:cs typeface=""/>
              </a:rPr>
              <a:t>Months 12-18  |  $3.7M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6038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B2B portal launch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Social commerce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International expansion (CA, UK)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Advanced personalization (ML)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Same-day/BOPIS fulfillment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Loyalty program 2.0</a:t>
            </a:r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6038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6515100" y="2209800"/>
            <a:ext cx="12573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Target: $140M+ Run Rate</a:t>
            </a:r>
            <a:endParaRPr lang="en-US" dirty="0"/>
          </a:p>
        </p:txBody>
      </p:sp>
      <p:sp>
        <p:nvSpPr>
          <p:cNvPr id="26" name="View 26"/>
          <p:cNvSpPr/>
          <p:nvPr/>
        </p:nvSpPr>
        <p:spPr>
          <a:xfrm>
            <a:off x="571500" y="3810000"/>
            <a:ext cx="8001000" cy="4191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2085975" y="3952875"/>
            <a:ext cx="12858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94A3B8"/>
                </a:solidFill>
                <a:latin typeface="Arial"/>
                <a:ea typeface=""/>
                <a:cs typeface=""/>
              </a:rPr>
              <a:t>Total Investment: </a:t>
            </a:r>
            <a:r>
              <a:rPr lang="en-US" sz="9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$12.0M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3748088" y="3952875"/>
            <a:ext cx="17811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94A3B8"/>
                </a:solidFill>
                <a:latin typeface="Arial"/>
                <a:ea typeface=""/>
                <a:cs typeface=""/>
              </a:rPr>
              <a:t>Expected ROI: </a:t>
            </a:r>
            <a:r>
              <a:rPr lang="en-US" sz="900" b="1" dirty="0">
                <a:solidFill>
                  <a:srgbClr val="10B981"/>
                </a:solidFill>
                <a:latin typeface="Arial"/>
                <a:ea typeface=""/>
                <a:cs typeface=""/>
              </a:rPr>
              <a:t>340% over 3 years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5895975" y="3952875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94A3B8"/>
                </a:solidFill>
                <a:latin typeface="Arial"/>
                <a:ea typeface=""/>
                <a:cs typeface=""/>
              </a:rPr>
              <a:t>Break-even: </a:t>
            </a:r>
            <a:r>
              <a:rPr lang="en-US" sz="9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Month 18</a:t>
            </a:r>
            <a:endParaRPr lang="en-US" dirty="0"/>
          </a:p>
        </p:txBody>
      </p:sp>
      <p:sp>
        <p:nvSpPr>
          <p:cNvPr id="30" name="Text 30"/>
          <p:cNvSpPr txBox="1"/>
          <p:nvPr/>
        </p:nvSpPr>
        <p:spPr>
          <a:xfrm>
            <a:off x="571500" y="6638925"/>
            <a:ext cx="23145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Project plan v2.1, vendor SOWs, HR capacity model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45745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Technology Architecture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0671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Composable, API-first architecture enables rapid iteration and future extensibility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71500" y="762000"/>
            <a:ext cx="8001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PRESENTATION LAYER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5715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66750" y="1057275"/>
            <a:ext cx="169545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React Storefront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666750" y="1190625"/>
            <a:ext cx="1695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Next.js SSR, headless CMS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25527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647950" y="1057275"/>
            <a:ext cx="169545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Mobile Apps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647950" y="1190625"/>
            <a:ext cx="1695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React Native, shared components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45339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629150" y="1057275"/>
            <a:ext cx="169545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POS Integration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629150" y="1190625"/>
            <a:ext cx="1695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In-store kiosks, clienteling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65151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6610350" y="1057275"/>
            <a:ext cx="169545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Marketplace Feeds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6610350" y="1190625"/>
            <a:ext cx="1695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Amazon, eBay, Google Shopping</a:t>
            </a:r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571500" y="1485900"/>
            <a:ext cx="8001000" cy="266700"/>
          </a:xfrm>
          <a:prstGeom prst="roundRect">
            <a:avLst/>
          </a:prstGeom>
          <a:gradFill>
            <a:gsLst>
              <a:gs pos="0">
                <a:srgbClr val="7C3AED"/>
              </a:gs>
              <a:gs pos="100000">
                <a:srgbClr val="6D28D9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2724150" y="1557338"/>
            <a:ext cx="36957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API GATEWAY  |  GraphQL Federation  |  Rate Limiting  |  Auth (OAuth 2.0 + OIDC)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71500" y="1885950"/>
            <a:ext cx="8001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COMMERCE SERVICES</a:t>
            </a:r>
            <a:endParaRPr lang="en-US" dirty="0"/>
          </a:p>
        </p:txBody>
      </p:sp>
      <p:sp>
        <p:nvSpPr>
          <p:cNvPr id="21" name="View 21"/>
          <p:cNvSpPr/>
          <p:nvPr/>
        </p:nvSpPr>
        <p:spPr>
          <a:xfrm>
            <a:off x="5715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666750" y="2190750"/>
            <a:ext cx="169545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Shopify Plus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666750" y="2324100"/>
            <a:ext cx="16954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Catalog, cart, checkout</a:t>
            </a:r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25527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2647950" y="2190750"/>
            <a:ext cx="169545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OMS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2647950" y="2324100"/>
            <a:ext cx="16954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Order routing, fulfillment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45339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4629150" y="2190750"/>
            <a:ext cx="169545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Search &amp; Discovery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4629150" y="2324100"/>
            <a:ext cx="16954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Algolia, faceted search</a:t>
            </a:r>
            <a:endParaRPr lang="en-US" dirty="0"/>
          </a:p>
        </p:txBody>
      </p:sp>
      <p:sp>
        <p:nvSpPr>
          <p:cNvPr id="30" name="View 30"/>
          <p:cNvSpPr/>
          <p:nvPr/>
        </p:nvSpPr>
        <p:spPr>
          <a:xfrm>
            <a:off x="65151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6610350" y="2190750"/>
            <a:ext cx="169545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Personalization</a:t>
            </a:r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6610350" y="2324100"/>
            <a:ext cx="16954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CDP + ML recommendations</a:t>
            </a:r>
            <a:endParaRPr lang="en-US" dirty="0"/>
          </a:p>
        </p:txBody>
      </p:sp>
      <p:sp>
        <p:nvSpPr>
          <p:cNvPr id="33" name="View 33"/>
          <p:cNvSpPr/>
          <p:nvPr/>
        </p:nvSpPr>
        <p:spPr>
          <a:xfrm>
            <a:off x="571500" y="2619375"/>
            <a:ext cx="8001000" cy="2667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2657475" y="2690813"/>
            <a:ext cx="38290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DATA PLATFORM  |  Snowflake DWH  |  Segment CDP  |  dbt Transforms  |  Looker BI</a:t>
            </a:r>
            <a:endParaRPr lang="en-US" dirty="0"/>
          </a:p>
        </p:txBody>
      </p:sp>
      <p:sp>
        <p:nvSpPr>
          <p:cNvPr id="35" name="Text 35"/>
          <p:cNvSpPr txBox="1"/>
          <p:nvPr/>
        </p:nvSpPr>
        <p:spPr>
          <a:xfrm>
            <a:off x="571500" y="3009900"/>
            <a:ext cx="8001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INFRASTRUCTURE</a:t>
            </a:r>
            <a:endParaRPr lang="en-US" dirty="0"/>
          </a:p>
        </p:txBody>
      </p:sp>
      <p:sp>
        <p:nvSpPr>
          <p:cNvPr id="36" name="View 36"/>
          <p:cNvSpPr/>
          <p:nvPr/>
        </p:nvSpPr>
        <p:spPr>
          <a:xfrm>
            <a:off x="5715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7" name="Text 37"/>
          <p:cNvSpPr txBox="1"/>
          <p:nvPr/>
        </p:nvSpPr>
        <p:spPr>
          <a:xfrm>
            <a:off x="666750" y="3314700"/>
            <a:ext cx="1695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AWS (Primary)</a:t>
            </a:r>
            <a:endParaRPr lang="en-US" dirty="0"/>
          </a:p>
        </p:txBody>
      </p:sp>
      <p:sp>
        <p:nvSpPr>
          <p:cNvPr id="38" name="Text 38"/>
          <p:cNvSpPr txBox="1"/>
          <p:nvPr/>
        </p:nvSpPr>
        <p:spPr>
          <a:xfrm>
            <a:off x="666750" y="3448050"/>
            <a:ext cx="1695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ECS, RDS, ElastiCache, S3</a:t>
            </a:r>
            <a:endParaRPr lang="en-US" dirty="0"/>
          </a:p>
        </p:txBody>
      </p:sp>
      <p:sp>
        <p:nvSpPr>
          <p:cNvPr id="39" name="View 39"/>
          <p:cNvSpPr/>
          <p:nvPr/>
        </p:nvSpPr>
        <p:spPr>
          <a:xfrm>
            <a:off x="25527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0" name="Text 40"/>
          <p:cNvSpPr txBox="1"/>
          <p:nvPr/>
        </p:nvSpPr>
        <p:spPr>
          <a:xfrm>
            <a:off x="2647950" y="3314700"/>
            <a:ext cx="1695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Vercel Edge</a:t>
            </a:r>
            <a:endParaRPr lang="en-US" dirty="0"/>
          </a:p>
        </p:txBody>
      </p:sp>
      <p:sp>
        <p:nvSpPr>
          <p:cNvPr id="41" name="Text 41"/>
          <p:cNvSpPr txBox="1"/>
          <p:nvPr/>
        </p:nvSpPr>
        <p:spPr>
          <a:xfrm>
            <a:off x="2647950" y="3448050"/>
            <a:ext cx="1695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CDN, SSR, edge functions</a:t>
            </a:r>
            <a:endParaRPr lang="en-US" dirty="0"/>
          </a:p>
        </p:txBody>
      </p:sp>
      <p:sp>
        <p:nvSpPr>
          <p:cNvPr id="42" name="View 42"/>
          <p:cNvSpPr/>
          <p:nvPr/>
        </p:nvSpPr>
        <p:spPr>
          <a:xfrm>
            <a:off x="45339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3" name="Text 43"/>
          <p:cNvSpPr txBox="1"/>
          <p:nvPr/>
        </p:nvSpPr>
        <p:spPr>
          <a:xfrm>
            <a:off x="4629150" y="3314700"/>
            <a:ext cx="1695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Monitoring</a:t>
            </a:r>
            <a:endParaRPr lang="en-US" dirty="0"/>
          </a:p>
        </p:txBody>
      </p:sp>
      <p:sp>
        <p:nvSpPr>
          <p:cNvPr id="44" name="Text 44"/>
          <p:cNvSpPr txBox="1"/>
          <p:nvPr/>
        </p:nvSpPr>
        <p:spPr>
          <a:xfrm>
            <a:off x="4629150" y="3448050"/>
            <a:ext cx="1695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Datadog APM, PagerDuty</a:t>
            </a:r>
            <a:endParaRPr lang="en-US" dirty="0"/>
          </a:p>
        </p:txBody>
      </p:sp>
      <p:sp>
        <p:nvSpPr>
          <p:cNvPr id="45" name="View 45"/>
          <p:cNvSpPr/>
          <p:nvPr/>
        </p:nvSpPr>
        <p:spPr>
          <a:xfrm>
            <a:off x="65151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6" name="Text 46"/>
          <p:cNvSpPr txBox="1"/>
          <p:nvPr/>
        </p:nvSpPr>
        <p:spPr>
          <a:xfrm>
            <a:off x="6610350" y="3314700"/>
            <a:ext cx="1695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Security</a:t>
            </a:r>
            <a:endParaRPr lang="en-US" dirty="0"/>
          </a:p>
        </p:txBody>
      </p:sp>
      <p:sp>
        <p:nvSpPr>
          <p:cNvPr id="47" name="Text 47"/>
          <p:cNvSpPr txBox="1"/>
          <p:nvPr/>
        </p:nvSpPr>
        <p:spPr>
          <a:xfrm>
            <a:off x="6610350" y="3448050"/>
            <a:ext cx="1695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WAF, DDoS, PCI DSS L1</a:t>
            </a:r>
            <a:endParaRPr lang="en-US" dirty="0"/>
          </a:p>
        </p:txBody>
      </p:sp>
      <p:sp>
        <p:nvSpPr>
          <p:cNvPr id="48" name="Text 48"/>
          <p:cNvSpPr txBox="1"/>
          <p:nvPr/>
        </p:nvSpPr>
        <p:spPr>
          <a:xfrm>
            <a:off x="571500" y="6638925"/>
            <a:ext cx="31242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Solution architecture review, vendor technical assessments, security audit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5909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Organizational Design &amp; Talent Plan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4575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Dedicated Digital Commerce business unit with 42 FTEs at full scale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3333750" y="762000"/>
            <a:ext cx="2476500" cy="43815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3429000" y="857250"/>
            <a:ext cx="2286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 algn="ctr">
              <a:lnSpc>
                <a:spcPts val="1035"/>
              </a:lnSpc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VP, Digital Commerce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429000" y="1000125"/>
            <a:ext cx="2286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93C5FD"/>
                </a:solidFill>
                <a:latin typeface="Arial"/>
                <a:ea typeface=""/>
                <a:cs typeface=""/>
              </a:rPr>
              <a:t>Reports to CEO  |  Hired Month 1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6286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23900" y="1409700"/>
            <a:ext cx="12954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Engineering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23900" y="1543050"/>
            <a:ext cx="1295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14 FTEs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22288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324100" y="1409700"/>
            <a:ext cx="12954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Product &amp; Design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2324100" y="1543050"/>
            <a:ext cx="1295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8 FTEs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38290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3924300" y="1409700"/>
            <a:ext cx="12954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Data Science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3924300" y="1543050"/>
            <a:ext cx="1295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6 FTEs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54292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524500" y="1409700"/>
            <a:ext cx="12954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Growth Marketing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5524500" y="1543050"/>
            <a:ext cx="1295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10 FTEs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70294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7124700" y="1409700"/>
            <a:ext cx="12954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Operations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7124700" y="1543050"/>
            <a:ext cx="1295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1B3A5C"/>
                </a:solidFill>
                <a:latin typeface="Arial"/>
                <a:ea typeface=""/>
                <a:cs typeface=""/>
              </a:rPr>
              <a:t>4 FTEs</a:t>
            </a:r>
            <a:endParaRPr lang="en-US" dirty="0"/>
          </a:p>
        </p:txBody>
      </p:sp>
      <p:graphicFrame>
        <p:nvGraphicFramePr>
          <p:cNvPr id="23" name="Chart 23"/>
          <p:cNvGraphicFramePr>
            <a:graphicFrameLocks noGrp="1"/>
          </p:cNvGraphicFramePr>
          <p:nvPr/>
        </p:nvGraphicFramePr>
        <p:xfrm>
          <a:off x="381000" y="2476500"/>
          <a:ext cx="47625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Text 24"/>
          <p:cNvSpPr txBox="1"/>
          <p:nvPr/>
        </p:nvSpPr>
        <p:spPr>
          <a:xfrm>
            <a:off x="5334000" y="2476500"/>
            <a:ext cx="3238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Annual Talent Cost at Scale</a:t>
            </a:r>
            <a:endParaRPr lang="en-US" dirty="0"/>
          </a:p>
        </p:txBody>
      </p:sp>
      <p:graphicFrame>
        <p:nvGraphicFramePr>
          <p:cNvPr id="25" name="Table 25"/>
          <p:cNvGraphicFramePr>
            <a:graphicFrameLocks noGrp="1"/>
          </p:cNvGraphicFramePr>
          <p:nvPr/>
        </p:nvGraphicFramePr>
        <p:xfrm>
          <a:off x="5334000" y="2733675"/>
          <a:ext cx="3238500" cy="152400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571500"/>
                <a:gridCol w="666750"/>
                <a:gridCol w="666750"/>
              </a:tblGrid>
              <a:tr h="2286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FTEs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Avg Comp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Engineering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$185K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$2.6M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Product &amp; Design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$160K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$1.3M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Data Science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$175K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$1.1M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Marketing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$130K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$1.3M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Operations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$120K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6" name="Text 26"/>
          <p:cNvSpPr txBox="1"/>
          <p:nvPr/>
        </p:nvSpPr>
        <p:spPr>
          <a:xfrm>
            <a:off x="571500" y="6638925"/>
            <a:ext cx="28003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Glassdoor comp data, Meridian HR, comparable org benchmarks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SECTION 04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2409825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Financial Case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39115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Arial"/>
                <a:ea typeface=""/>
                <a:cs typeface=""/>
              </a:rPr>
              <a:t>Investment requirements, revenue projections, sensitivity analysis, and risk mitigation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5622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Investment Requirements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6196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$12.0M total investment across three phases with front-loaded technology and talent spend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4762500" cy="2857500"/>
        </p:xfrm>
        <a:graphic>
          <a:graphicData uri="http://schemas.openxmlformats.org/drawingml/2006/table">
            <a:tbl>
              <a:tblPr firstRow="1" bandRow="1"/>
              <a:tblGrid>
                <a:gridCol w="1524000"/>
                <a:gridCol w="809625"/>
                <a:gridCol w="809625"/>
                <a:gridCol w="809625"/>
                <a:gridCol w="809625"/>
              </a:tblGrid>
              <a:tr h="2857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Phase 1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Phase 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Phase 3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476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Technology &amp; Platform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$1.2M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$2.5M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Talent &amp; Hiring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$1.8M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$1.4M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$4.0M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476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Marketing &amp; Growth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$1.2M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$2.4M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Data &amp; Analytics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$0.3M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$1.2M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476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Operations &amp; Logistics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$0.3M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$1.2M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476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Contingency (5%)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$0.3M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$0.7M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857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825" b="1" dirty="0">
                          <a:solidFill>
                            <a:srgbClr val="0F2540"/>
                          </a:solidFill>
                          <a:latin typeface="Arial"/>
                        </a:rPr>
                        <a:t>TOTAL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825" b="1" dirty="0">
                          <a:solidFill>
                            <a:srgbClr val="0F2540"/>
                          </a:solidFill>
                          <a:latin typeface="Arial"/>
                        </a:rPr>
                        <a:t>$3.2M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825" b="1" dirty="0">
                          <a:solidFill>
                            <a:srgbClr val="0F2540"/>
                          </a:solidFill>
                          <a:latin typeface="Arial"/>
                        </a:rPr>
                        <a:t>$5.1M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825" b="1" dirty="0">
                          <a:solidFill>
                            <a:srgbClr val="0F2540"/>
                          </a:solidFill>
                          <a:latin typeface="Arial"/>
                        </a:rPr>
                        <a:t>$3.7M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Arial"/>
                        </a:rPr>
                        <a:t>$12.0M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6"/>
          <p:cNvGraphicFramePr>
            <a:graphicFrameLocks noGrp="1"/>
          </p:cNvGraphicFramePr>
          <p:nvPr/>
        </p:nvGraphicFramePr>
        <p:xfrm>
          <a:off x="5524500" y="762000"/>
          <a:ext cx="3048000" cy="171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 7"/>
          <p:cNvSpPr txBox="1"/>
          <p:nvPr/>
        </p:nvSpPr>
        <p:spPr>
          <a:xfrm>
            <a:off x="5524500" y="2619375"/>
            <a:ext cx="3048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Key Investment Highlights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5524500" y="2828925"/>
            <a:ext cx="3048000" cy="381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619750" y="2924175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Talent is the largest investment category (33%) — reflects the critical need to build in-house digital capability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524500" y="3281363"/>
            <a:ext cx="3048000" cy="3905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619750" y="3381375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Phase 2 is the peak spend period ($5.1M) driven by marketing ramp and full team hiring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5524500" y="3752850"/>
            <a:ext cx="3048000" cy="3905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619750" y="3848100"/>
            <a:ext cx="28575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 lnSpcReduction="0"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5% contingency reserve ($0.7M) protects against scope changes and vendor cost overruns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71500" y="6638925"/>
            <a:ext cx="35623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Vendor quotes, Meridian HR compensation benchmarks, marketing agency estimates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452437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Three-Year Revenue &amp; Profitability Projection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4577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Digital commerce reaches profitability in Month 14 with $52M cumulative profit by Year 3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5143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715000" y="762000"/>
          <a:ext cx="2857500" cy="2857500"/>
        </p:xfrm>
        <a:graphic>
          <a:graphicData uri="http://schemas.openxmlformats.org/drawingml/2006/table">
            <a:tbl>
              <a:tblPr firstRow="1" bandRow="1"/>
              <a:tblGrid>
                <a:gridCol w="1143000"/>
                <a:gridCol w="571500"/>
                <a:gridCol w="571500"/>
                <a:gridCol w="571500"/>
              </a:tblGrid>
              <a:tr h="2476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P&amp;L ($M)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Year 1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Year 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Year 3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Gross Revenue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$48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$96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$148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COGS (40%)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($19)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($38)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($59)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Gross Profit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$29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$58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$89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Operating Exp.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($30)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($38)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($47)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EBITDA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($1)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$20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$42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EBITDA Margin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-2%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059669"/>
                          </a:solidFill>
                          <a:latin typeface="Arial"/>
                        </a:rPr>
                        <a:t>21%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28%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Cum. Cash Flow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($4.2)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059669"/>
                          </a:solidFill>
                          <a:latin typeface="Arial"/>
                        </a:rPr>
                        <a:t>$12.6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$52.2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7"/>
          <p:cNvGraphicFramePr>
            <a:graphicFrameLocks noGrp="1"/>
          </p:cNvGraphicFramePr>
          <p:nvPr/>
        </p:nvGraphicFramePr>
        <p:xfrm>
          <a:off x="381000" y="3762375"/>
          <a:ext cx="8191500" cy="857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8"/>
          <p:cNvSpPr txBox="1"/>
          <p:nvPr/>
        </p:nvSpPr>
        <p:spPr>
          <a:xfrm>
            <a:off x="571500" y="6638925"/>
            <a:ext cx="34194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Internal financial model v3.2, validated against comparable digital transformations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197167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Sensitivity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51911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Investment remains NPV-positive across all scenarios; downside case still achieves 18-month payback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238125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857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Y3 Revenue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Y3 EBITDA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NPV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IRR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Payback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ROI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Probability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Bull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$185M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$58M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$94M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82%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14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480%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Base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$148M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$42M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$68M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18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340%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Bear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EA580C"/>
                          </a:solidFill>
                          <a:latin typeface="Arial"/>
                        </a:rPr>
                        <a:t>$105M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EA580C"/>
                          </a:solidFill>
                          <a:latin typeface="Arial"/>
                        </a:rPr>
                        <a:t>$24M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$38M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22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180%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Worst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$72M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28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65%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71500" y="3286125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Key Assumptions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71500" y="3476625"/>
            <a:ext cx="3810000" cy="504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  <a:spcBef>
                <a:spcPts val="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Base case conversion: 2.8% (vs. 1.1% current)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Base case AOV: $158 (vs. $127 current)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Customer acquisition cost: $32 (industry: $38)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Annual digital marketing spend: $2.4M at scale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Gross margin: 60% blended across channels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572000" y="3286125"/>
            <a:ext cx="4000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Sensitivity Drivers (Impact on NPV)</a:t>
            </a:r>
            <a:endParaRPr lang="en-US" dirty="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4572000" y="3486150"/>
          <a:ext cx="4000500" cy="95250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666750"/>
                <a:gridCol w="666750"/>
                <a:gridCol w="666750"/>
                <a:gridCol w="666750"/>
              </a:tblGrid>
              <a:tr h="2095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Driver</a:t>
                      </a:r>
                      <a:endParaRPr lang="en-US" dirty="0"/>
                    </a:p>
                  </a:txBody>
                  <a:tcPr anchor="ctr" marL="38100" marR="38100" marT="38100" marB="3810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-20%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-10%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+10%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+20%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1714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00" b="1" dirty="0">
                          <a:latin typeface="Arial"/>
                        </a:rPr>
                        <a:t>Conversion Rate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DC2626"/>
                          </a:solidFill>
                          <a:latin typeface="Arial"/>
                        </a:rPr>
                        <a:t>-$22M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EA580C"/>
                          </a:solidFill>
                          <a:latin typeface="Arial"/>
                        </a:rPr>
                        <a:t>-$11M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+$11M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+$22M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00" b="1" dirty="0">
                          <a:latin typeface="Arial"/>
                        </a:rPr>
                        <a:t>AOV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DC2626"/>
                          </a:solidFill>
                          <a:latin typeface="Arial"/>
                        </a:rPr>
                        <a:t>-$16M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EA580C"/>
                          </a:solidFill>
                          <a:latin typeface="Arial"/>
                        </a:rPr>
                        <a:t>-$8M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+$16M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1714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00" b="1" dirty="0">
                          <a:latin typeface="Arial"/>
                        </a:rPr>
                        <a:t>CAC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DC2626"/>
                          </a:solidFill>
                          <a:latin typeface="Arial"/>
                        </a:rPr>
                        <a:t>-$8M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EA580C"/>
                          </a:solidFill>
                          <a:latin typeface="Arial"/>
                        </a:rPr>
                        <a:t>-$4M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 10"/>
          <p:cNvSpPr txBox="1"/>
          <p:nvPr/>
        </p:nvSpPr>
        <p:spPr>
          <a:xfrm>
            <a:off x="571500" y="6638925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Monte Carlo simulation (10,000 iterations), peer benchmarks, management inputs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49567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Risk Assessment &amp; Mitigation Plan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7623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Eight key risks identified with specific mitigation strategies and risk owners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3619500"/>
        </p:xfrm>
        <a:graphic>
          <a:graphicData uri="http://schemas.openxmlformats.org/drawingml/2006/table">
            <a:tbl>
              <a:tblPr firstRow="1" bandRow="1"/>
              <a:tblGrid>
                <a:gridCol w="285750"/>
                <a:gridCol w="1238250"/>
                <a:gridCol w="571500"/>
                <a:gridCol w="571500"/>
                <a:gridCol w="3048000"/>
                <a:gridCol w="1047750"/>
                <a:gridCol w="12382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  <a:endParaRPr lang="en-US" dirty="0"/>
                    </a:p>
                  </a:txBody>
                  <a:tcPr anchor="ctr" marL="38100" marR="38100" marT="38100" marB="3810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Prob.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Mitigation Strategy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Platform Delivery Delay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Agile methodology, 2-week sprints, vendor SLA with penalties, parallel workstreams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VP Digital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Arial"/>
                        </a:rPr>
                        <a:t>Mitigating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Talent Acquisition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Retained search firms, competitive comp (75th pctile), remote-first policy, signing bonuses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CHRO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Active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Legacy Integration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API-first architecture, middleware layer, phased migration, parallel run period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CTO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Arial"/>
                        </a:rPr>
                        <a:t>Planning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Customer Adoption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Soft launch with loyalty members, incentive migration offers, UX testing (200+ users)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CMO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Arial"/>
                        </a:rPr>
                        <a:t>Planning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Competitive Response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Differentiated CX, exclusive brands, loyalty moat, first-mover in underserved segments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CSO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94A3B8"/>
                          </a:solidFill>
                          <a:latin typeface="Arial"/>
                        </a:rPr>
                        <a:t>Monitoring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Data Security Breach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Arial"/>
                        </a:rPr>
                        <a:t>Critical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Low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PCI DSS L1 compliance, SOC 2 Type II, penetration testing, incident response plan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CISO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Arial"/>
                        </a:rPr>
                        <a:t>Mitigating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7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Budget Overrun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5% contingency reserve, monthly financial reviews, phase-gate approvals, vendor fixed pricing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CFO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Arial"/>
                        </a:rPr>
                        <a:t>Mitigating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8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Change Management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Executive sponsor, dedicated change lead, training program, internal comms campaign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COO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Arial"/>
                        </a:rPr>
                        <a:t>Planning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71500" y="6638925"/>
            <a:ext cx="33718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Risk workshop (Feb 2026), comparable project post-mortems, COSO framework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781425" y="1257300"/>
            <a:ext cx="1581150" cy="3619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760"/>
              </a:lnSpc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Next Steps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286250" y="18383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2305050" y="2095500"/>
            <a:ext cx="4533900" cy="7715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1.  Board alignment on strategic direction and investment approval (March 7)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2.  VP, Digital Commerce search kick-off with retained firm (March 15)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3.  Platform vendor shortlist and RFP issuance (April 1)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4.  Detailed Phase 1 project plan and budget sign-off (April 15)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5.  Program kick-off and weekly SteerCo cadence begins (May 1)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4286250" y="31718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990975" y="3381375"/>
            <a:ext cx="1162050" cy="2762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070"/>
              </a:lnSpc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Thank You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2676525" y="3762375"/>
            <a:ext cx="3790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94A3B8"/>
                </a:solidFill>
                <a:latin typeface="Arial"/>
                <a:ea typeface=""/>
                <a:cs typeface=""/>
              </a:rPr>
              <a:t>Questions? Contact the project team at digital-transformation@meridianretail.com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BBStrategy">
  <a:themeElements>
    <a:clrScheme name="MBBStrategy">
      <a:dk1>
        <a:srgbClr val="0F2540"/>
      </a:dk1>
      <a:lt1>
        <a:srgbClr val="FFFFFF"/>
      </a:lt1>
      <a:dk2>
        <a:srgbClr val="1B3A5C"/>
      </a:dk2>
      <a:lt2>
        <a:srgbClr val="F8FAFC"/>
      </a:lt2>
      <a:accent1>
        <a:srgbClr val="2563EB"/>
      </a:accent1>
      <a:accent2>
        <a:srgbClr val="059669"/>
      </a:accent2>
      <a:accent3>
        <a:srgbClr val="7C3AED"/>
      </a:accent3>
      <a:accent4>
        <a:srgbClr val="EA580C"/>
      </a:accent4>
      <a:accent5>
        <a:srgbClr val="DC2626"/>
      </a:accent5>
      <a:accent6>
        <a:srgbClr val="0891B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25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Arial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Commerce Transformation — Meridian Retail Group</dc:title>
  <dc:creator>Strategy &amp; Operations Practice</dc:creator>
  <cp:lastModifiedBy>Strategy &amp; Operations Practice</cp:lastModifiedBy>
  <cp:revision>1</cp:revision>
  <dcterms:created xsi:type="dcterms:W3CDTF">2026-03-13T07:22:35Z</dcterms:created>
  <dcterms:modified xsi:type="dcterms:W3CDTF">2026-03-13T07:22:35Z</dcterms:modified>
</cp:coreProperties>
</file>