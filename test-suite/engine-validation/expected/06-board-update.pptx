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153"/>
          <c:y val="0.04"/>
          <c:w val="0.9694"/>
          <c:h val="0.76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F2937"/>
            </a:solidFill>
          </c:spPr>
          <c:cat>
            <c:strRef>
              <c:f>Sheet1!$A$2:$A$9</c:f>
              <c:strCache>
                <c:ptCount val="8"/>
                <c:pt idx="0">
                  <c:v>Q1 FY23</c:v>
                </c:pt>
                <c:pt idx="1">
                  <c:v>Q2 FY23</c:v>
                </c:pt>
                <c:pt idx="2">
                  <c:v>Q3 FY23</c:v>
                </c:pt>
                <c:pt idx="3">
                  <c:v>Q4 FY23</c:v>
                </c:pt>
                <c:pt idx="4">
                  <c:v>Q1 FY24</c:v>
                </c:pt>
                <c:pt idx="5">
                  <c:v>Q2 FY24</c:v>
                </c:pt>
                <c:pt idx="6">
                  <c:v>Q3 FY24</c:v>
                </c:pt>
                <c:pt idx="7">
                  <c:v>Q4 FY24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142</c:v>
                </c:pt>
                <c:pt idx="1">
                  <c:v>156</c:v>
                </c:pt>
                <c:pt idx="2">
                  <c:v>168</c:v>
                </c:pt>
                <c:pt idx="3">
                  <c:v>184</c:v>
                </c:pt>
                <c:pt idx="4">
                  <c:v>196</c:v>
                </c:pt>
                <c:pt idx="5">
                  <c:v>218</c:v>
                </c:pt>
                <c:pt idx="6">
                  <c:v>234</c:v>
                </c:pt>
                <c:pt idx="7">
                  <c:v>261</c:v>
                </c:pt>
              </c:numCache>
            </c:numRef>
          </c:val>
        </c:ser>
        <c:dLbls>
          <c:numFmt formatCode="General" sourceLinked="1"/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wMode val="factor"/>
          <c:hMode val="factor"/>
          <c:x val="0.0153"/>
          <c:y val="0.8918"/>
          <c:w val="0.9694"/>
          <c:h val="0.0682"/>
        </c:manualLayout>
      </c:layout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2667000"/>
            <a:ext cx="1097280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Northwind Industries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3048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4903"/>
              </a:lnSpc>
            </a:pPr>
            <a:r>
              <a:rPr lang="en-US" sz="3600" b="1" dirty="0">
                <a:solidFill>
                  <a:srgbClr val="1F2937"/>
                </a:solidFill>
                <a:latin typeface="IBM Plex Sans"/>
                <a:ea typeface=""/>
                <a:cs typeface=""/>
              </a:rPr>
              <a:t>Board update — Q4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609600" y="3886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Prepared by management · For board review only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85725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1F2937"/>
                </a:solidFill>
                <a:latin typeface="IBM Plex Sans"/>
                <a:ea typeface=""/>
                <a:cs typeface=""/>
              </a:rPr>
              <a:t>Agenda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95250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Northwind Industries · Board update · Q4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0972800" y="533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2 / 10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609600" y="1257300"/>
            <a:ext cx="10972800" cy="4763"/>
          </a:xfrm>
          <a:prstGeom prst="rect">
            <a:avLst/>
          </a:prstGeom>
          <a:solidFill>
            <a:srgbClr val="374151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609600" y="17145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39"/>
              </a:lnSpc>
            </a:pPr>
            <a:r>
              <a:rPr lang="en-US" sz="135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1. Executive summary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09600" y="21336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39"/>
              </a:lnSpc>
            </a:pPr>
            <a:r>
              <a:rPr lang="en-US" sz="135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2. KPI dashboard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609600" y="25527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39"/>
              </a:lnSpc>
            </a:pPr>
            <a:r>
              <a:rPr lang="en-US" sz="135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3. Financials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609600" y="29718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39"/>
              </a:lnSpc>
            </a:pPr>
            <a:r>
              <a:rPr lang="en-US" sz="135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4. Operating priorities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609600" y="33909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39"/>
              </a:lnSpc>
            </a:pPr>
            <a:r>
              <a:rPr lang="en-US" sz="135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5. Risk register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609600" y="3810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39"/>
              </a:lnSpc>
            </a:pPr>
            <a:r>
              <a:rPr lang="en-US" sz="135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6. Decisions requested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85725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1F2937"/>
                </a:solidFill>
                <a:latin typeface="IBM Plex Sans"/>
                <a:ea typeface=""/>
                <a:cs typeface=""/>
              </a:rPr>
              <a:t>Executive summary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95250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Northwind Industries · Board update · Q4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0972800" y="533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3 / 10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609600" y="1257300"/>
            <a:ext cx="10972800" cy="4763"/>
          </a:xfrm>
          <a:prstGeom prst="rect">
            <a:avLst/>
          </a:prstGeom>
          <a:solidFill>
            <a:srgbClr val="374151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609600" y="17145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Q4 closed at plan on revenue and ahead on margin. Customer health metrics improved across enterprise; SMB churn remains a watch item.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609600" y="3048000"/>
            <a:ext cx="76200" cy="228600"/>
          </a:xfrm>
          <a:prstGeom prst="rect">
            <a:avLst/>
          </a:prstGeom>
          <a:solidFill>
            <a:srgbClr val="16A34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62000" y="3048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Revenue: at plan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609600" y="3429000"/>
            <a:ext cx="76200" cy="228600"/>
          </a:xfrm>
          <a:prstGeom prst="rect">
            <a:avLst/>
          </a:prstGeom>
          <a:solidFill>
            <a:srgbClr val="16A34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762000" y="3429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Margin: ahead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609600" y="3810000"/>
            <a:ext cx="76200" cy="228600"/>
          </a:xfrm>
          <a:prstGeom prst="rect">
            <a:avLst/>
          </a:prstGeom>
          <a:solidFill>
            <a:srgbClr val="16A34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762000" y="3810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Cash: ahead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609600" y="4191000"/>
            <a:ext cx="76200" cy="228600"/>
          </a:xfrm>
          <a:prstGeom prst="rect">
            <a:avLst/>
          </a:prstGeom>
          <a:solidFill>
            <a:srgbClr val="D9770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762000" y="4191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SMB churn: above target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609600" y="4572000"/>
            <a:ext cx="76200" cy="228600"/>
          </a:xfrm>
          <a:prstGeom prst="rect">
            <a:avLst/>
          </a:prstGeom>
          <a:solidFill>
            <a:srgbClr val="DC262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62000" y="4572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Hiring (EU): behind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85725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1F2937"/>
                </a:solidFill>
                <a:latin typeface="IBM Plex Sans"/>
                <a:ea typeface=""/>
                <a:cs typeface=""/>
              </a:rPr>
              <a:t>KPI dashboard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95250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Northwind Industries · Board update · Q4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0972800" y="533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4 / 10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609600" y="1257300"/>
            <a:ext cx="10972800" cy="4763"/>
          </a:xfrm>
          <a:prstGeom prst="rect">
            <a:avLst/>
          </a:prstGeom>
          <a:solidFill>
            <a:srgbClr val="374151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609600" y="1600200"/>
            <a:ext cx="2667000" cy="1524000"/>
          </a:xfrm>
          <a:prstGeom prst="rect">
            <a:avLst/>
          </a:prstGeom>
          <a:solidFill>
            <a:srgbClr val="F3F4F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609600" y="1600200"/>
            <a:ext cx="2667000" cy="38100"/>
          </a:xfrm>
          <a:prstGeom prst="rect">
            <a:avLst/>
          </a:prstGeom>
          <a:solidFill>
            <a:srgbClr val="16A34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62000" y="175260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4"/>
              </a:lnSpc>
            </a:pPr>
            <a:r>
              <a:rPr lang="en-US" sz="82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Revenue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62000" y="19812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$261M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762000" y="281940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4"/>
              </a:lnSpc>
            </a:pPr>
            <a:r>
              <a:rPr lang="en-US" sz="82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+18% YoY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3429000" y="1600200"/>
            <a:ext cx="2667000" cy="1524000"/>
          </a:xfrm>
          <a:prstGeom prst="rect">
            <a:avLst/>
          </a:prstGeom>
          <a:solidFill>
            <a:srgbClr val="F3F4F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3429000" y="1600200"/>
            <a:ext cx="2667000" cy="38100"/>
          </a:xfrm>
          <a:prstGeom prst="rect">
            <a:avLst/>
          </a:prstGeom>
          <a:solidFill>
            <a:srgbClr val="16A34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581400" y="175260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4"/>
              </a:lnSpc>
            </a:pPr>
            <a:r>
              <a:rPr lang="en-US" sz="82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Op margin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3581400" y="19812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22.4%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3581400" y="281940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4"/>
              </a:lnSpc>
            </a:pPr>
            <a:r>
              <a:rPr lang="en-US" sz="82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+320 bps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6248400" y="1600200"/>
            <a:ext cx="2667000" cy="1524000"/>
          </a:xfrm>
          <a:prstGeom prst="rect">
            <a:avLst/>
          </a:prstGeom>
          <a:solidFill>
            <a:srgbClr val="F3F4F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6248400" y="1600200"/>
            <a:ext cx="2667000" cy="38100"/>
          </a:xfrm>
          <a:prstGeom prst="rect">
            <a:avLst/>
          </a:prstGeom>
          <a:solidFill>
            <a:srgbClr val="16A34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6400800" y="175260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4"/>
              </a:lnSpc>
            </a:pPr>
            <a:r>
              <a:rPr lang="en-US" sz="82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Cash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6400800" y="19812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$412M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6400800" y="281940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4"/>
              </a:lnSpc>
            </a:pPr>
            <a:r>
              <a:rPr lang="en-US" sz="82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+$28M QoQ</a:t>
            </a:r>
            <a:endParaRPr lang="en-US" dirty="0"/>
          </a:p>
        </p:txBody>
      </p:sp>
      <p:sp>
        <p:nvSpPr>
          <p:cNvPr id="21" name="View 21"/>
          <p:cNvSpPr/>
          <p:nvPr/>
        </p:nvSpPr>
        <p:spPr>
          <a:xfrm>
            <a:off x="9067800" y="1600200"/>
            <a:ext cx="2514600" cy="1524000"/>
          </a:xfrm>
          <a:prstGeom prst="rect">
            <a:avLst/>
          </a:prstGeom>
          <a:solidFill>
            <a:srgbClr val="F3F4F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2" name="View 22"/>
          <p:cNvSpPr/>
          <p:nvPr/>
        </p:nvSpPr>
        <p:spPr>
          <a:xfrm>
            <a:off x="9067800" y="1600200"/>
            <a:ext cx="2514600" cy="38100"/>
          </a:xfrm>
          <a:prstGeom prst="rect">
            <a:avLst/>
          </a:prstGeom>
          <a:solidFill>
            <a:srgbClr val="D9770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9220200" y="1752600"/>
            <a:ext cx="22098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4"/>
              </a:lnSpc>
            </a:pPr>
            <a:r>
              <a:rPr lang="en-US" sz="82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Headcount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9220200" y="19812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612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9220200" y="2819400"/>
            <a:ext cx="22098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4"/>
              </a:lnSpc>
            </a:pPr>
            <a:r>
              <a:rPr lang="en-US" sz="82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behind plan -28</a:t>
            </a:r>
            <a:endParaRPr lang="en-US" dirty="0"/>
          </a:p>
        </p:txBody>
      </p:sp>
      <p:sp>
        <p:nvSpPr>
          <p:cNvPr id="26" name="View 26"/>
          <p:cNvSpPr/>
          <p:nvPr/>
        </p:nvSpPr>
        <p:spPr>
          <a:xfrm>
            <a:off x="609600" y="3314700"/>
            <a:ext cx="2667000" cy="1524000"/>
          </a:xfrm>
          <a:prstGeom prst="rect">
            <a:avLst/>
          </a:prstGeom>
          <a:solidFill>
            <a:srgbClr val="F3F4F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609600" y="3314700"/>
            <a:ext cx="2667000" cy="38100"/>
          </a:xfrm>
          <a:prstGeom prst="rect">
            <a:avLst/>
          </a:prstGeom>
          <a:solidFill>
            <a:srgbClr val="16A34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762000" y="346710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4"/>
              </a:lnSpc>
            </a:pPr>
            <a:r>
              <a:rPr lang="en-US" sz="82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Net retention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762000" y="36957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124%</a:t>
            </a:r>
            <a:endParaRPr lang="en-US" dirty="0"/>
          </a:p>
        </p:txBody>
      </p:sp>
      <p:sp>
        <p:nvSpPr>
          <p:cNvPr id="30" name="Text 30"/>
          <p:cNvSpPr txBox="1"/>
          <p:nvPr/>
        </p:nvSpPr>
        <p:spPr>
          <a:xfrm>
            <a:off x="762000" y="453390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4"/>
              </a:lnSpc>
            </a:pPr>
            <a:r>
              <a:rPr lang="en-US" sz="82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+6 pts QoQ</a:t>
            </a:r>
            <a:endParaRPr lang="en-US" dirty="0"/>
          </a:p>
        </p:txBody>
      </p:sp>
      <p:sp>
        <p:nvSpPr>
          <p:cNvPr id="31" name="View 31"/>
          <p:cNvSpPr/>
          <p:nvPr/>
        </p:nvSpPr>
        <p:spPr>
          <a:xfrm>
            <a:off x="3429000" y="3314700"/>
            <a:ext cx="2667000" cy="1524000"/>
          </a:xfrm>
          <a:prstGeom prst="rect">
            <a:avLst/>
          </a:prstGeom>
          <a:solidFill>
            <a:srgbClr val="F3F4F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2" name="View 32"/>
          <p:cNvSpPr/>
          <p:nvPr/>
        </p:nvSpPr>
        <p:spPr>
          <a:xfrm>
            <a:off x="3429000" y="3314700"/>
            <a:ext cx="2667000" cy="38100"/>
          </a:xfrm>
          <a:prstGeom prst="rect">
            <a:avLst/>
          </a:prstGeom>
          <a:solidFill>
            <a:srgbClr val="D9770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3" name="Text 33"/>
          <p:cNvSpPr txBox="1"/>
          <p:nvPr/>
        </p:nvSpPr>
        <p:spPr>
          <a:xfrm>
            <a:off x="3581400" y="346710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4"/>
              </a:lnSpc>
            </a:pPr>
            <a:r>
              <a:rPr lang="en-US" sz="82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SMB churn</a:t>
            </a:r>
            <a:endParaRPr lang="en-US" dirty="0"/>
          </a:p>
        </p:txBody>
      </p:sp>
      <p:sp>
        <p:nvSpPr>
          <p:cNvPr id="34" name="Text 34"/>
          <p:cNvSpPr txBox="1"/>
          <p:nvPr/>
        </p:nvSpPr>
        <p:spPr>
          <a:xfrm>
            <a:off x="3581400" y="36957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11.2%</a:t>
            </a:r>
            <a:endParaRPr lang="en-US" dirty="0"/>
          </a:p>
        </p:txBody>
      </p:sp>
      <p:sp>
        <p:nvSpPr>
          <p:cNvPr id="35" name="Text 35"/>
          <p:cNvSpPr txBox="1"/>
          <p:nvPr/>
        </p:nvSpPr>
        <p:spPr>
          <a:xfrm>
            <a:off x="3581400" y="453390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4"/>
              </a:lnSpc>
            </a:pPr>
            <a:r>
              <a:rPr lang="en-US" sz="82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above 9% target</a:t>
            </a:r>
            <a:endParaRPr lang="en-US" dirty="0"/>
          </a:p>
        </p:txBody>
      </p:sp>
      <p:sp>
        <p:nvSpPr>
          <p:cNvPr id="36" name="View 36"/>
          <p:cNvSpPr/>
          <p:nvPr/>
        </p:nvSpPr>
        <p:spPr>
          <a:xfrm>
            <a:off x="6248400" y="3314700"/>
            <a:ext cx="2667000" cy="1524000"/>
          </a:xfrm>
          <a:prstGeom prst="rect">
            <a:avLst/>
          </a:prstGeom>
          <a:solidFill>
            <a:srgbClr val="F3F4F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7" name="View 37"/>
          <p:cNvSpPr/>
          <p:nvPr/>
        </p:nvSpPr>
        <p:spPr>
          <a:xfrm>
            <a:off x="6248400" y="3314700"/>
            <a:ext cx="2667000" cy="38100"/>
          </a:xfrm>
          <a:prstGeom prst="rect">
            <a:avLst/>
          </a:prstGeom>
          <a:solidFill>
            <a:srgbClr val="16A34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8" name="Text 38"/>
          <p:cNvSpPr txBox="1"/>
          <p:nvPr/>
        </p:nvSpPr>
        <p:spPr>
          <a:xfrm>
            <a:off x="6400800" y="346710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4"/>
              </a:lnSpc>
            </a:pPr>
            <a:r>
              <a:rPr lang="en-US" sz="82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NPS</a:t>
            </a:r>
            <a:endParaRPr lang="en-US" dirty="0"/>
          </a:p>
        </p:txBody>
      </p:sp>
      <p:sp>
        <p:nvSpPr>
          <p:cNvPr id="39" name="Text 39"/>
          <p:cNvSpPr txBox="1"/>
          <p:nvPr/>
        </p:nvSpPr>
        <p:spPr>
          <a:xfrm>
            <a:off x="6400800" y="36957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62</a:t>
            </a:r>
            <a:endParaRPr lang="en-US" dirty="0"/>
          </a:p>
        </p:txBody>
      </p:sp>
      <p:sp>
        <p:nvSpPr>
          <p:cNvPr id="40" name="Text 40"/>
          <p:cNvSpPr txBox="1"/>
          <p:nvPr/>
        </p:nvSpPr>
        <p:spPr>
          <a:xfrm>
            <a:off x="6400800" y="4533900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4"/>
              </a:lnSpc>
            </a:pPr>
            <a:r>
              <a:rPr lang="en-US" sz="82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stable</a:t>
            </a:r>
            <a:endParaRPr lang="en-US" dirty="0"/>
          </a:p>
        </p:txBody>
      </p:sp>
      <p:sp>
        <p:nvSpPr>
          <p:cNvPr id="41" name="View 41"/>
          <p:cNvSpPr/>
          <p:nvPr/>
        </p:nvSpPr>
        <p:spPr>
          <a:xfrm>
            <a:off x="9067800" y="3314700"/>
            <a:ext cx="2514600" cy="1524000"/>
          </a:xfrm>
          <a:prstGeom prst="rect">
            <a:avLst/>
          </a:prstGeom>
          <a:solidFill>
            <a:srgbClr val="F3F4F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2" name="View 42"/>
          <p:cNvSpPr/>
          <p:nvPr/>
        </p:nvSpPr>
        <p:spPr>
          <a:xfrm>
            <a:off x="9067800" y="3314700"/>
            <a:ext cx="2514600" cy="38100"/>
          </a:xfrm>
          <a:prstGeom prst="rect">
            <a:avLst/>
          </a:prstGeom>
          <a:solidFill>
            <a:srgbClr val="16A34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3" name="Text 43"/>
          <p:cNvSpPr txBox="1"/>
          <p:nvPr/>
        </p:nvSpPr>
        <p:spPr>
          <a:xfrm>
            <a:off x="9220200" y="3467100"/>
            <a:ext cx="22098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4"/>
              </a:lnSpc>
            </a:pPr>
            <a:r>
              <a:rPr lang="en-US" sz="82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Sev-1 incidents</a:t>
            </a:r>
            <a:endParaRPr lang="en-US" dirty="0"/>
          </a:p>
        </p:txBody>
      </p:sp>
      <p:sp>
        <p:nvSpPr>
          <p:cNvPr id="44" name="Text 44"/>
          <p:cNvSpPr txBox="1"/>
          <p:nvPr/>
        </p:nvSpPr>
        <p:spPr>
          <a:xfrm>
            <a:off x="9220200" y="36957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3</a:t>
            </a:r>
            <a:endParaRPr lang="en-US" dirty="0"/>
          </a:p>
        </p:txBody>
      </p:sp>
      <p:sp>
        <p:nvSpPr>
          <p:cNvPr id="45" name="Text 45"/>
          <p:cNvSpPr txBox="1"/>
          <p:nvPr/>
        </p:nvSpPr>
        <p:spPr>
          <a:xfrm>
            <a:off x="9220200" y="4533900"/>
            <a:ext cx="2209800" cy="190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4"/>
              </a:lnSpc>
            </a:pPr>
            <a:r>
              <a:rPr lang="en-US" sz="82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down from 7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85725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1F2937"/>
                </a:solidFill>
                <a:latin typeface="IBM Plex Sans"/>
                <a:ea typeface=""/>
                <a:cs typeface=""/>
              </a:rPr>
              <a:t>Financials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95250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Northwind Industries · Board update · Q4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0972800" y="533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5 / 10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609600" y="1257300"/>
            <a:ext cx="10972800" cy="4763"/>
          </a:xfrm>
          <a:prstGeom prst="rect">
            <a:avLst/>
          </a:prstGeom>
          <a:solidFill>
            <a:srgbClr val="374151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09600" y="1600200"/>
          <a:ext cx="10972800" cy="3429000"/>
        </p:xfrm>
        <a:graphic>
          <a:graphicData uri="http://schemas.openxmlformats.org/drawingml/2006/table">
            <a:tbl>
              <a:tblPr firstRow="0" bandRow="0"/>
              <a:tblGrid>
                <a:gridCol w="3238500"/>
                <a:gridCol w="1905000"/>
                <a:gridCol w="1905000"/>
                <a:gridCol w="1905000"/>
                <a:gridCol w="2019300"/>
              </a:tblGrid>
              <a:tr h="60325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Metric</a:t>
                      </a:r>
                      <a:endParaRPr lang="en-US" dirty="0"/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Q4 actual</a:t>
                      </a:r>
                      <a:endParaRPr lang="en-US" dirty="0"/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Q4 plan</a:t>
                      </a:r>
                      <a:endParaRPr lang="en-US" dirty="0"/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Variance</a:t>
                      </a:r>
                      <a:endParaRPr lang="en-US" dirty="0"/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Status</a:t>
                      </a:r>
                      <a:endParaRPr lang="en-US" dirty="0"/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6515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Revenue ($M)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261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260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Arial"/>
                          <a:ea typeface=""/>
                          <a:cs typeface=""/>
                        </a:rPr>
                        <a:t>+1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Arial"/>
                          <a:ea typeface=""/>
                          <a:cs typeface=""/>
                        </a:rPr>
                        <a:t>OK</a:t>
                      </a:r>
                      <a:endParaRPr lang="en-US" dirty="0"/>
                    </a:p>
                  </a:txBody>
                  <a:tcPr/>
                </a:tc>
              </a:tr>
              <a:tr h="56515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Gross profit ($M)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204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200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Arial"/>
                          <a:ea typeface=""/>
                          <a:cs typeface=""/>
                        </a:rPr>
                        <a:t>+4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Arial"/>
                          <a:ea typeface=""/>
                          <a:cs typeface=""/>
                        </a:rPr>
                        <a:t>OK</a:t>
                      </a:r>
                      <a:endParaRPr lang="en-US" dirty="0"/>
                    </a:p>
                  </a:txBody>
                  <a:tcPr/>
                </a:tc>
              </a:tr>
              <a:tr h="56515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Opex ($M)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146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150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Arial"/>
                          <a:ea typeface=""/>
                          <a:cs typeface=""/>
                        </a:rPr>
                        <a:t>-4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Arial"/>
                          <a:ea typeface=""/>
                          <a:cs typeface=""/>
                        </a:rPr>
                        <a:t>OK</a:t>
                      </a:r>
                      <a:endParaRPr lang="en-US" dirty="0"/>
                    </a:p>
                  </a:txBody>
                  <a:tcPr/>
                </a:tc>
              </a:tr>
              <a:tr h="56515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FCF ($M)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47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Arial"/>
                          <a:ea typeface=""/>
                          <a:cs typeface=""/>
                        </a:rPr>
                        <a:t>+7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Arial"/>
                          <a:ea typeface=""/>
                          <a:cs typeface=""/>
                        </a:rPr>
                        <a:t>OK</a:t>
                      </a:r>
                      <a:endParaRPr lang="en-US" dirty="0"/>
                    </a:p>
                  </a:txBody>
                  <a:tcPr/>
                </a:tc>
              </a:tr>
              <a:tr h="56515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Headcount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612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640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Arial"/>
                          <a:ea typeface=""/>
                          <a:cs typeface=""/>
                        </a:rPr>
                        <a:t>-28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Arial"/>
                          <a:ea typeface=""/>
                          <a:cs typeface=""/>
                        </a:rPr>
                        <a:t>WARN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85725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1F2937"/>
                </a:solidFill>
                <a:latin typeface="IBM Plex Sans"/>
                <a:ea typeface=""/>
                <a:cs typeface=""/>
              </a:rPr>
              <a:t>Operating priorities (next 90 days)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95250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Northwind Industries · Board update · Q4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0972800" y="533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6 / 10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609600" y="1257300"/>
            <a:ext cx="10972800" cy="4763"/>
          </a:xfrm>
          <a:prstGeom prst="rect">
            <a:avLst/>
          </a:prstGeom>
          <a:solidFill>
            <a:srgbClr val="374151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609600" y="1714500"/>
            <a:ext cx="76200" cy="533400"/>
          </a:xfrm>
          <a:prstGeom prst="rect">
            <a:avLst/>
          </a:prstGeom>
          <a:solidFill>
            <a:srgbClr val="D9770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62000" y="171450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b="1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Stabilize SMB churn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62000" y="1981200"/>
            <a:ext cx="104775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28"/>
              </a:lnSpc>
            </a:pPr>
            <a:r>
              <a:rPr lang="en-US" sz="97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Onboarding redesign + at-risk model live by D45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609600" y="2381250"/>
            <a:ext cx="76200" cy="533400"/>
          </a:xfrm>
          <a:prstGeom prst="rect">
            <a:avLst/>
          </a:prstGeom>
          <a:solidFill>
            <a:srgbClr val="DC262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762000" y="238125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b="1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Close EU recruiting gap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62000" y="2647950"/>
            <a:ext cx="104775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28"/>
              </a:lnSpc>
            </a:pPr>
            <a:r>
              <a:rPr lang="en-US" sz="97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New EMEA TA lead starts; partner with two RPO firms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609600" y="3048000"/>
            <a:ext cx="76200" cy="533400"/>
          </a:xfrm>
          <a:prstGeom prst="rect">
            <a:avLst/>
          </a:prstGeom>
          <a:solidFill>
            <a:srgbClr val="16A34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762000" y="304800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b="1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Ship enterprise tier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762000" y="3314700"/>
            <a:ext cx="104775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28"/>
              </a:lnSpc>
            </a:pPr>
            <a:r>
              <a:rPr lang="en-US" sz="97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GA in Q1; 14 design partners signed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609600" y="3714750"/>
            <a:ext cx="76200" cy="533400"/>
          </a:xfrm>
          <a:prstGeom prst="rect">
            <a:avLst/>
          </a:prstGeom>
          <a:solidFill>
            <a:srgbClr val="16A34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62000" y="371475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b="1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Cost control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62000" y="3981450"/>
            <a:ext cx="104775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28"/>
              </a:lnSpc>
            </a:pPr>
            <a:r>
              <a:rPr lang="en-US" sz="97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Hold opex at 56% of revenue or below</a:t>
            </a:r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609600" y="4381500"/>
            <a:ext cx="76200" cy="533400"/>
          </a:xfrm>
          <a:prstGeom prst="rect">
            <a:avLst/>
          </a:prstGeom>
          <a:solidFill>
            <a:srgbClr val="16A34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762000" y="438150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b="1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Audit prep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762000" y="4648200"/>
            <a:ext cx="104775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28"/>
              </a:lnSpc>
            </a:pPr>
            <a:r>
              <a:rPr lang="en-US" sz="975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Rev rec + SOC2 fieldwork begins Feb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85725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1F2937"/>
                </a:solidFill>
                <a:latin typeface="IBM Plex Sans"/>
                <a:ea typeface=""/>
                <a:cs typeface=""/>
              </a:rPr>
              <a:t>Risk register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95250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Northwind Industries · Board update · Q4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0972800" y="533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7 / 10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609600" y="1257300"/>
            <a:ext cx="10972800" cy="4763"/>
          </a:xfrm>
          <a:prstGeom prst="rect">
            <a:avLst/>
          </a:prstGeom>
          <a:solidFill>
            <a:srgbClr val="374151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09600" y="1600200"/>
          <a:ext cx="10972800" cy="3619500"/>
        </p:xfrm>
        <a:graphic>
          <a:graphicData uri="http://schemas.openxmlformats.org/drawingml/2006/table">
            <a:tbl>
              <a:tblPr firstRow="0" bandRow="0"/>
              <a:tblGrid>
                <a:gridCol w="3238500"/>
                <a:gridCol w="1714500"/>
                <a:gridCol w="1714500"/>
                <a:gridCol w="4305300"/>
              </a:tblGrid>
              <a:tr h="47625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Risk</a:t>
                      </a:r>
                      <a:endParaRPr lang="en-US" dirty="0"/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Likelihood</a:t>
                      </a:r>
                      <a:endParaRPr lang="en-US" dirty="0"/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Impact</a:t>
                      </a:r>
                      <a:endParaRPr lang="en-US" dirty="0"/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"/>
                          <a:cs typeface=""/>
                        </a:rPr>
                        <a:t>Mitigation</a:t>
                      </a:r>
                      <a:endParaRPr lang="en-US" dirty="0"/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62865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FX headwind on EU revenue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Med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Med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Hedging program for 60% of EU exposure starting Jan</a:t>
                      </a:r>
                      <a:endParaRPr lang="en-US" dirty="0"/>
                    </a:p>
                  </a:txBody>
                  <a:tcPr/>
                </a:tc>
              </a:tr>
              <a:tr h="62865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SMB churn acceleration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Arial"/>
                          <a:ea typeface=""/>
                          <a:cs typeface=""/>
                        </a:rPr>
                        <a:t>Med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Med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Onboarding revamp + retention CSM pod</a:t>
                      </a:r>
                      <a:endParaRPr lang="en-US" dirty="0"/>
                    </a:p>
                  </a:txBody>
                  <a:tcPr/>
                </a:tc>
              </a:tr>
              <a:tr h="62865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EU hiring shortfall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Arial"/>
                          <a:ea typeface=""/>
                          <a:cs typeface=""/>
                        </a:rPr>
                        <a:t>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Med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RPO partnerships; relocation packages</a:t>
                      </a:r>
                      <a:endParaRPr lang="en-US" dirty="0"/>
                    </a:p>
                  </a:txBody>
                  <a:tcPr/>
                </a:tc>
              </a:tr>
              <a:tr h="62865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Sev-1 outage during peak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Arial"/>
                          <a:ea typeface=""/>
                          <a:cs typeface=""/>
                        </a:rPr>
                        <a:t>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Q1 reliability investment ($2.4M opex)</a:t>
                      </a:r>
                      <a:endParaRPr lang="en-US" dirty="0"/>
                    </a:p>
                  </a:txBody>
                  <a:tcPr/>
                </a:tc>
              </a:tr>
              <a:tr h="628650"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Top-3 customer renewal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Arial"/>
                          <a:ea typeface=""/>
                          <a:cs typeface=""/>
                        </a:rPr>
                        <a:t>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  <a:ea typeface=""/>
                          <a:cs typeface=""/>
                        </a:rPr>
                        <a:t>Exec sponsor reviews monthly; 4-quarter pre-engage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85725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1F2937"/>
                </a:solidFill>
                <a:latin typeface="IBM Plex Sans"/>
                <a:ea typeface=""/>
                <a:cs typeface=""/>
              </a:rPr>
              <a:t>Decisions requested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95250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Northwind Industries · Board update · Q4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0972800" y="533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8 / 10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609600" y="1257300"/>
            <a:ext cx="10972800" cy="4763"/>
          </a:xfrm>
          <a:prstGeom prst="rect">
            <a:avLst/>
          </a:prstGeom>
          <a:solidFill>
            <a:srgbClr val="374151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609600" y="1905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1. Approve FY25 plan as presented (Revenue $1.07–1.09B, OM 23–24%).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09600" y="23241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2. Approve $25M share repurchase authorization.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609600" y="2743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3. Ratify CISO appointment (J. Park, eff. Feb 1).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609600" y="31623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634"/>
              </a:lnSpc>
            </a:pPr>
            <a:r>
              <a:rPr lang="en-US" sz="120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4. Approve audit committee charter amendments.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85725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1F2937"/>
                </a:solidFill>
                <a:latin typeface="IBM Plex Sans"/>
                <a:ea typeface=""/>
                <a:cs typeface=""/>
              </a:rPr>
              <a:t>Appendix · Revenue trend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95250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Northwind Industries · Board update · Q4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0972800" y="533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9 / 10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609600" y="1257300"/>
            <a:ext cx="10972800" cy="4763"/>
          </a:xfrm>
          <a:prstGeom prst="rect">
            <a:avLst/>
          </a:prstGeom>
          <a:solidFill>
            <a:srgbClr val="374151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graphicFrame>
        <p:nvGraphicFramePr>
          <p:cNvPr id="6" name="Chart 6"/>
          <p:cNvGraphicFramePr>
            <a:graphicFrameLocks noGrp="1"/>
          </p:cNvGraphicFramePr>
          <p:nvPr/>
        </p:nvGraphicFramePr>
        <p:xfrm>
          <a:off x="609600" y="1600200"/>
          <a:ext cx="109728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533400"/>
            <a:ext cx="85725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1F2937"/>
                </a:solidFill>
                <a:latin typeface="IBM Plex Sans"/>
                <a:ea typeface=""/>
                <a:cs typeface=""/>
              </a:rPr>
              <a:t>Appendix · Definitions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609600" y="95250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Northwind Industries · Board update · Q4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10972800" y="533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r">
              <a:lnSpc>
                <a:spcPts val="1226"/>
              </a:lnSpc>
            </a:pPr>
            <a:r>
              <a:rPr lang="en-US" sz="900" dirty="0">
                <a:solidFill>
                  <a:srgbClr val="6B7280"/>
                </a:solidFill>
                <a:latin typeface="IBM Plex Sans"/>
                <a:ea typeface=""/>
                <a:cs typeface=""/>
              </a:rPr>
              <a:t>10 / 10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609600" y="1257300"/>
            <a:ext cx="10972800" cy="4763"/>
          </a:xfrm>
          <a:prstGeom prst="rect">
            <a:avLst/>
          </a:prstGeom>
          <a:solidFill>
            <a:srgbClr val="374151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609600" y="17145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Net retention: ARR retained from prior cohort, including expansion, less churn, less downgrade.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09600" y="22860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Op margin: Non-GAAP, excludes SBC and amortization of acquired intangibles.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609600" y="28575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FCF: Cash from operations less capex.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609600" y="34290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430"/>
              </a:lnSpc>
            </a:pPr>
            <a:r>
              <a:rPr lang="en-US" sz="1050" dirty="0">
                <a:solidFill>
                  <a:srgbClr val="111827"/>
                </a:solidFill>
                <a:latin typeface="IBM Plex Sans"/>
                <a:ea typeface=""/>
                <a:cs typeface=""/>
              </a:rPr>
              <a:t>Sev-1: Customer-impacting outage requiring exec engagement.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10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Industries — Board update Q4</dc:title>
  <dc:creator>PaperJSX engine validation</dc:creator>
  <dc:language>en-US</dc:language>
  <cp:lastModifiedBy>PaperJSX engine validation</cp:lastModifiedBy>
  <cp:revision>1</cp:revision>
  <dcterms:created xsi:type="dcterms:W3CDTF">1980-01-01T00:00:02Z</dcterms:created>
  <dcterms:modified xsi:type="dcterms:W3CDTF">1980-01-01T00:00:02Z</dcterms:modified>
</cp:coreProperties>
</file>