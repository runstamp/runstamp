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67"/>
          <c:y val="0.04"/>
          <c:w val="0.9667"/>
          <c:h val="0.7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Sheet1!$A$2:$A$9</c:f>
              <c:strCache>
                <c:ptCount val="8"/>
                <c:pt idx="0">
                  <c:v>Q1 FY23</c:v>
                </c:pt>
                <c:pt idx="1">
                  <c:v>Q2 FY23</c:v>
                </c:pt>
                <c:pt idx="2">
                  <c:v>Q3 FY23</c:v>
                </c:pt>
                <c:pt idx="3">
                  <c:v>Q4 FY23</c:v>
                </c:pt>
                <c:pt idx="4">
                  <c:v>Q1 FY24</c:v>
                </c:pt>
                <c:pt idx="5">
                  <c:v>Q2 FY24</c:v>
                </c:pt>
                <c:pt idx="6">
                  <c:v>Q3 FY24</c:v>
                </c:pt>
                <c:pt idx="7">
                  <c:v>Q4 FY24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156</c:v>
                </c:pt>
                <c:pt idx="2">
                  <c:v>168</c:v>
                </c:pt>
                <c:pt idx="3">
                  <c:v>184</c:v>
                </c:pt>
                <c:pt idx="4">
                  <c:v>196</c:v>
                </c:pt>
                <c:pt idx="5">
                  <c:v>218</c:v>
                </c:pt>
                <c:pt idx="6">
                  <c:v>234</c:v>
                </c:pt>
                <c:pt idx="7">
                  <c:v>261</c:v>
                </c:pt>
              </c:numCache>
            </c:numRef>
          </c:val>
        </c:ser>
        <c:dLbls>
          <c:numFmt formatCode="General" sourceLinked="1"/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67"/>
          <c:y val="0.8975"/>
          <c:w val="0.9667"/>
          <c:h val="0.0625"/>
        </c:manualLayout>
      </c:layout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67"/>
          <c:y val="0.04"/>
          <c:w val="0.9667"/>
          <c:h val="0.7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Sheet1!$A$2:$A$9</c:f>
              <c:strCache>
                <c:ptCount val="8"/>
                <c:pt idx="0">
                  <c:v>Q1 FY23</c:v>
                </c:pt>
                <c:pt idx="1">
                  <c:v>Q2 FY23</c:v>
                </c:pt>
                <c:pt idx="2">
                  <c:v>Q3 FY23</c:v>
                </c:pt>
                <c:pt idx="3">
                  <c:v>Q4 FY23</c:v>
                </c:pt>
                <c:pt idx="4">
                  <c:v>Q1 FY24</c:v>
                </c:pt>
                <c:pt idx="5">
                  <c:v>Q2 FY24</c:v>
                </c:pt>
                <c:pt idx="6">
                  <c:v>Q3 FY24</c:v>
                </c:pt>
                <c:pt idx="7">
                  <c:v>Q4 FY24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156</c:v>
                </c:pt>
                <c:pt idx="2">
                  <c:v>168</c:v>
                </c:pt>
                <c:pt idx="3">
                  <c:v>184</c:v>
                </c:pt>
                <c:pt idx="4">
                  <c:v>196</c:v>
                </c:pt>
                <c:pt idx="5">
                  <c:v>218</c:v>
                </c:pt>
                <c:pt idx="6">
                  <c:v>234</c:v>
                </c:pt>
                <c:pt idx="7">
                  <c:v>261</c:v>
                </c:pt>
              </c:numCache>
            </c:numRef>
          </c:val>
        </c:ser>
        <c:axId val="111111111"/>
        <c:axId val="22222222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 margin %</c:v>
                </c:pt>
              </c:strCache>
            </c:strRef>
          </c:tx>
          <c:spPr>
            <a:solidFill>
              <a:srgbClr val="8DA9C4"/>
            </a:solidFill>
          </c:spPr>
          <c:cat>
            <c:strRef>
              <c:f>Sheet1!$A$2:$A$9</c:f>
              <c:strCache>
                <c:ptCount val="8"/>
                <c:pt idx="0">
                  <c:v>Q1 FY23</c:v>
                </c:pt>
                <c:pt idx="1">
                  <c:v>Q2 FY23</c:v>
                </c:pt>
                <c:pt idx="2">
                  <c:v>Q3 FY23</c:v>
                </c:pt>
                <c:pt idx="3">
                  <c:v>Q4 FY23</c:v>
                </c:pt>
                <c:pt idx="4">
                  <c:v>Q1 FY24</c:v>
                </c:pt>
                <c:pt idx="5">
                  <c:v>Q2 FY24</c:v>
                </c:pt>
                <c:pt idx="6">
                  <c:v>Q3 FY24</c:v>
                </c:pt>
                <c:pt idx="7">
                  <c:v>Q4 FY24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16.1</c:v>
                </c:pt>
                <c:pt idx="1">
                  <c:v>17.4</c:v>
                </c:pt>
                <c:pt idx="2">
                  <c:v>18</c:v>
                </c:pt>
                <c:pt idx="3">
                  <c:v>19.2</c:v>
                </c:pt>
                <c:pt idx="4">
                  <c:v>19.8</c:v>
                </c:pt>
                <c:pt idx="5">
                  <c:v>20.7</c:v>
                </c:pt>
                <c:pt idx="6">
                  <c:v>21.6</c:v>
                </c:pt>
                <c:pt idx="7">
                  <c:v>22.4</c:v>
                </c:pt>
              </c:numCache>
            </c:numRef>
          </c:val>
        </c:ser>
        <c:marker val="0"/>
        <c:axId val="111111111"/>
        <c:axId val="555555555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catAx>
        <c:axId val="66666666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555555555"/>
        <c:crosses val="autoZero"/>
        <c:auto val="1"/>
        <c:lblAlgn val="ctr"/>
        <c:lblOffset val="100"/>
      </c:catAx>
      <c:valAx>
        <c:axId val="55555555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666666666"/>
        <c:crosses val="max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67"/>
          <c:y val="0.8975"/>
          <c:w val="0.9667"/>
          <c:h val="0.0625"/>
        </c:manualLayout>
      </c:layout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4"/>
          <c:w val="0.952"/>
          <c:h val="0.832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9D18E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EMEA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</c:v>
                </c:pt>
                <c:pt idx="1">
                  <c:v>72</c:v>
                </c:pt>
                <c:pt idx="2">
                  <c:v>31</c:v>
                </c:pt>
                <c:pt idx="3">
                  <c:v>10</c:v>
                </c:pt>
              </c:numCache>
            </c:numRef>
          </c:val>
        </c:ser>
        <c:dLbls>
          <c:numFmt formatCode="General" sourceLinked="1"/>
          <c:showLegendKey val="0"/>
          <c:showVal val="0"/>
          <c:showCatName val="0"/>
          <c:showSerName val="0"/>
          <c:showPercent val="1"/>
          <c:showBubbleSize val="0"/>
        </c:dLbls>
      </c:pieChart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4"/>
          <c:y val="0.8975"/>
          <c:w val="0.952"/>
          <c:h val="0.0625"/>
        </c:manualLayout>
      </c:layout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2667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"/>
                <a:cs typeface=""/>
              </a:rPr>
              <a:t>Acme Capital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3048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5720"/>
              </a:lnSpc>
            </a:pPr>
            <a:r>
              <a:rPr lang="en-US" sz="42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FY24 Q4 Results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609600" y="388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Quarterly review · Confidential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1 / 10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Three things you should know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609600" y="1905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1. Revenue grew 18% YoY, ahead of plan. Bookings outpaced revenue by 7 points.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09600" y="2286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2. Operating margin expanded 320 bps to 22.4%, driven by GTM efficiency.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2667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3. Net retention reached a record 124%, with enterprise cohort at 138%.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09600" y="3429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Cash position remains strong at $412M with no debt drawn.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2 / 10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Revenue by quarter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USD millions, last 8 quarters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609600" y="1524000"/>
          <a:ext cx="10972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3 / 10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Margin trend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Operating margin overlaid on revenue, last 8 quarters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609600" y="1524000"/>
          <a:ext cx="10972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4 / 10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Segment performance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Revenue and YoY growth by segment, FY24 Q4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09600" y="1600200"/>
          <a:ext cx="10972800" cy="3429000"/>
        </p:xfrm>
        <a:graphic>
          <a:graphicData uri="http://schemas.openxmlformats.org/drawingml/2006/table">
            <a:tbl>
              <a:tblPr firstRow="0" bandRow="0"/>
              <a:tblGrid>
                <a:gridCol w="3238500"/>
                <a:gridCol w="2095500"/>
                <a:gridCol w="2095500"/>
                <a:gridCol w="2095500"/>
                <a:gridCol w="1447800"/>
              </a:tblGrid>
              <a:tr h="73152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Segment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Revenue ($M)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YoY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ARR ($M)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Customers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65532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Enterprise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168.4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/>
                          <a:ea typeface=""/>
                          <a:cs typeface=""/>
                        </a:rPr>
                        <a:t>+22%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612.0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284</a:t>
                      </a:r>
                      <a:endParaRPr lang="en-US" dirty="0"/>
                    </a:p>
                  </a:txBody>
                  <a:tcPr/>
                </a:tc>
              </a:tr>
              <a:tr h="65532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Mid-market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62.1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/>
                          <a:ea typeface=""/>
                          <a:cs typeface=""/>
                        </a:rPr>
                        <a:t>+14%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228.0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1,140</a:t>
                      </a:r>
                      <a:endParaRPr lang="en-US" dirty="0"/>
                    </a:p>
                  </a:txBody>
                  <a:tcPr/>
                </a:tc>
              </a:tr>
              <a:tr h="65532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SMB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30.5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+5%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108.0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9,420</a:t>
                      </a:r>
                      <a:endParaRPr lang="en-US" dirty="0"/>
                    </a:p>
                  </a:txBody>
                  <a:tcPr/>
                </a:tc>
              </a:tr>
              <a:tr h="73152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Total</a:t>
                      </a:r>
                      <a:endParaRPr lang="en-US" dirty="0"/>
                    </a:p>
                  </a:txBody>
                  <a:tcPr>
                    <a:solidFill>
                      <a:srgbClr val="EEF4E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261.0</a:t>
                      </a:r>
                      <a:endParaRPr lang="en-US" dirty="0"/>
                    </a:p>
                  </a:txBody>
                  <a:tcPr>
                    <a:solidFill>
                      <a:srgbClr val="EEF4E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/>
                          <a:ea typeface=""/>
                          <a:cs typeface=""/>
                        </a:rPr>
                        <a:t>+18%</a:t>
                      </a:r>
                      <a:endParaRPr lang="en-US" dirty="0"/>
                    </a:p>
                  </a:txBody>
                  <a:tcPr>
                    <a:solidFill>
                      <a:srgbClr val="EEF4E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948.0</a:t>
                      </a:r>
                      <a:endParaRPr lang="en-US" dirty="0"/>
                    </a:p>
                  </a:txBody>
                  <a:tcPr>
                    <a:solidFill>
                      <a:srgbClr val="EEF4E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10,844</a:t>
                      </a:r>
                      <a:endParaRPr lang="en-US" dirty="0"/>
                    </a:p>
                  </a:txBody>
                  <a:tcPr>
                    <a:solidFill>
                      <a:srgbClr val="EEF4ED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5 / 10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Revenue by region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FY24 Q4 mix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2286000" y="1524000"/>
          <a:ext cx="762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6 / 10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KPIs at a glance</a:t>
            </a:r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609600" y="15240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6573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ARR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19050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$948M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25717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+19% YoY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429000" y="15240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581400" y="16573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Net retention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81400" y="19050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124%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581400" y="25717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+6 pts QoQ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6248400" y="15240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400800" y="16573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Gross margin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400800" y="19050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78%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400800" y="25717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stable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9067800" y="1524000"/>
            <a:ext cx="25146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9220200" y="165735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Cash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9220200" y="19050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$412M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9220200" y="257175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no debt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609600" y="32385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62000" y="33718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Pipeline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62000" y="36195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$2.1B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62000" y="42862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1.4x coverage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3429000" y="32385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581400" y="33718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Logos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581400" y="36195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10,844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3581400" y="42862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+812 net new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6248400" y="3238500"/>
            <a:ext cx="26670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6400800" y="33718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Magic #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6400800" y="3619500"/>
            <a:ext cx="23622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1.7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400800" y="42862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above target</a:t>
            </a:r>
            <a:endParaRPr lang="en-US" dirty="0"/>
          </a:p>
        </p:txBody>
      </p:sp>
      <p:sp>
        <p:nvSpPr>
          <p:cNvPr id="31" name="View 31"/>
          <p:cNvSpPr/>
          <p:nvPr/>
        </p:nvSpPr>
        <p:spPr>
          <a:xfrm>
            <a:off x="9067800" y="3238500"/>
            <a:ext cx="2514600" cy="1524000"/>
          </a:xfrm>
          <a:prstGeom prst="rect">
            <a:avLst/>
          </a:prstGeom>
          <a:solidFill>
            <a:srgbClr val="EEF4ED"/>
          </a:solidFill>
          <a:ln w="9525">
            <a:solidFill>
              <a:srgbClr val="8DA9C4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9220200" y="337185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Rule of 40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9220200" y="36195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677"/>
              </a:lnSpc>
            </a:pPr>
            <a:r>
              <a:rPr lang="en-US" sz="27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41%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9220200" y="428625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475569"/>
                </a:solidFill>
                <a:latin typeface="Inter"/>
                <a:ea typeface=""/>
                <a:cs typeface=""/>
              </a:rPr>
              <a:t>+3 pts</a:t>
            </a:r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7 / 10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FY25 guidance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Range and prior comp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09600" y="1600200"/>
          <a:ext cx="10972800" cy="2667000"/>
        </p:xfrm>
        <a:graphic>
          <a:graphicData uri="http://schemas.openxmlformats.org/drawingml/2006/table">
            <a:tbl>
              <a:tblPr firstRow="0" bandRow="0"/>
              <a:tblGrid>
                <a:gridCol w="3238500"/>
                <a:gridCol w="2571750"/>
                <a:gridCol w="2571750"/>
                <a:gridCol w="2590800"/>
              </a:tblGrid>
              <a:tr h="72390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Metric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Prior FY24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Low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64770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Revenue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909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1,070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1,090</a:t>
                      </a:r>
                      <a:endParaRPr lang="en-US" dirty="0"/>
                    </a:p>
                  </a:txBody>
                  <a:tcPr/>
                </a:tc>
              </a:tr>
              <a:tr h="64770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Op margin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20.1%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23.0%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24.0%</a:t>
                      </a:r>
                      <a:endParaRPr lang="en-US" dirty="0"/>
                    </a:p>
                  </a:txBody>
                  <a:tcPr/>
                </a:tc>
              </a:tr>
              <a:tr h="64770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FCF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245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8 / 10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69"/>
              </a:lnSpc>
            </a:pPr>
            <a:r>
              <a:rPr lang="en-US" sz="2400" b="1" dirty="0">
                <a:solidFill>
                  <a:srgbClr val="0B2545"/>
                </a:solidFill>
                <a:latin typeface="Inter"/>
                <a:ea typeface=""/>
                <a:cs typeface=""/>
              </a:rPr>
              <a:t>Risks and watch items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1143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"/>
                <a:cs typeface=""/>
              </a:rPr>
              <a:t>What could move the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609600" y="1905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• FX headwind: a 5% USD strengthening would clip ~1.5 pts of growth.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09600" y="2286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• Renewal cycle: $186M comes up in Q1; we are pre-engaged on 89%.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2667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• Hiring pace: GTM ramp targets 240 net new heads; recruiting tight in EMEA.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09600" y="3048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0F172A"/>
                </a:solidFill>
                <a:latin typeface="Inter"/>
                <a:ea typeface=""/>
                <a:cs typeface=""/>
              </a:rPr>
              <a:t>• Public-sector procurement timing remains lumpy; we are not modeling Q1 lift.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9 / 10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538"/>
              </a:lnSpc>
            </a:pPr>
            <a:r>
              <a:rPr lang="en-US" sz="4800" b="1" dirty="0">
                <a:solidFill>
                  <a:srgbClr val="FFFFFF"/>
                </a:solidFill>
                <a:latin typeface="Inter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39624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8DA9C4"/>
                </a:solidFill>
                <a:latin typeface="Inter"/>
                <a:ea typeface=""/>
                <a:cs typeface=""/>
              </a:rPr>
              <a:t>Q&amp;A · ir@acmecapital.example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63627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124"/>
              </a:lnSpc>
            </a:pPr>
            <a:r>
              <a:rPr lang="en-US" sz="825" dirty="0">
                <a:solidFill>
                  <a:srgbClr val="475569"/>
                </a:solidFill>
                <a:latin typeface="Inter"/>
                <a:ea typeface=""/>
                <a:cs typeface=""/>
              </a:rPr>
              <a:t>10 / 10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10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Capital — FY24 Q4 Results</dc:title>
  <dc:creator>PaperJSX engine validation</dc:creator>
  <dc:language>en-US</dc:language>
  <cp:lastModifiedBy>PaperJSX engine validation</cp:lastModifiedBy>
  <cp:revision>1</cp:revision>
  <dcterms:created xsi:type="dcterms:W3CDTF">1980-01-01T00:00:02Z</dcterms:created>
  <dcterms:modified xsi:type="dcterms:W3CDTF">1980-01-01T00:00:02Z</dcterms:modified>
</cp:coreProperties>
</file>