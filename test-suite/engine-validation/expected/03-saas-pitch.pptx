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157"/>
          <c:y val="0.04"/>
          <c:w val="0.9686"/>
          <c:h val="0.76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Sheet1!$A$2:$A$7</c:f>
              <c:strCache>
                <c:ptCount val="6"/>
                <c:pt idx="0">
                  <c:v>Q3 24</c:v>
                </c:pt>
                <c:pt idx="1">
                  <c:v>Q4 24</c:v>
                </c:pt>
                <c:pt idx="2">
                  <c:v>Q1 25</c:v>
                </c:pt>
                <c:pt idx="3">
                  <c:v>Q2 25</c:v>
                </c:pt>
                <c:pt idx="4">
                  <c:v>Q3 25</c:v>
                </c:pt>
                <c:pt idx="5">
                  <c:v>Q4 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3.2</c:v>
                </c:pt>
                <c:pt idx="2">
                  <c:v>5.4</c:v>
                </c:pt>
                <c:pt idx="3">
                  <c:v>8.7</c:v>
                </c:pt>
                <c:pt idx="4">
                  <c:v>13.6</c:v>
                </c:pt>
                <c:pt idx="5">
                  <c:v>21.1</c:v>
                </c:pt>
              </c:numCache>
            </c:numRef>
          </c:val>
        </c:ser>
        <c:dLbls>
          <c:numFmt formatCode="General" sourceLinked="1"/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157"/>
          <c:y val="0.8918"/>
          <c:w val="0.9686"/>
          <c:h val="0.0682"/>
        </c:manualLayout>
      </c:layout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7C3AED"/>
            </a:gs>
            <a:gs pos="1000">
              <a:srgbClr val="22D3E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22860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806"/>
              </a:lnSpc>
            </a:pPr>
            <a:r>
              <a:rPr lang="en-US" sz="7200" b="1" dirty="0">
                <a:solidFill>
                  <a:srgbClr val="FFFFFF"/>
                </a:solidFill>
                <a:latin typeface="Plus Jakarta Sans"/>
                <a:ea typeface=""/>
                <a:cs typeface=""/>
              </a:rPr>
              <a:t>Helix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34290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52"/>
              </a:lnSpc>
            </a:pPr>
            <a:r>
              <a:rPr lang="en-US" sz="1800" dirty="0">
                <a:solidFill>
                  <a:srgbClr val="FFFFFF"/>
                </a:solidFill>
                <a:latin typeface="Inter"/>
                <a:ea typeface=""/>
                <a:cs typeface=""/>
              </a:rPr>
              <a:t>Connective tissue for revenue teams.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5943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FFFFFF"/>
                </a:solidFill>
                <a:latin typeface="Inter"/>
                <a:ea typeface=""/>
                <a:cs typeface=""/>
              </a:rPr>
              <a:t>Series B ·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7620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52"/>
              </a:lnSpc>
            </a:pPr>
            <a:r>
              <a:rPr lang="en-US" sz="1800" dirty="0">
                <a:solidFill>
                  <a:srgbClr val="22D3EE"/>
                </a:solidFill>
                <a:latin typeface="Plus Jakarta Sans"/>
                <a:ea typeface=""/>
                <a:cs typeface=""/>
              </a:rPr>
              <a:t>The problem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05000"/>
            <a:ext cx="10668000" cy="1905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5720"/>
              </a:lnSpc>
            </a:pPr>
            <a:r>
              <a:rPr lang="en-US" sz="4200" b="1" dirty="0">
                <a:solidFill>
                  <a:srgbClr val="FFFFFF"/>
                </a:solidFill>
                <a:latin typeface="Plus Jakarta Sans"/>
                <a:ea typeface=""/>
                <a:cs typeface=""/>
              </a:rPr>
              <a:t>Revenue data lives in 27 systems. None of them agree.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45720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43"/>
              </a:lnSpc>
            </a:pPr>
            <a:r>
              <a:rPr lang="en-US" sz="1500" dirty="0">
                <a:solidFill>
                  <a:srgbClr val="F472B6"/>
                </a:solidFill>
                <a:latin typeface="Inter"/>
                <a:ea typeface=""/>
                <a:cs typeface=""/>
              </a:rPr>
              <a:t>RevOps wastes 14 hours a week reconciling. Forecasts are a guess.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6096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Helix unifies it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2573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One graph. Real-time. Every signal. Every system.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762000" y="1905000"/>
            <a:ext cx="10668000" cy="3619500"/>
          </a:xfrm>
          <a:prstGeom prst="rect">
            <a:avLst/>
          </a:prstGeom>
          <a:solidFill>
            <a:srgbClr val="FAF5FF"/>
          </a:solidFill>
          <a:ln w="19050">
            <a:solidFill>
              <a:srgbClr val="7C3AED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952500" y="228600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839"/>
              </a:lnSpc>
            </a:pPr>
            <a:r>
              <a:rPr lang="en-US" sz="1350" dirty="0">
                <a:solidFill>
                  <a:srgbClr val="7C3AED"/>
                </a:solidFill>
                <a:latin typeface="Inter"/>
                <a:ea typeface=""/>
                <a:cs typeface=""/>
              </a:rPr>
              <a:t>Salesforce · HubSpot · Outreach · Gong · Snowflake · Slack · Zendesk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952500" y="3048000"/>
            <a:ext cx="102870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172"/>
              </a:lnSpc>
            </a:pPr>
            <a:r>
              <a:rPr lang="en-US" sz="6000" dirty="0">
                <a:solidFill>
                  <a:srgbClr val="F472B6"/>
                </a:solidFill>
                <a:latin typeface="Inter"/>
                <a:ea typeface=""/>
                <a:cs typeface=""/>
              </a:rPr>
              <a:t>→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952500" y="4381500"/>
            <a:ext cx="10287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3677"/>
              </a:lnSpc>
            </a:pPr>
            <a:r>
              <a:rPr lang="en-US" sz="27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Helix Revenue Graph™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6096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Customers see results in 30 days</a:t>
            </a:r>
            <a:endParaRPr lang="en-US" dirty="0"/>
          </a:p>
        </p:txBody>
      </p:sp>
      <p:sp>
        <p:nvSpPr>
          <p:cNvPr id="3" name="View 3"/>
          <p:cNvSpPr/>
          <p:nvPr/>
        </p:nvSpPr>
        <p:spPr>
          <a:xfrm>
            <a:off x="762000" y="1905000"/>
            <a:ext cx="34290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D3EE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952500" y="21717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538"/>
              </a:lnSpc>
            </a:pPr>
            <a:r>
              <a:rPr lang="en-US" sz="48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94%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952500" y="3657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of customers achieve forecast accuracy ≥ 90%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4381500" y="1905000"/>
            <a:ext cx="34290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D3EE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4572000" y="21717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538"/>
              </a:lnSpc>
            </a:pPr>
            <a:r>
              <a:rPr lang="en-US" sz="48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11hr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572000" y="3657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average weekly time saved per RevOps lead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8001000" y="1905000"/>
            <a:ext cx="34290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D3EE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8191500" y="21717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538"/>
              </a:lnSpc>
            </a:pPr>
            <a:r>
              <a:rPr lang="en-US" sz="48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3.2x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8191500" y="3657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pipeline efficiency vs prior tooling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6096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Traction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2573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ARR growth, last 6 quarters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762000" y="1905000"/>
          <a:ext cx="10668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6096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Customers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2573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A few you might recognize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762000" y="2095500"/>
            <a:ext cx="2667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25146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247"/>
              </a:lnSpc>
            </a:pPr>
            <a:r>
              <a:rPr lang="en-US" sz="1650" b="1" dirty="0">
                <a:solidFill>
                  <a:srgbClr val="0F172A"/>
                </a:solidFill>
                <a:latin typeface="Plus Jakarta Sans"/>
                <a:ea typeface=""/>
                <a:cs typeface=""/>
              </a:rPr>
              <a:t>Northwind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3619500" y="2095500"/>
            <a:ext cx="2667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619500" y="25146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247"/>
              </a:lnSpc>
            </a:pPr>
            <a:r>
              <a:rPr lang="en-US" sz="1650" b="1" dirty="0">
                <a:solidFill>
                  <a:srgbClr val="0F172A"/>
                </a:solidFill>
                <a:latin typeface="Plus Jakarta Sans"/>
                <a:ea typeface=""/>
                <a:cs typeface=""/>
              </a:rPr>
              <a:t>Globex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6477000" y="2095500"/>
            <a:ext cx="2667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6477000" y="25146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247"/>
              </a:lnSpc>
            </a:pPr>
            <a:r>
              <a:rPr lang="en-US" sz="1650" b="1" dirty="0">
                <a:solidFill>
                  <a:srgbClr val="0F172A"/>
                </a:solidFill>
                <a:latin typeface="Plus Jakarta Sans"/>
                <a:ea typeface=""/>
                <a:cs typeface=""/>
              </a:rPr>
              <a:t>Initech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9334500" y="2095500"/>
            <a:ext cx="2095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9334500" y="25146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247"/>
              </a:lnSpc>
            </a:pPr>
            <a:r>
              <a:rPr lang="en-US" sz="1650" b="1" dirty="0">
                <a:solidFill>
                  <a:srgbClr val="0F172A"/>
                </a:solidFill>
                <a:latin typeface="Plus Jakarta Sans"/>
                <a:ea typeface=""/>
                <a:cs typeface=""/>
              </a:rPr>
              <a:t>Hooli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762000" y="3429000"/>
            <a:ext cx="2667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62000" y="38481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247"/>
              </a:lnSpc>
            </a:pPr>
            <a:r>
              <a:rPr lang="en-US" sz="1650" b="1" dirty="0">
                <a:solidFill>
                  <a:srgbClr val="0F172A"/>
                </a:solidFill>
                <a:latin typeface="Plus Jakarta Sans"/>
                <a:ea typeface=""/>
                <a:cs typeface=""/>
              </a:rPr>
              <a:t>Pied Piper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3619500" y="3429000"/>
            <a:ext cx="2667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619500" y="38481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247"/>
              </a:lnSpc>
            </a:pPr>
            <a:r>
              <a:rPr lang="en-US" sz="1650" b="1" dirty="0">
                <a:solidFill>
                  <a:srgbClr val="0F172A"/>
                </a:solidFill>
                <a:latin typeface="Plus Jakarta Sans"/>
                <a:ea typeface=""/>
                <a:cs typeface=""/>
              </a:rPr>
              <a:t>Wayne Ent.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477000" y="3429000"/>
            <a:ext cx="2667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6477000" y="38481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247"/>
              </a:lnSpc>
            </a:pPr>
            <a:r>
              <a:rPr lang="en-US" sz="1650" b="1" dirty="0">
                <a:solidFill>
                  <a:srgbClr val="0F172A"/>
                </a:solidFill>
                <a:latin typeface="Plus Jakarta Sans"/>
                <a:ea typeface=""/>
                <a:cs typeface=""/>
              </a:rPr>
              <a:t>Soylent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9334500" y="3429000"/>
            <a:ext cx="2095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9334500" y="38481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247"/>
              </a:lnSpc>
            </a:pPr>
            <a:r>
              <a:rPr lang="en-US" sz="1650" b="1" dirty="0">
                <a:solidFill>
                  <a:srgbClr val="0F172A"/>
                </a:solidFill>
                <a:latin typeface="Plus Jakarta Sans"/>
                <a:ea typeface=""/>
                <a:cs typeface=""/>
              </a:rPr>
              <a:t>Dunder Mifflin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6096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Go-to-market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2573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Bottom-up product growth, top-down enterprise overlay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86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0F172A"/>
                </a:solidFill>
                <a:latin typeface="Inter"/>
                <a:ea typeface=""/>
                <a:cs typeface=""/>
              </a:rPr>
              <a:t>1. Free workspace for individual RevOps users (PLG funnel).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2819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0F172A"/>
                </a:solidFill>
                <a:latin typeface="Inter"/>
                <a:ea typeface=""/>
                <a:cs typeface=""/>
              </a:rPr>
              <a:t>2. Self-serve team plan once 5+ users in an account.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352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0F172A"/>
                </a:solidFill>
                <a:latin typeface="Inter"/>
                <a:ea typeface=""/>
                <a:cs typeface=""/>
              </a:rPr>
              <a:t>3. Enterprise rep engages at $50K ARR signal.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62000" y="3886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0F172A"/>
                </a:solidFill>
                <a:latin typeface="Inter"/>
                <a:ea typeface=""/>
                <a:cs typeface=""/>
              </a:rPr>
              <a:t>4. Land-and-expand via integration breadth and graph value.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6096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Team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2573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Co-founders + 32 across product, engineering, GTM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762000" y="2095500"/>
            <a:ext cx="3429000" cy="26670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1905000" y="2438400"/>
            <a:ext cx="1143000" cy="1143000"/>
          </a:xfrm>
          <a:prstGeom prst="rect">
            <a:avLst/>
          </a:prstGeom>
          <a:solidFill>
            <a:srgbClr val="22D3EE"/>
          </a:solidFill>
          <a:ln w="19050">
            <a:solidFill>
              <a:srgbClr val="7C3AED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7719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043"/>
              </a:lnSpc>
            </a:pPr>
            <a:r>
              <a:rPr lang="en-US" sz="15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Aria Chen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914400" y="4152900"/>
            <a:ext cx="31242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CEO · ex Datadog VP RevOps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4381500" y="2095500"/>
            <a:ext cx="3429000" cy="26670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5524500" y="2438400"/>
            <a:ext cx="1143000" cy="1143000"/>
          </a:xfrm>
          <a:prstGeom prst="rect">
            <a:avLst/>
          </a:prstGeom>
          <a:solidFill>
            <a:srgbClr val="22D3EE"/>
          </a:solidFill>
          <a:ln w="19050">
            <a:solidFill>
              <a:srgbClr val="7C3AED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381500" y="37719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043"/>
              </a:lnSpc>
            </a:pPr>
            <a:r>
              <a:rPr lang="en-US" sz="15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Marco Liu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533900" y="4152900"/>
            <a:ext cx="31242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CTO · ex Snowflake graph team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8001000" y="2095500"/>
            <a:ext cx="3429000" cy="26670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9144000" y="2438400"/>
            <a:ext cx="1143000" cy="1143000"/>
          </a:xfrm>
          <a:prstGeom prst="rect">
            <a:avLst/>
          </a:prstGeom>
          <a:solidFill>
            <a:srgbClr val="22D3EE"/>
          </a:solidFill>
          <a:ln w="19050">
            <a:solidFill>
              <a:srgbClr val="7C3AED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8001000" y="37719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043"/>
              </a:lnSpc>
            </a:pPr>
            <a:r>
              <a:rPr lang="en-US" sz="15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Priya Rao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8153400" y="4152900"/>
            <a:ext cx="31242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CPO · ex Notion product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AF5FF"/>
            </a:gs>
            <a:gs pos="1000">
              <a:srgbClr val="FFFF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6096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The ask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050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172"/>
              </a:lnSpc>
            </a:pPr>
            <a:r>
              <a:rPr lang="en-US" sz="6000" b="1" dirty="0">
                <a:solidFill>
                  <a:srgbClr val="7C3AED"/>
                </a:solidFill>
                <a:latin typeface="Plus Jakarta Sans"/>
                <a:ea typeface=""/>
                <a:cs typeface=""/>
              </a:rPr>
              <a:t>$28M Series B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3048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475569"/>
                </a:solidFill>
                <a:latin typeface="Inter"/>
                <a:ea typeface=""/>
                <a:cs typeface=""/>
              </a:rPr>
              <a:t>Lead checks $10M+ · 18-month runway to $50M ARR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36195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0F172A"/>
                </a:solidFill>
                <a:latin typeface="Inter"/>
                <a:ea typeface=""/>
                <a:cs typeface=""/>
              </a:rPr>
              <a:t>Use of funds: 60% engineering, 25% GTM, 15% G&amp;A.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22D3EE"/>
            </a:gs>
            <a:gs pos="1000">
              <a:srgbClr val="7C3AED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26670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172"/>
              </a:lnSpc>
            </a:pPr>
            <a:r>
              <a:rPr lang="en-US" sz="6000" b="1" dirty="0">
                <a:solidFill>
                  <a:srgbClr val="FFFFFF"/>
                </a:solidFill>
                <a:latin typeface="Plus Jakarta Sans"/>
                <a:ea typeface=""/>
                <a:cs typeface=""/>
              </a:rPr>
              <a:t>Build the graph.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3810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43"/>
              </a:lnSpc>
            </a:pPr>
            <a:r>
              <a:rPr lang="en-US" sz="1500" dirty="0">
                <a:solidFill>
                  <a:srgbClr val="FFFFFF"/>
                </a:solidFill>
                <a:latin typeface="Inter"/>
                <a:ea typeface=""/>
                <a:cs typeface=""/>
              </a:rPr>
              <a:t>aria@helix.example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10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 — Series B</dc:title>
  <dc:creator>PaperJSX engine validation</dc:creator>
  <dc:language>en-US</dc:language>
  <cp:lastModifiedBy>PaperJSX engine validation</cp:lastModifiedBy>
  <cp:revision>1</cp:revision>
  <dcterms:created xsi:type="dcterms:W3CDTF">1980-01-01T00:00:02Z</dcterms:created>
  <dcterms:modified xsi:type="dcterms:W3CDTF">1980-01-01T00:00:02Z</dcterms:modified>
</cp:coreProperties>
</file>